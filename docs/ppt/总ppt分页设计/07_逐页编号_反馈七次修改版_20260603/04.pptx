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593F64C-D4B0-4673-9B19-44FECE7BB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568859-9C40-4846-9766-D661714229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662DB6-C003-4195-BC28-224D28200E8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35CE2BC-CD88-4F61-AA4D-D6EAAE08754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第 3.1.3、3.2.5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51D5C9-BE06-41C0-8350-307BCA0ABC3F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FC521D-409C-4D5E-87BC-3D8C8A600A1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研究对象下沉到载体</a:t>
            </a:r>
            <a:endParaRPr sz="135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2" name="Slide04 RailKicker">
            <a:extLst>
              <a:ext uri="{FF2B5EF4-FFF2-40B4-BE49-F238E27FC236}">
                <a16:creationId xmlns:a16="http://schemas.microsoft.com/office/drawing/2014/main" id="{66E0E25F-679D-AED7-4FA8-0EA0564B15C7}"/>
              </a:ext>
            </a:extLst>
          </p:cNvPr>
          <p:cNvSpPr txBox="1"/>
          <p:nvPr/>
        </p:nvSpPr>
        <p:spPr>
          <a:xfrm>
            <a:off x="889000" y="2159000"/>
            <a:ext cx="32385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6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对象口径</a:t>
            </a:r>
          </a:p>
        </p:txBody>
      </p:sp>
      <p:cxnSp>
        <p:nvCxnSpPr>
          <p:cNvPr id="13" name="Slide04 RailRule">
            <a:extLst>
              <a:ext uri="{FF2B5EF4-FFF2-40B4-BE49-F238E27FC236}">
                <a16:creationId xmlns:a16="http://schemas.microsoft.com/office/drawing/2014/main" id="{C32AE37E-738C-5AD6-E4B0-2D9914FA01AC}"/>
              </a:ext>
            </a:extLst>
          </p:cNvPr>
          <p:cNvCxnSpPr/>
          <p:nvPr/>
        </p:nvCxnSpPr>
        <p:spPr>
          <a:xfrm>
            <a:off x="889000" y="2514600"/>
            <a:ext cx="3251200" cy="0"/>
          </a:xfrm>
          <a:prstGeom prst="line">
            <a:avLst/>
          </a:prstGeom>
          <a:ln w="11430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04 RailBody">
            <a:extLst>
              <a:ext uri="{FF2B5EF4-FFF2-40B4-BE49-F238E27FC236}">
                <a16:creationId xmlns:a16="http://schemas.microsoft.com/office/drawing/2014/main" id="{C87E2BE2-3FEA-E79A-C1B6-74AA34AAC34E}"/>
              </a:ext>
            </a:extLst>
          </p:cNvPr>
          <p:cNvSpPr txBox="1"/>
          <p:nvPr/>
        </p:nvSpPr>
        <p:spPr>
          <a:xfrm>
            <a:off x="889000" y="2717800"/>
            <a:ext cx="3365500" cy="88229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不把复合景区打包为一个点，而是以下沉后的景点级文旅载体作为分析单元。可定位、可匹配、可比较，是它能够进入 </a:t>
            </a:r>
            <a:r>
              <a:rPr lang="en-US" altLang="zh-CN" sz="1350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 / OAI / THI / MI </a:t>
            </a:r>
            <a:r>
              <a:rPr lang="zh-CN" altLang="en-US" sz="1350" dirty="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计算的前提。</a:t>
            </a:r>
          </a:p>
        </p:txBody>
      </p:sp>
      <p:sp>
        <p:nvSpPr>
          <p:cNvPr id="15" name="Slide04 RailNote">
            <a:extLst>
              <a:ext uri="{FF2B5EF4-FFF2-40B4-BE49-F238E27FC236}">
                <a16:creationId xmlns:a16="http://schemas.microsoft.com/office/drawing/2014/main" id="{EFD3BCC9-5172-1032-2C9F-AA5749290187}"/>
              </a:ext>
            </a:extLst>
          </p:cNvPr>
          <p:cNvSpPr txBox="1"/>
          <p:nvPr/>
        </p:nvSpPr>
        <p:spPr>
          <a:xfrm>
            <a:off x="889000" y="4038600"/>
            <a:ext cx="3429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级景区只作为辅助校准变量，不替代载体分析。</a:t>
            </a:r>
          </a:p>
        </p:txBody>
      </p:sp>
      <p:sp>
        <p:nvSpPr>
          <p:cNvPr id="17" name="Slide04 Metric01 Value">
            <a:extLst>
              <a:ext uri="{FF2B5EF4-FFF2-40B4-BE49-F238E27FC236}">
                <a16:creationId xmlns:a16="http://schemas.microsoft.com/office/drawing/2014/main" id="{28F21F06-35EC-6023-E9FC-0094F9C8A3EE}"/>
              </a:ext>
            </a:extLst>
          </p:cNvPr>
          <p:cNvSpPr txBox="1"/>
          <p:nvPr/>
        </p:nvSpPr>
        <p:spPr>
          <a:xfrm>
            <a:off x="889000" y="46355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</a:t>
            </a:r>
            <a:endParaRPr lang="zh-CN" altLang="en-US" sz="1700" b="1">
              <a:solidFill>
                <a:srgbClr val="6F21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lide04 Metric01 Label">
            <a:extLst>
              <a:ext uri="{FF2B5EF4-FFF2-40B4-BE49-F238E27FC236}">
                <a16:creationId xmlns:a16="http://schemas.microsoft.com/office/drawing/2014/main" id="{48142D9D-4F8F-4F79-B26A-E803999C7EA9}"/>
              </a:ext>
            </a:extLst>
          </p:cNvPr>
          <p:cNvSpPr txBox="1"/>
          <p:nvPr/>
        </p:nvSpPr>
        <p:spPr>
          <a:xfrm>
            <a:off x="889000" y="49530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核心文化载体</a:t>
            </a:r>
          </a:p>
        </p:txBody>
      </p:sp>
      <p:cxnSp>
        <p:nvCxnSpPr>
          <p:cNvPr id="20" name="Slide04 Metric01 Rule">
            <a:extLst>
              <a:ext uri="{FF2B5EF4-FFF2-40B4-BE49-F238E27FC236}">
                <a16:creationId xmlns:a16="http://schemas.microsoft.com/office/drawing/2014/main" id="{2FBFF59D-44C1-67F1-2A06-08E548760D9F}"/>
              </a:ext>
            </a:extLst>
          </p:cNvPr>
          <p:cNvCxnSpPr/>
          <p:nvPr/>
        </p:nvCxnSpPr>
        <p:spPr>
          <a:xfrm>
            <a:off x="889000" y="52070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04 Metric02 Value">
            <a:extLst>
              <a:ext uri="{FF2B5EF4-FFF2-40B4-BE49-F238E27FC236}">
                <a16:creationId xmlns:a16="http://schemas.microsoft.com/office/drawing/2014/main" id="{23C569BC-42FF-AF0D-5408-F5D818E8AB92}"/>
              </a:ext>
            </a:extLst>
          </p:cNvPr>
          <p:cNvSpPr txBox="1"/>
          <p:nvPr/>
        </p:nvSpPr>
        <p:spPr>
          <a:xfrm>
            <a:off x="2286000" y="46355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84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129</a:t>
            </a:r>
            <a:endParaRPr lang="zh-CN" altLang="en-US" sz="1700" b="1">
              <a:solidFill>
                <a:srgbClr val="56849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Slide04 Metric02 Label">
            <a:extLst>
              <a:ext uri="{FF2B5EF4-FFF2-40B4-BE49-F238E27FC236}">
                <a16:creationId xmlns:a16="http://schemas.microsoft.com/office/drawing/2014/main" id="{9E68778E-BB82-E651-B6F9-DF661B09F1CF}"/>
              </a:ext>
            </a:extLst>
          </p:cNvPr>
          <p:cNvSpPr txBox="1"/>
          <p:nvPr/>
        </p:nvSpPr>
        <p:spPr>
          <a:xfrm>
            <a:off x="2286000" y="49530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物质</a:t>
            </a:r>
            <a:r>
              <a:rPr lang="en-US" altLang="zh-CN" sz="730">
                <a:solidFill>
                  <a:srgbClr val="524E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730">
                <a:solidFill>
                  <a:srgbClr val="524E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空间类</a:t>
            </a:r>
          </a:p>
        </p:txBody>
      </p:sp>
      <p:cxnSp>
        <p:nvCxnSpPr>
          <p:cNvPr id="24" name="Slide04 Metric02 Rule">
            <a:extLst>
              <a:ext uri="{FF2B5EF4-FFF2-40B4-BE49-F238E27FC236}">
                <a16:creationId xmlns:a16="http://schemas.microsoft.com/office/drawing/2014/main" id="{279C753A-728D-26E1-090C-81F800B55302}"/>
              </a:ext>
            </a:extLst>
          </p:cNvPr>
          <p:cNvCxnSpPr/>
          <p:nvPr/>
        </p:nvCxnSpPr>
        <p:spPr>
          <a:xfrm>
            <a:off x="2286000" y="52070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lide04 Metric03 Value">
            <a:extLst>
              <a:ext uri="{FF2B5EF4-FFF2-40B4-BE49-F238E27FC236}">
                <a16:creationId xmlns:a16="http://schemas.microsoft.com/office/drawing/2014/main" id="{D5D8028B-407C-A144-02F6-689EF7F04B80}"/>
              </a:ext>
            </a:extLst>
          </p:cNvPr>
          <p:cNvSpPr txBox="1"/>
          <p:nvPr/>
        </p:nvSpPr>
        <p:spPr>
          <a:xfrm>
            <a:off x="3683000" y="4635500"/>
            <a:ext cx="88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endParaRPr lang="zh-CN" altLang="en-US" sz="1700" b="1">
              <a:solidFill>
                <a:srgbClr val="6F21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Slide04 Metric03 Label">
            <a:extLst>
              <a:ext uri="{FF2B5EF4-FFF2-40B4-BE49-F238E27FC236}">
                <a16:creationId xmlns:a16="http://schemas.microsoft.com/office/drawing/2014/main" id="{A112F185-9D2D-5DD4-1E4C-F2EFD2E9EFDD}"/>
              </a:ext>
            </a:extLst>
          </p:cNvPr>
          <p:cNvSpPr txBox="1"/>
          <p:nvPr/>
        </p:nvSpPr>
        <p:spPr>
          <a:xfrm>
            <a:off x="3683000" y="4953000"/>
            <a:ext cx="889000" cy="2328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非遗项目</a:t>
            </a:r>
          </a:p>
        </p:txBody>
      </p:sp>
      <p:cxnSp>
        <p:nvCxnSpPr>
          <p:cNvPr id="29" name="Slide04 Metric03 Rule">
            <a:extLst>
              <a:ext uri="{FF2B5EF4-FFF2-40B4-BE49-F238E27FC236}">
                <a16:creationId xmlns:a16="http://schemas.microsoft.com/office/drawing/2014/main" id="{87448BD5-629C-46BB-5DA0-EB107361D832}"/>
              </a:ext>
            </a:extLst>
          </p:cNvPr>
          <p:cNvCxnSpPr/>
          <p:nvPr/>
        </p:nvCxnSpPr>
        <p:spPr>
          <a:xfrm>
            <a:off x="3683000" y="5207000"/>
            <a:ext cx="7620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04 Metric04 Value">
            <a:extLst>
              <a:ext uri="{FF2B5EF4-FFF2-40B4-BE49-F238E27FC236}">
                <a16:creationId xmlns:a16="http://schemas.microsoft.com/office/drawing/2014/main" id="{D499144C-83E1-AE1E-EC81-21437C601ABF}"/>
              </a:ext>
            </a:extLst>
          </p:cNvPr>
          <p:cNvSpPr txBox="1"/>
          <p:nvPr/>
        </p:nvSpPr>
        <p:spPr>
          <a:xfrm>
            <a:off x="889000" y="5461000"/>
            <a:ext cx="116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6093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endParaRPr lang="zh-CN" altLang="en-US" sz="1700" b="1">
              <a:solidFill>
                <a:srgbClr val="6093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Slide04 Metric04 Label">
            <a:extLst>
              <a:ext uri="{FF2B5EF4-FFF2-40B4-BE49-F238E27FC236}">
                <a16:creationId xmlns:a16="http://schemas.microsoft.com/office/drawing/2014/main" id="{00E19665-9661-AED1-AA6F-3DB660249446}"/>
              </a:ext>
            </a:extLst>
          </p:cNvPr>
          <p:cNvSpPr txBox="1"/>
          <p:nvPr/>
        </p:nvSpPr>
        <p:spPr>
          <a:xfrm>
            <a:off x="889000" y="5778500"/>
            <a:ext cx="11684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空间锚点非遗</a:t>
            </a:r>
          </a:p>
        </p:txBody>
      </p:sp>
      <p:cxnSp>
        <p:nvCxnSpPr>
          <p:cNvPr id="34" name="Slide04 Metric04 Rule">
            <a:extLst>
              <a:ext uri="{FF2B5EF4-FFF2-40B4-BE49-F238E27FC236}">
                <a16:creationId xmlns:a16="http://schemas.microsoft.com/office/drawing/2014/main" id="{BC62457D-B0A1-C138-0B2F-20F4A3591838}"/>
              </a:ext>
            </a:extLst>
          </p:cNvPr>
          <p:cNvCxnSpPr/>
          <p:nvPr/>
        </p:nvCxnSpPr>
        <p:spPr>
          <a:xfrm>
            <a:off x="889000" y="6032500"/>
            <a:ext cx="10414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lide04 Metric05 Value">
            <a:extLst>
              <a:ext uri="{FF2B5EF4-FFF2-40B4-BE49-F238E27FC236}">
                <a16:creationId xmlns:a16="http://schemas.microsoft.com/office/drawing/2014/main" id="{9D2C4721-52F1-5F7F-D12A-462558A86B4B}"/>
              </a:ext>
            </a:extLst>
          </p:cNvPr>
          <p:cNvSpPr txBox="1"/>
          <p:nvPr/>
        </p:nvSpPr>
        <p:spPr>
          <a:xfrm>
            <a:off x="2286000" y="5461000"/>
            <a:ext cx="133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5616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 m</a:t>
            </a:r>
            <a:endParaRPr lang="zh-CN" altLang="en-US" sz="1700" b="1">
              <a:solidFill>
                <a:srgbClr val="5616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Slide04 Metric05 Label">
            <a:extLst>
              <a:ext uri="{FF2B5EF4-FFF2-40B4-BE49-F238E27FC236}">
                <a16:creationId xmlns:a16="http://schemas.microsoft.com/office/drawing/2014/main" id="{3F7328A1-B810-A0D7-9BFF-3AD3845A7169}"/>
              </a:ext>
            </a:extLst>
          </p:cNvPr>
          <p:cNvSpPr txBox="1"/>
          <p:nvPr/>
        </p:nvSpPr>
        <p:spPr>
          <a:xfrm>
            <a:off x="2286000" y="5778500"/>
            <a:ext cx="1333500" cy="1123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30">
                <a:solidFill>
                  <a:srgbClr val="524E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空间匹配尺度</a:t>
            </a:r>
          </a:p>
        </p:txBody>
      </p:sp>
      <p:cxnSp>
        <p:nvCxnSpPr>
          <p:cNvPr id="59" name="Slide04 Metric05 Rule">
            <a:extLst>
              <a:ext uri="{FF2B5EF4-FFF2-40B4-BE49-F238E27FC236}">
                <a16:creationId xmlns:a16="http://schemas.microsoft.com/office/drawing/2014/main" id="{DBB2A61D-412B-DAF6-53C6-B72C7D111C28}"/>
              </a:ext>
            </a:extLst>
          </p:cNvPr>
          <p:cNvCxnSpPr/>
          <p:nvPr/>
        </p:nvCxnSpPr>
        <p:spPr>
          <a:xfrm>
            <a:off x="2286000" y="6032500"/>
            <a:ext cx="1206500" cy="0"/>
          </a:xfrm>
          <a:prstGeom prst="line">
            <a:avLst/>
          </a:prstGeom>
          <a:ln w="9525">
            <a:solidFill>
              <a:srgbClr val="CDBE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Slide04 LargeSpatialMap Frame">
            <a:extLst>
              <a:ext uri="{FF2B5EF4-FFF2-40B4-BE49-F238E27FC236}">
                <a16:creationId xmlns:a16="http://schemas.microsoft.com/office/drawing/2014/main" id="{C298C4D1-83C6-29A7-0BC0-59A16FD952F8}"/>
              </a:ext>
            </a:extLst>
          </p:cNvPr>
          <p:cNvSpPr/>
          <p:nvPr/>
        </p:nvSpPr>
        <p:spPr>
          <a:xfrm>
            <a:off x="4876800" y="2006600"/>
            <a:ext cx="6553200" cy="4064000"/>
          </a:xfrm>
          <a:prstGeom prst="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2" name="Slide04 LargeSpatialMap">
            <a:extLst>
              <a:ext uri="{FF2B5EF4-FFF2-40B4-BE49-F238E27FC236}">
                <a16:creationId xmlns:a16="http://schemas.microsoft.com/office/drawing/2014/main" id="{AEE93C3C-B445-9684-F1D0-8DADFF9721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400" y="2108200"/>
            <a:ext cx="6350000" cy="3516293"/>
          </a:xfrm>
          <a:prstGeom prst="rect">
            <a:avLst/>
          </a:prstGeom>
        </p:spPr>
      </p:pic>
      <p:sp>
        <p:nvSpPr>
          <p:cNvPr id="63" name="Slide04 LargeSpatialMap Caption">
            <a:extLst>
              <a:ext uri="{FF2B5EF4-FFF2-40B4-BE49-F238E27FC236}">
                <a16:creationId xmlns:a16="http://schemas.microsoft.com/office/drawing/2014/main" id="{BF44EE90-6CD0-4FEF-75C7-5F760792B408}"/>
              </a:ext>
            </a:extLst>
          </p:cNvPr>
          <p:cNvSpPr txBox="1"/>
          <p:nvPr/>
        </p:nvSpPr>
        <p:spPr>
          <a:xfrm>
            <a:off x="5003800" y="5854700"/>
            <a:ext cx="62992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文化载体核密度与 </a:t>
            </a:r>
            <a:r>
              <a:rPr lang="en-US" altLang="zh-CN" sz="700"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 </a:t>
            </a:r>
            <a:r>
              <a:rPr lang="zh-CN" altLang="en-US" sz="700"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核密度对照</a:t>
            </a:r>
          </a:p>
        </p:txBody>
      </p:sp>
      <p:sp>
        <p:nvSpPr>
          <p:cNvPr id="64" name="Slide04 MapNote">
            <a:extLst>
              <a:ext uri="{FF2B5EF4-FFF2-40B4-BE49-F238E27FC236}">
                <a16:creationId xmlns:a16="http://schemas.microsoft.com/office/drawing/2014/main" id="{5248EB04-D401-83AB-05F7-95B3DE10BDA2}"/>
              </a:ext>
            </a:extLst>
          </p:cNvPr>
          <p:cNvSpPr txBox="1"/>
          <p:nvPr/>
        </p:nvSpPr>
        <p:spPr>
          <a:xfrm>
            <a:off x="7747000" y="5969000"/>
            <a:ext cx="3746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图像提示：文化载体落到空间层，才能与旅游供给同尺度比较。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965B0F-B369-017E-98DE-527750705D55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研究回顾与问题收束</a:t>
            </a:r>
          </a:p>
        </p:txBody>
      </p:sp>
    </p:spTree>
    <p:extLst>
      <p:ext uri="{BB962C8B-B14F-4D97-AF65-F5344CB8AC3E}">
        <p14:creationId xmlns:p14="http://schemas.microsoft.com/office/powerpoint/2010/main" val="13062070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133</Words>
  <Application>Microsoft Office PowerPoint</Application>
  <DocSecurity>0</DocSecurity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35</cp:revision>
  <dcterms:created xsi:type="dcterms:W3CDTF">2026-06-02T06:15:18Z</dcterms:created>
  <dcterms:modified xsi:type="dcterms:W3CDTF">2026-06-02T17:05:55Z</dcterms:modified>
</cp:coreProperties>
</file>