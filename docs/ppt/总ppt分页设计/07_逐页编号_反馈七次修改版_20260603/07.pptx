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知识图谱生成文化记忆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3EF2AB8-E9FD-431B-9240-5082480C4E85}"/>
              </a:ext>
            </a:extLst>
          </p:cNvPr>
          <p:cNvSpPr>
            <a:spLocks noGrp="1"/>
          </p:cNvSpPr>
          <p:nvPr/>
        </p:nvSpPr>
        <p:spPr>
          <a:xfrm>
            <a:off x="8477250" y="20764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61,218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A8BFE7-46B6-49F7-8016-73F23D92230C}"/>
              </a:ext>
            </a:extLst>
          </p:cNvPr>
          <p:cNvSpPr>
            <a:spLocks noGrp="1"/>
          </p:cNvSpPr>
          <p:nvPr/>
        </p:nvSpPr>
        <p:spPr>
          <a:xfrm>
            <a:off x="8477250" y="24384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81EA346-6E48-44DC-A244-31F799927605}"/>
              </a:ext>
            </a:extLst>
          </p:cNvPr>
          <p:cNvSpPr>
            <a:spLocks noGrp="1"/>
          </p:cNvSpPr>
          <p:nvPr/>
        </p:nvSpPr>
        <p:spPr>
          <a:xfrm>
            <a:off x="8477250" y="25146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原始实体记录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42C924E-574A-4EB7-88E4-5B18EC706401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42,024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888DE5-84B3-43E7-BDA1-9096EB0BCEF8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3D7A627-1B6D-49A2-826B-831B2AC9A61A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原始关系记录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97070DC-8769-4905-8AFB-58141E2A6EEC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8,048 / 19,382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9A260D-2C55-436D-AA08-BC681538C784}"/>
              </a:ext>
            </a:extLst>
          </p:cNvPr>
          <p:cNvSpPr>
            <a:spLocks noGrp="1"/>
          </p:cNvSpPr>
          <p:nvPr/>
        </p:nvSpPr>
        <p:spPr>
          <a:xfrm>
            <a:off x="8477250" y="42672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FBC964F-C076-4A60-A8EA-EDF38F160109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合并后实体 / 关系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6A98338-53A1-4B02-9586-4843C1E5577E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4826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2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575 </a:t>
            </a:r>
            <a:r>
              <a:rPr lang="zh-CN" altLang="en-US" sz="12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个实体可空间落位，用于把典籍文化记忆转成可追溯关系层。</a:t>
            </a:r>
            <a:endParaRPr sz="125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1478071"/>
            <a:ext cx="5003800" cy="4694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Slide07 KGGlobal">
            <a:extLst>
              <a:ext uri="{FF2B5EF4-FFF2-40B4-BE49-F238E27FC236}">
                <a16:creationId xmlns:a16="http://schemas.microsoft.com/office/drawing/2014/main" id="{AB9F9CD7-8806-7150-5D06-E2ED0EA15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3" y="1758211"/>
            <a:ext cx="4608012" cy="3930650"/>
          </a:xfrm>
          <a:prstGeom prst="rect">
            <a:avLst/>
          </a:prstGeom>
        </p:spPr>
      </p:pic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238250" y="5792875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 dirty="0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知识图谱全局网络总图</a:t>
            </a:r>
          </a:p>
        </p:txBody>
      </p:sp>
      <p:sp>
        <p:nvSpPr>
          <p:cNvPr id="39" name="Slide07 ProcessCallout">
            <a:extLst>
              <a:ext uri="{FF2B5EF4-FFF2-40B4-BE49-F238E27FC236}">
                <a16:creationId xmlns:a16="http://schemas.microsoft.com/office/drawing/2014/main" id="{F3E2C3C2-7C08-33FB-CD32-70064FE1ED4B}"/>
              </a:ext>
            </a:extLst>
          </p:cNvPr>
          <p:cNvSpPr/>
          <p:nvPr/>
        </p:nvSpPr>
        <p:spPr>
          <a:xfrm>
            <a:off x="6032500" y="2387600"/>
            <a:ext cx="1841500" cy="2413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Slide07 ProcessHead">
            <a:extLst>
              <a:ext uri="{FF2B5EF4-FFF2-40B4-BE49-F238E27FC236}">
                <a16:creationId xmlns:a16="http://schemas.microsoft.com/office/drawing/2014/main" id="{A455E80D-C8CB-5761-AB53-7BF470DBCD74}"/>
              </a:ext>
            </a:extLst>
          </p:cNvPr>
          <p:cNvSpPr txBox="1"/>
          <p:nvPr/>
        </p:nvSpPr>
        <p:spPr>
          <a:xfrm>
            <a:off x="6223000" y="2603500"/>
            <a:ext cx="1460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6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从文本到图谱</a:t>
            </a:r>
          </a:p>
        </p:txBody>
      </p:sp>
      <p:sp>
        <p:nvSpPr>
          <p:cNvPr id="41" name="Slide07 ProcessBody">
            <a:extLst>
              <a:ext uri="{FF2B5EF4-FFF2-40B4-BE49-F238E27FC236}">
                <a16:creationId xmlns:a16="http://schemas.microsoft.com/office/drawing/2014/main" id="{F55F8127-0C60-9478-95C5-3206AB93A67B}"/>
              </a:ext>
            </a:extLst>
          </p:cNvPr>
          <p:cNvSpPr txBox="1"/>
          <p:nvPr/>
        </p:nvSpPr>
        <p:spPr>
          <a:xfrm>
            <a:off x="6223000" y="2984500"/>
            <a:ext cx="13970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文本切块 → </a:t>
            </a:r>
            <a:r>
              <a:rPr lang="en-US" altLang="zh-CN" sz="82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lang="zh-CN" altLang="en-US" sz="82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抽取 → 质量控制 → 同义合并 → </a:t>
            </a:r>
            <a:r>
              <a:rPr lang="en-US" altLang="zh-CN" sz="82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Neo4j </a:t>
            </a:r>
            <a:r>
              <a:rPr lang="zh-CN" altLang="en-US" sz="82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入库</a:t>
            </a:r>
          </a:p>
        </p:txBody>
      </p:sp>
      <p:sp>
        <p:nvSpPr>
          <p:cNvPr id="42" name="Slide07 ProcessNote">
            <a:extLst>
              <a:ext uri="{FF2B5EF4-FFF2-40B4-BE49-F238E27FC236}">
                <a16:creationId xmlns:a16="http://schemas.microsoft.com/office/drawing/2014/main" id="{5B474250-6ADB-9545-C6E3-D3C12ACACB08}"/>
              </a:ext>
            </a:extLst>
          </p:cNvPr>
          <p:cNvSpPr txBox="1"/>
          <p:nvPr/>
        </p:nvSpPr>
        <p:spPr>
          <a:xfrm>
            <a:off x="6223000" y="4140200"/>
            <a:ext cx="1422400" cy="5334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总图展示关系网络，右侧数字说明抽取与合并规模。</a:t>
            </a:r>
          </a:p>
        </p:txBody>
      </p:sp>
      <p:sp>
        <p:nvSpPr>
          <p:cNvPr id="10" name="Slide07 Explain Box">
            <a:extLst>
              <a:ext uri="{FF2B5EF4-FFF2-40B4-BE49-F238E27FC236}">
                <a16:creationId xmlns:a16="http://schemas.microsoft.com/office/drawing/2014/main" id="{0370714B-3494-ED66-DE33-3BE8A2C4AB02}"/>
              </a:ext>
            </a:extLst>
          </p:cNvPr>
          <p:cNvSpPr/>
          <p:nvPr/>
        </p:nvSpPr>
        <p:spPr>
          <a:xfrm>
            <a:off x="5969000" y="4800600"/>
            <a:ext cx="2260600" cy="812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lide07 Explain Text">
            <a:extLst>
              <a:ext uri="{FF2B5EF4-FFF2-40B4-BE49-F238E27FC236}">
                <a16:creationId xmlns:a16="http://schemas.microsoft.com/office/drawing/2014/main" id="{EACC2658-D839-42BD-17B8-56CA27E95000}"/>
              </a:ext>
            </a:extLst>
          </p:cNvPr>
          <p:cNvSpPr txBox="1"/>
          <p:nvPr/>
        </p:nvSpPr>
        <p:spPr>
          <a:xfrm>
            <a:off x="6121400" y="5054600"/>
            <a:ext cx="3175000" cy="6858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知识图谱把典籍中的人物、地点、技艺和事件转成可追溯关系，后续进入文化记忆指数和空间匹配。</a:t>
            </a:r>
          </a:p>
        </p:txBody>
      </p:sp>
      <p:sp>
        <p:nvSpPr>
          <p:cNvPr id="12" name="Slide07 Explain Label">
            <a:extLst>
              <a:ext uri="{FF2B5EF4-FFF2-40B4-BE49-F238E27FC236}">
                <a16:creationId xmlns:a16="http://schemas.microsoft.com/office/drawing/2014/main" id="{B03DD512-DEDB-F793-43BC-3C3E64878BF8}"/>
              </a:ext>
            </a:extLst>
          </p:cNvPr>
          <p:cNvSpPr txBox="1"/>
          <p:nvPr/>
        </p:nvSpPr>
        <p:spPr>
          <a:xfrm>
            <a:off x="5994400" y="4851400"/>
            <a:ext cx="5080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0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数据基础与处理方法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114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2026-06-02T17:05:56Z</dcterms:modified>
</cp:coreProperties>
</file>