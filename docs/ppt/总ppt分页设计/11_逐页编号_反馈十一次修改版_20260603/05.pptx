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0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NativeFlow Canvas Data"/>
          <p:cNvSpPr/>
          <p:nvPr/>
        </p:nvSpPr>
        <p:spPr>
          <a:xfrm>
            <a:off x="895000" y="3343289"/>
            <a:ext cx="6920000" cy="408623"/>
          </a:xfrm>
          <a:prstGeom prst="roundRect">
            <a:avLst/>
          </a:prstGeom>
          <a:solidFill>
            <a:srgbClr val="FFFFFF">
              <a:alpha val="92000"/>
            </a:srgbClr>
          </a:solidFill>
          <a:ln w="9525">
            <a:solidFill>
              <a:srgbClr val="6F2184"/>
            </a:solidFill>
          </a:ln>
        </p:spPr>
        <p:txBody>
          <a:bodyPr wrap="square" anchor="ctr">
            <a:spAutoFit/>
          </a:bodyPr>
          <a:lstStyle/>
          <a:p>
            <a:pPr algn="l"/>
            <a:endParaRPr/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AB2EBEFE-5A4D-4B98-BD67-F6612EA653B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252341B-F60E-4F63-A39C-4E58783E1BAC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1F1690E-977F-437D-94A2-F56E1193E7A7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05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684F8185-E9A4-4A9F-AD8C-446EFC481F9C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3.2 节、图 3.1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F499985-2C5C-4881-9554-8988023678B8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BF59903-8F88-4800-BE55-11C3A769988D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多源数据进入同一底图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F73557BA-CE0A-4BDE-88EC-7E070EAD6A59}"/>
              </a:ext>
            </a:extLst>
          </p:cNvPr>
          <p:cNvSpPr>
            <a:spLocks noGrp="1"/>
          </p:cNvSpPr>
          <p:nvPr/>
        </p:nvSpPr>
        <p:spPr>
          <a:xfrm>
            <a:off x="781050" y="2000250"/>
            <a:ext cx="7048500" cy="352425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7EC0263A-DD2E-48E2-B88C-CB5969095CED}"/>
              </a:ext>
            </a:extLst>
          </p:cNvPr>
          <p:cNvSpPr>
            <a:spLocks noGrp="1"/>
          </p:cNvSpPr>
          <p:nvPr/>
        </p:nvSpPr>
        <p:spPr>
          <a:xfrm>
            <a:off x="704850" y="1924050"/>
            <a:ext cx="7048500" cy="35242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1E644B61-0ACC-4CBD-B32E-83C28ABE7F71}"/>
              </a:ext>
            </a:extLst>
          </p:cNvPr>
          <p:cNvSpPr>
            <a:spLocks noGrp="1"/>
          </p:cNvSpPr>
          <p:nvPr/>
        </p:nvSpPr>
        <p:spPr>
          <a:xfrm>
            <a:off x="838200" y="2057400"/>
            <a:ext cx="6781800" cy="312420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746B3A-8D50-456E-B543-110D75D09524}"/>
              </a:ext>
            </a:extLst>
          </p:cNvPr>
          <p:cNvSpPr>
            <a:spLocks noGrp="1"/>
          </p:cNvSpPr>
          <p:nvPr/>
        </p:nvSpPr>
        <p:spPr>
          <a:xfrm>
            <a:off x="857250" y="5219700"/>
            <a:ext cx="6743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8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数据处理链条：来源、清洗匹配与指数输出</a:t>
            </a:r>
            <a:endParaRPr sz="780"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1FEAE1FA-2DEE-4298-8BFC-B796B6CA5E67}"/>
              </a:ext>
            </a:extLst>
          </p:cNvPr>
          <p:cNvSpPr>
            <a:spLocks noGrp="1"/>
          </p:cNvSpPr>
          <p:nvPr/>
        </p:nvSpPr>
        <p:spPr>
          <a:xfrm>
            <a:off x="8362950" y="1924050"/>
            <a:ext cx="22669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53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A1C8095-60A0-45BB-8B8B-3BE33F05930E}"/>
              </a:ext>
            </a:extLst>
          </p:cNvPr>
          <p:cNvSpPr>
            <a:spLocks noGrp="1"/>
          </p:cNvSpPr>
          <p:nvPr/>
        </p:nvSpPr>
        <p:spPr>
          <a:xfrm>
            <a:off x="8362950" y="2133600"/>
            <a:ext cx="22098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B772B366-C088-4888-866A-1F590E44588B}"/>
              </a:ext>
            </a:extLst>
          </p:cNvPr>
          <p:cNvSpPr>
            <a:spLocks noGrp="1"/>
          </p:cNvSpPr>
          <p:nvPr/>
        </p:nvSpPr>
        <p:spPr>
          <a:xfrm>
            <a:off x="8362950" y="2209800"/>
            <a:ext cx="22669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标准化典籍语料，约900万字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C7AE16C9-61B3-48CD-9BE2-353FCBF86389}"/>
              </a:ext>
            </a:extLst>
          </p:cNvPr>
          <p:cNvSpPr>
            <a:spLocks noGrp="1"/>
          </p:cNvSpPr>
          <p:nvPr/>
        </p:nvSpPr>
        <p:spPr>
          <a:xfrm>
            <a:off x="8362950" y="2552700"/>
            <a:ext cx="22669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13,512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F1C7D24-BD64-4040-A2CA-D4934B436937}"/>
              </a:ext>
            </a:extLst>
          </p:cNvPr>
          <p:cNvSpPr>
            <a:spLocks noGrp="1"/>
          </p:cNvSpPr>
          <p:nvPr/>
        </p:nvSpPr>
        <p:spPr>
          <a:xfrm>
            <a:off x="8362950" y="2914650"/>
            <a:ext cx="22098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31BD56AE-3E9A-41D9-BED5-537C0CFEEFBD}"/>
              </a:ext>
            </a:extLst>
          </p:cNvPr>
          <p:cNvSpPr>
            <a:spLocks noGrp="1"/>
          </p:cNvSpPr>
          <p:nvPr/>
        </p:nvSpPr>
        <p:spPr>
          <a:xfrm>
            <a:off x="8362950" y="2990850"/>
            <a:ext cx="22669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旅游 POI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D87AAA6F-26AD-4DC7-A7DB-D43A39B52E59}"/>
              </a:ext>
            </a:extLst>
          </p:cNvPr>
          <p:cNvSpPr>
            <a:spLocks noGrp="1"/>
          </p:cNvSpPr>
          <p:nvPr/>
        </p:nvSpPr>
        <p:spPr>
          <a:xfrm>
            <a:off x="8362950" y="3333750"/>
            <a:ext cx="22669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16,391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7A5137D-9635-4D33-9541-D48BDC0C5FC9}"/>
              </a:ext>
            </a:extLst>
          </p:cNvPr>
          <p:cNvSpPr>
            <a:spLocks noGrp="1"/>
          </p:cNvSpPr>
          <p:nvPr/>
        </p:nvSpPr>
        <p:spPr>
          <a:xfrm>
            <a:off x="8362950" y="3695700"/>
            <a:ext cx="22098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70CA61A9-45B2-417D-841A-54657226F69E}"/>
              </a:ext>
            </a:extLst>
          </p:cNvPr>
          <p:cNvSpPr>
            <a:spLocks noGrp="1"/>
          </p:cNvSpPr>
          <p:nvPr/>
        </p:nvSpPr>
        <p:spPr>
          <a:xfrm>
            <a:off x="8362950" y="3771900"/>
            <a:ext cx="22669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平台评论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04E2D0E2-EC4A-4577-ACCB-6DD7B825BD53}"/>
              </a:ext>
            </a:extLst>
          </p:cNvPr>
          <p:cNvSpPr>
            <a:spLocks noGrp="1"/>
          </p:cNvSpPr>
          <p:nvPr/>
        </p:nvSpPr>
        <p:spPr>
          <a:xfrm>
            <a:off x="8362950" y="4114800"/>
            <a:ext cx="22669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90 / 165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C53448F-64B1-43A5-BC0D-B66F85B6B452}"/>
              </a:ext>
            </a:extLst>
          </p:cNvPr>
          <p:cNvSpPr>
            <a:spLocks noGrp="1"/>
          </p:cNvSpPr>
          <p:nvPr/>
        </p:nvSpPr>
        <p:spPr>
          <a:xfrm>
            <a:off x="8362950" y="4476750"/>
            <a:ext cx="22098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EE962770-152C-41E9-8848-567B69175190}"/>
              </a:ext>
            </a:extLst>
          </p:cNvPr>
          <p:cNvSpPr>
            <a:spLocks noGrp="1"/>
          </p:cNvSpPr>
          <p:nvPr/>
        </p:nvSpPr>
        <p:spPr>
          <a:xfrm>
            <a:off x="8362950" y="4552950"/>
            <a:ext cx="22669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非遗项目 / 核心文化载体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F0BA534B-A5B2-4D62-AE4A-6C98E0149B0C}"/>
              </a:ext>
            </a:extLst>
          </p:cNvPr>
          <p:cNvSpPr>
            <a:spLocks noGrp="1"/>
          </p:cNvSpPr>
          <p:nvPr/>
        </p:nvSpPr>
        <p:spPr>
          <a:xfrm>
            <a:off x="8362950" y="4895850"/>
            <a:ext cx="22669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4,662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13713EB-E921-4A86-A502-7932A1FFCF99}"/>
              </a:ext>
            </a:extLst>
          </p:cNvPr>
          <p:cNvSpPr>
            <a:spLocks noGrp="1"/>
          </p:cNvSpPr>
          <p:nvPr/>
        </p:nvSpPr>
        <p:spPr>
          <a:xfrm>
            <a:off x="8362950" y="5257800"/>
            <a:ext cx="22098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428A15AC-EFA6-4A08-B38A-7EFE7B237F9B}"/>
              </a:ext>
            </a:extLst>
          </p:cNvPr>
          <p:cNvSpPr>
            <a:spLocks noGrp="1"/>
          </p:cNvSpPr>
          <p:nvPr/>
        </p:nvSpPr>
        <p:spPr>
          <a:xfrm>
            <a:off x="8362950" y="5334000"/>
            <a:ext cx="22669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500 m 分析网格</a:t>
            </a:r>
          </a:p>
        </p:txBody>
      </p:sp>
      <p:sp>
        <p:nvSpPr>
          <p:cNvPr id="40" name="NativeFlow Data Top 3"/>
          <p:cNvSpPr/>
          <p:nvPr/>
        </p:nvSpPr>
        <p:spPr>
          <a:xfrm>
            <a:off x="5150000" y="2937534"/>
            <a:ext cx="1030000" cy="480131"/>
          </a:xfrm>
          <a:prstGeom prst="roundRect">
            <a:avLst/>
          </a:prstGeom>
          <a:solidFill>
            <a:srgbClr val="F4ECFF"/>
          </a:solidFill>
          <a:ln w="9525">
            <a:solidFill>
              <a:srgbClr val="C6D1E2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zh-CN" sz="820" b="1">
                <a:solidFill>
                  <a:srgbClr val="1F31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文化载体锚点</a:t>
            </a:r>
          </a:p>
          <a:p>
            <a:pPr algn="ctr"/>
            <a:r>
              <a:rPr lang="zh-CN" sz="700">
                <a:solidFill>
                  <a:srgbClr val="1F31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90非遗 / 165核心载体</a:t>
            </a:r>
          </a:p>
        </p:txBody>
      </p:sp>
      <p:sp>
        <p:nvSpPr>
          <p:cNvPr id="45" name="NativeFlow Data Bottom 1"/>
          <p:cNvSpPr/>
          <p:nvPr/>
        </p:nvSpPr>
        <p:spPr>
          <a:xfrm>
            <a:off x="4020000" y="4134448"/>
            <a:ext cx="1420000" cy="746304"/>
          </a:xfrm>
          <a:prstGeom prst="roundRect">
            <a:avLst/>
          </a:prstGeom>
          <a:solidFill>
            <a:srgbClr val="FAF7FD">
              <a:alpha val="95000"/>
            </a:srgbClr>
          </a:solidFill>
          <a:ln w="9525">
            <a:solidFill>
              <a:srgbClr val="BEB4C8"/>
            </a:solidFill>
          </a:ln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lang="zh-CN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桥梁匹配</a:t>
            </a:r>
          </a:p>
          <a:p>
            <a:pPr algn="ctr"/>
            <a:r>
              <a:rPr lang="zh-CN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载体—POI匹配</a:t>
            </a:r>
          </a:p>
          <a:p>
            <a:pPr algn="ctr"/>
            <a:r>
              <a:rPr lang="zh-CN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评论语义对应</a:t>
            </a:r>
          </a:p>
        </p:txBody>
      </p:sp>
      <p:cxnSp>
        <p:nvCxnSpPr>
          <p:cNvPr id="13" name="NativeConnector Data 1">
            <a:extLst>
              <a:ext uri="{FF2B5EF4-FFF2-40B4-BE49-F238E27FC236}">
                <a16:creationId xmlns:a16="http://schemas.microsoft.com/office/drawing/2014/main" id="{7CF682AD-66CE-FE3B-2761-C7D2187C17A3}"/>
              </a:ext>
            </a:extLst>
          </p:cNvPr>
          <p:cNvCxnSpPr/>
          <p:nvPr/>
        </p:nvCxnSpPr>
        <p:spPr>
          <a:xfrm>
            <a:off x="2311400" y="3175000"/>
            <a:ext cx="241300" cy="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NativeConnector Data 3">
            <a:extLst>
              <a:ext uri="{FF2B5EF4-FFF2-40B4-BE49-F238E27FC236}">
                <a16:creationId xmlns:a16="http://schemas.microsoft.com/office/drawing/2014/main" id="{EA4F06D4-9C01-C339-C382-6113A9C8B0FB}"/>
              </a:ext>
            </a:extLst>
          </p:cNvPr>
          <p:cNvCxnSpPr/>
          <p:nvPr/>
        </p:nvCxnSpPr>
        <p:spPr>
          <a:xfrm>
            <a:off x="4889500" y="3175000"/>
            <a:ext cx="254000" cy="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NativeConnector CleanMatch">
            <a:extLst>
              <a:ext uri="{FF2B5EF4-FFF2-40B4-BE49-F238E27FC236}">
                <a16:creationId xmlns:a16="http://schemas.microsoft.com/office/drawing/2014/main" id="{3930E203-4170-69F9-736F-D94DC0E5269B}"/>
              </a:ext>
            </a:extLst>
          </p:cNvPr>
          <p:cNvCxnSpPr/>
          <p:nvPr/>
        </p:nvCxnSpPr>
        <p:spPr>
          <a:xfrm>
            <a:off x="3302000" y="4508500"/>
            <a:ext cx="711200" cy="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NativeConnector Down">
            <a:extLst>
              <a:ext uri="{FF2B5EF4-FFF2-40B4-BE49-F238E27FC236}">
                <a16:creationId xmlns:a16="http://schemas.microsoft.com/office/drawing/2014/main" id="{4E0F9652-AEEC-15DB-E234-C84030CAB26F}"/>
              </a:ext>
            </a:extLst>
          </p:cNvPr>
          <p:cNvCxnSpPr/>
          <p:nvPr/>
        </p:nvCxnSpPr>
        <p:spPr>
          <a:xfrm>
            <a:off x="4368800" y="3492500"/>
            <a:ext cx="0" cy="67310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NativeFlow Data Top 2"/>
          <p:cNvSpPr/>
          <p:nvPr/>
        </p:nvSpPr>
        <p:spPr>
          <a:xfrm>
            <a:off x="3860000" y="2931859"/>
            <a:ext cx="1030000" cy="491482"/>
          </a:xfrm>
          <a:prstGeom prst="roundRect">
            <a:avLst/>
          </a:prstGeom>
          <a:solidFill>
            <a:srgbClr val="EAF2F6">
              <a:alpha val="95000"/>
            </a:srgbClr>
          </a:solidFill>
          <a:ln w="9525">
            <a:solidFill>
              <a:srgbClr val="BEB4C8"/>
            </a:solidFill>
          </a:ln>
        </p:spPr>
        <p:txBody>
          <a:bodyPr wrap="square" lIns="76200" tIns="50800" rIns="76200" bIns="50800" anchor="ctr">
            <a:spAutoFit/>
          </a:bodyPr>
          <a:lstStyle/>
          <a:p>
            <a:pPr algn="ctr"/>
            <a:r>
              <a:rPr 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 与评论</a:t>
            </a:r>
          </a:p>
          <a:p>
            <a:pPr algn="ctr"/>
            <a:r>
              <a:rPr 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13,512 POI / 16,391评论</a:t>
            </a:r>
          </a:p>
        </p:txBody>
      </p:sp>
      <p:sp>
        <p:nvSpPr>
          <p:cNvPr id="43" name="NativeFlow Data Bottom 0"/>
          <p:cNvSpPr/>
          <p:nvPr/>
        </p:nvSpPr>
        <p:spPr>
          <a:xfrm>
            <a:off x="1880000" y="4262426"/>
            <a:ext cx="1420000" cy="490347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BEDD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zh-CN" sz="840" b="1">
                <a:solidFill>
                  <a:srgbClr val="2B2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数据清洗</a:t>
            </a:r>
          </a:p>
          <a:p>
            <a:pPr algn="ctr"/>
            <a:r>
              <a:rPr lang="zh-CN" sz="720">
                <a:solidFill>
                  <a:srgbClr val="2B2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OCR校对、去重</a:t>
            </a:r>
          </a:p>
          <a:p>
            <a:pPr algn="ctr"/>
            <a:r>
              <a:rPr lang="zh-CN" sz="720">
                <a:solidFill>
                  <a:srgbClr val="2B2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坐标与名称统一</a:t>
            </a:r>
          </a:p>
        </p:txBody>
      </p:sp>
      <p:sp>
        <p:nvSpPr>
          <p:cNvPr id="47" name="NativeFlow Data Bottom 2"/>
          <p:cNvSpPr/>
          <p:nvPr/>
        </p:nvSpPr>
        <p:spPr>
          <a:xfrm>
            <a:off x="6160000" y="4262426"/>
            <a:ext cx="1420000" cy="490347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BEDD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zh-CN" sz="840" b="1">
                <a:solidFill>
                  <a:srgbClr val="2B2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成果输出</a:t>
            </a:r>
          </a:p>
          <a:p>
            <a:pPr algn="ctr"/>
            <a:r>
              <a:rPr lang="zh-CN" sz="720">
                <a:solidFill>
                  <a:srgbClr val="2B2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错位分类</a:t>
            </a:r>
          </a:p>
          <a:p>
            <a:pPr algn="ctr"/>
            <a:r>
              <a:rPr lang="zh-CN" sz="720">
                <a:solidFill>
                  <a:srgbClr val="2B244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专题图与建议</a:t>
            </a:r>
          </a:p>
        </p:txBody>
      </p:sp>
      <p:cxnSp>
        <p:nvCxnSpPr>
          <p:cNvPr id="49" name="NativeConnector Data 2">
            <a:extLst>
              <a:ext uri="{FF2B5EF4-FFF2-40B4-BE49-F238E27FC236}">
                <a16:creationId xmlns:a16="http://schemas.microsoft.com/office/drawing/2014/main" id="{62B6CD34-963B-9BDD-82FA-FCAE6D58A17A}"/>
              </a:ext>
            </a:extLst>
          </p:cNvPr>
          <p:cNvCxnSpPr/>
          <p:nvPr/>
        </p:nvCxnSpPr>
        <p:spPr>
          <a:xfrm>
            <a:off x="3594100" y="3175000"/>
            <a:ext cx="254000" cy="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NativeConnector MatchOut">
            <a:extLst>
              <a:ext uri="{FF2B5EF4-FFF2-40B4-BE49-F238E27FC236}">
                <a16:creationId xmlns:a16="http://schemas.microsoft.com/office/drawing/2014/main" id="{2C965375-5666-6AEA-9138-968E02B4054F}"/>
              </a:ext>
            </a:extLst>
          </p:cNvPr>
          <p:cNvCxnSpPr/>
          <p:nvPr/>
        </p:nvCxnSpPr>
        <p:spPr>
          <a:xfrm>
            <a:off x="5435600" y="4508500"/>
            <a:ext cx="723900" cy="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NativeFlow Data Top 4"/>
          <p:cNvSpPr/>
          <p:nvPr/>
        </p:nvSpPr>
        <p:spPr>
          <a:xfrm>
            <a:off x="6440000" y="2931859"/>
            <a:ext cx="1030000" cy="491482"/>
          </a:xfrm>
          <a:prstGeom prst="roundRect">
            <a:avLst/>
          </a:prstGeom>
          <a:solidFill>
            <a:srgbClr val="EAF2F6">
              <a:alpha val="95000"/>
            </a:srgbClr>
          </a:solidFill>
          <a:ln w="9525">
            <a:solidFill>
              <a:srgbClr val="BEB4C8"/>
            </a:solidFill>
          </a:ln>
        </p:spPr>
        <p:txBody>
          <a:bodyPr wrap="square" lIns="76200" tIns="50800" rIns="76200" bIns="50800" anchor="ctr">
            <a:spAutoFit/>
          </a:bodyPr>
          <a:lstStyle/>
          <a:p>
            <a:pPr algn="ctr"/>
            <a:r>
              <a:rPr 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指数与空间分析</a:t>
            </a:r>
          </a:p>
          <a:p>
            <a:pPr algn="ctr"/>
            <a:r>
              <a:rPr 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CMI / OAI / THI / MI</a:t>
            </a:r>
          </a:p>
        </p:txBody>
      </p:sp>
      <p:sp>
        <p:nvSpPr>
          <p:cNvPr id="34" name="NativeFlow Data Top 0"/>
          <p:cNvSpPr/>
          <p:nvPr/>
        </p:nvSpPr>
        <p:spPr>
          <a:xfrm>
            <a:off x="1280000" y="2991450"/>
            <a:ext cx="1030000" cy="372301"/>
          </a:xfrm>
          <a:prstGeom prst="roundRect">
            <a:avLst/>
          </a:prstGeom>
          <a:solidFill>
            <a:srgbClr val="EAF2F6">
              <a:alpha val="95000"/>
            </a:srgbClr>
          </a:solidFill>
          <a:ln w="9525">
            <a:solidFill>
              <a:srgbClr val="BEB4C8"/>
            </a:solidFill>
          </a:ln>
        </p:spPr>
        <p:txBody>
          <a:bodyPr wrap="square" lIns="76200" tIns="50800" rIns="76200" bIns="50800" anchor="ctr">
            <a:spAutoFit/>
          </a:bodyPr>
          <a:lstStyle/>
          <a:p>
            <a:pPr algn="ctr"/>
            <a:r>
              <a:rPr 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典籍资料</a:t>
            </a:r>
          </a:p>
          <a:p>
            <a:pPr algn="ctr"/>
            <a:r>
              <a:rPr 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53份 / 约900万字</a:t>
            </a:r>
          </a:p>
        </p:txBody>
      </p:sp>
      <p:sp>
        <p:nvSpPr>
          <p:cNvPr id="36" name="NativeFlow Data Top 1"/>
          <p:cNvSpPr/>
          <p:nvPr/>
        </p:nvSpPr>
        <p:spPr>
          <a:xfrm>
            <a:off x="2570000" y="2747411"/>
            <a:ext cx="1030000" cy="860377"/>
          </a:xfrm>
          <a:prstGeom prst="roundRect">
            <a:avLst/>
          </a:prstGeom>
          <a:solidFill>
            <a:srgbClr val="EAF7F0"/>
          </a:solidFill>
          <a:ln w="9525">
            <a:solidFill>
              <a:srgbClr val="C6D1E2"/>
            </a:solidFill>
          </a:ln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lang="zh-CN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文化实体关系</a:t>
            </a:r>
          </a:p>
          <a:p>
            <a:pPr algn="ctr"/>
            <a:r>
              <a:rPr lang="zh-CN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8,048实体 / 19,382关系</a:t>
            </a:r>
          </a:p>
        </p:txBody>
      </p:sp>
      <p:cxnSp>
        <p:nvCxnSpPr>
          <p:cNvPr id="51" name="NativeConnector Data 4">
            <a:extLst>
              <a:ext uri="{FF2B5EF4-FFF2-40B4-BE49-F238E27FC236}">
                <a16:creationId xmlns:a16="http://schemas.microsoft.com/office/drawing/2014/main" id="{9A82A12D-6EE0-F46F-DB0B-768471E08B36}"/>
              </a:ext>
            </a:extLst>
          </p:cNvPr>
          <p:cNvCxnSpPr/>
          <p:nvPr/>
        </p:nvCxnSpPr>
        <p:spPr>
          <a:xfrm>
            <a:off x="6172200" y="3175000"/>
            <a:ext cx="266700" cy="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NativeFlow Title Data"/>
          <p:cNvSpPr/>
          <p:nvPr/>
        </p:nvSpPr>
        <p:spPr>
          <a:xfrm>
            <a:off x="1250000" y="2174299"/>
            <a:ext cx="6200000" cy="286603"/>
          </a:xfrm>
          <a:prstGeom prst="roundRect">
            <a:avLst/>
          </a:prstGeom>
          <a:noFill/>
          <a:ln>
            <a:noFill/>
          </a:ln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lang="zh-CN" altLang="en-US" sz="13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流程：来源 → 清洗 → 匹配 → 网格 → 指数</a:t>
            </a:r>
            <a:endParaRPr lang="zh-CN" sz="13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Slide05 Explain Box">
            <a:extLst>
              <a:ext uri="{FF2B5EF4-FFF2-40B4-BE49-F238E27FC236}">
                <a16:creationId xmlns:a16="http://schemas.microsoft.com/office/drawing/2014/main" id="{F6BC5028-7A7A-A9E0-1C0A-34DB09A14653}"/>
              </a:ext>
            </a:extLst>
          </p:cNvPr>
          <p:cNvSpPr/>
          <p:nvPr/>
        </p:nvSpPr>
        <p:spPr>
          <a:xfrm>
            <a:off x="965200" y="5600700"/>
            <a:ext cx="6794500" cy="5334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Slide05 Explain Text">
            <a:extLst>
              <a:ext uri="{FF2B5EF4-FFF2-40B4-BE49-F238E27FC236}">
                <a16:creationId xmlns:a16="http://schemas.microsoft.com/office/drawing/2014/main" id="{29983031-13E0-D379-3AA5-6B56AE92A7B2}"/>
              </a:ext>
            </a:extLst>
          </p:cNvPr>
          <p:cNvSpPr txBox="1"/>
          <p:nvPr/>
        </p:nvSpPr>
        <p:spPr>
          <a:xfrm>
            <a:off x="1117600" y="5727700"/>
            <a:ext cx="6489700" cy="48218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这页要讲的是数据如何被统一到同一空间口径：典籍与官方名录提供文化侧，</a:t>
            </a:r>
            <a:r>
              <a:rPr lang="en-US" altLang="zh-CN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 </a:t>
            </a:r>
            <a:r>
              <a:rPr lang="zh-CN" altLang="en-US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与评论提供旅游侧，二者通过载体锚点和 </a:t>
            </a:r>
            <a:r>
              <a:rPr lang="en-US" altLang="zh-CN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500 m </a:t>
            </a:r>
            <a:r>
              <a:rPr lang="zh-CN" altLang="en-US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网格进入同一张分析底图。</a:t>
            </a:r>
          </a:p>
        </p:txBody>
      </p:sp>
      <p:sp>
        <p:nvSpPr>
          <p:cNvPr id="37" name="Slide05 Explain Label">
            <a:extLst>
              <a:ext uri="{FF2B5EF4-FFF2-40B4-BE49-F238E27FC236}">
                <a16:creationId xmlns:a16="http://schemas.microsoft.com/office/drawing/2014/main" id="{0EFF367E-DE85-CE0F-0B84-E01E0C18982B}"/>
              </a:ext>
            </a:extLst>
          </p:cNvPr>
          <p:cNvSpPr txBox="1"/>
          <p:nvPr/>
        </p:nvSpPr>
        <p:spPr>
          <a:xfrm>
            <a:off x="1117600" y="5473700"/>
            <a:ext cx="5080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2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说明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375AD469-BC80-5402-A36F-A156DD6F7E1A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数据基础与处理方法</a:t>
            </a:r>
          </a:p>
        </p:txBody>
      </p:sp>
      <p:sp>
        <p:nvSpPr>
          <p:cNvPr id="4" name="Round8 CoreClaim Text">
            <a:extLst>
              <a:ext uri="{FF2B5EF4-FFF2-40B4-BE49-F238E27FC236}">
                <a16:creationId xmlns:a16="http://schemas.microsoft.com/office/drawing/2014/main" id="{9575EAE2-CFF3-EEDB-AFA2-5F47087587E6}"/>
              </a:ext>
            </a:extLst>
          </p:cNvPr>
          <p:cNvSpPr txBox="1"/>
          <p:nvPr/>
        </p:nvSpPr>
        <p:spPr>
          <a:xfrm>
            <a:off x="889000" y="1320800"/>
            <a:ext cx="10414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核心判断：</a:t>
            </a:r>
            <a:r>
              <a:rPr lang="zh-CN" altLang="en-US" sz="15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典籍、官方名录、</a:t>
            </a:r>
            <a:r>
              <a:rPr lang="en-US" altLang="zh-CN" sz="15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 </a:t>
            </a:r>
            <a:r>
              <a:rPr lang="zh-CN" altLang="en-US" sz="15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与评论统一到 </a:t>
            </a:r>
            <a:r>
              <a:rPr lang="en-US" altLang="zh-CN" sz="15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500 m </a:t>
            </a:r>
            <a:r>
              <a:rPr lang="zh-CN" altLang="en-US" sz="15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网格后，文化与旅游才可同尺度比较。</a:t>
            </a:r>
          </a:p>
        </p:txBody>
      </p:sp>
      <p:cxnSp>
        <p:nvCxnSpPr>
          <p:cNvPr id="41" name="Round8 CoreClaim Rule">
            <a:extLst>
              <a:ext uri="{FF2B5EF4-FFF2-40B4-BE49-F238E27FC236}">
                <a16:creationId xmlns:a16="http://schemas.microsoft.com/office/drawing/2014/main" id="{CA4ABE75-466E-708C-82F5-ABB31D459F82}"/>
              </a:ext>
            </a:extLst>
          </p:cNvPr>
          <p:cNvCxnSpPr/>
          <p:nvPr/>
        </p:nvCxnSpPr>
        <p:spPr>
          <a:xfrm>
            <a:off x="889000" y="1689100"/>
            <a:ext cx="10414000" cy="0"/>
          </a:xfrm>
          <a:prstGeom prst="line">
            <a:avLst/>
          </a:prstGeom>
          <a:ln w="10160">
            <a:solidFill>
              <a:srgbClr val="CDB0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669034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223</Words>
  <Application>Microsoft Office PowerPoint</Application>
  <DocSecurity>0</DocSecurity>
  <PresentationFormat>宽屏</PresentationFormat>
  <Paragraphs>39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42</cp:revision>
  <dcterms:created xsi:type="dcterms:W3CDTF">2026-06-02T06:15:18Z</dcterms:created>
  <dcterms:modified xsi:type="dcterms:W3CDTF">2026-06-03T04:24:00Z</dcterms:modified>
</cp:coreProperties>
</file>