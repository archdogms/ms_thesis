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3"/>
  </p:notesMasterIdLst>
  <p:sldIdLst>
    <p:sldId id="262" r:id="rId2"/>
  </p:sldIdLst>
  <p:sldSz cx="12192000" cy="6858000"/>
  <p:notesSz cx="6858000" cy="9144000"/>
  <p:defaultTextStyle>
    <a:defPPr>
      <a:defRPr lang="en-US"/>
    </a:defPPr>
    <a:lvl1pPr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11"/>
    <p:restoredTop sz="94658"/>
  </p:normalViewPr>
  <p:slideViewPr>
    <p:cSldViewPr snapToGrid="0">
      <p:cViewPr varScale="1">
        <p:scale>
          <a:sx n="153" d="100"/>
          <a:sy n="153" d="100"/>
        </p:scale>
        <p:origin x="372" y="13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notesMaster" Target="notesMasters/notesMaster1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"/>
          <p:cNvSpPr>
            <a:spLocks noGrp="1"/>
          </p:cNvSpPr>
          <p:nvPr>
            <p:ph type="hdr" sz="quarter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3" name="Date Placeholder"/>
          <p:cNvSpPr>
            <a:spLocks noGrp="1"/>
          </p:cNvSpPr>
          <p:nvPr>
            <p:ph type="dt" sz="quarter" idx="1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4" name="Slide Image Placeholder"/>
          <p:cNvSpPr>
            <a:spLocks noGrp="1" noRot="1" noChangeAspect="1"/>
          </p:cNvSpPr>
          <p:nvPr>
            <p:ph type="sldImg" idx="2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5" name="Notes Placeholder"/>
          <p:cNvSpPr>
            <a:spLocks noGrp="1"/>
          </p:cNvSpPr>
          <p:nvPr>
            <p:ph type="body" sz="quarter" idx="3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6" name="Footer Placeholder"/>
          <p:cNvSpPr>
            <a:spLocks noGrp="1"/>
          </p:cNvSpPr>
          <p:nvPr>
            <p:ph type="ftr" sz="quarter" idx="4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7" name="Slide Number Placeholder"/>
          <p:cNvSpPr>
            <a:spLocks noGrp="1"/>
          </p:cNvSpPr>
          <p:nvPr>
            <p:ph type="sldNum" sz="quarter" idx="5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/>
    </a:lvl1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Master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>
      <a:lvl1pPr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5" name="图片 24"/>
          <p:cNvPicPr>
            <a:picLocks noChangeAspect="1"/>
          </p:cNvPicPr>
          <p:nvPr/>
        </p:nvPicPr>
        <p:blipFill>
          <a:blip r:embed="rId3"/>
          <a:srcRect t="27" b="27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矩形 1">
            <a:extLst>
              <a:ext uri="{FF2B5EF4-FFF2-40B4-BE49-F238E27FC236}">
                <a16:creationId xmlns:a16="http://schemas.microsoft.com/office/drawing/2014/main" id="{DF59411E-5C6E-4D51-AE1D-F6048DADEC8D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>
              <a:alpha val="33333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F11CD5C2-9867-4323-A3C2-16E1E98DDD2B}"/>
              </a:ext>
            </a:extLst>
          </p:cNvPr>
          <p:cNvSpPr>
            <a:spLocks noGrp="1"/>
          </p:cNvSpPr>
          <p:nvPr/>
        </p:nvSpPr>
        <p:spPr>
          <a:xfrm>
            <a:off x="419100" y="400050"/>
            <a:ext cx="66675" cy="552450"/>
          </a:xfrm>
          <a:prstGeom prst="rect">
            <a:avLst/>
          </a:prstGeom>
          <a:solidFill>
            <a:srgbClr val="600070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823EB7AA-1820-4BBE-A864-0521F42F1760}"/>
              </a:ext>
            </a:extLst>
          </p:cNvPr>
          <p:cNvSpPr>
            <a:spLocks noGrp="1"/>
          </p:cNvSpPr>
          <p:nvPr/>
        </p:nvSpPr>
        <p:spPr>
          <a:xfrm>
            <a:off x="11525250" y="6457950"/>
            <a:ext cx="26670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50800" tIns="25400" rIns="50800" bIns="25400" anchor="t"/>
          <a:lstStyle/>
          <a:p>
            <a:pPr algn="r">
              <a:defRPr sz="750" b="1">
                <a:solidFill>
                  <a:srgbClr val="600070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900" b="1">
                <a:solidFill>
                  <a:srgbClr val="7E006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 UI"/>
              </a:rPr>
              <a:t>07</a:t>
            </a:r>
          </a:p>
        </p:txBody>
      </p:sp>
      <p:pic>
        <p:nvPicPr>
          <p:cNvPr id="6" name="图片 5"/>
          <p:cNvPicPr>
            <a:picLocks noChangeAspect="1"/>
          </p:cNvPicPr>
          <p:nvPr/>
        </p:nvPicPr>
        <p:blipFill>
          <a:blip r:embed="rId4"/>
          <a:stretch/>
        </p:blipFill>
        <p:spPr>
          <a:xfrm>
            <a:off x="10026361" y="266700"/>
            <a:ext cx="1149927" cy="457200"/>
          </a:xfrm>
          <a:prstGeom prst="rect">
            <a:avLst/>
          </a:prstGeom>
        </p:spPr>
      </p:pic>
      <p:sp>
        <p:nvSpPr>
          <p:cNvPr id="7" name="矩形 6">
            <a:extLst>
              <a:ext uri="{FF2B5EF4-FFF2-40B4-BE49-F238E27FC236}">
                <a16:creationId xmlns:a16="http://schemas.microsoft.com/office/drawing/2014/main" id="{B61B0E08-3959-4652-A9C5-3C3818C271D3}"/>
              </a:ext>
            </a:extLst>
          </p:cNvPr>
          <p:cNvSpPr>
            <a:spLocks noGrp="1"/>
          </p:cNvSpPr>
          <p:nvPr/>
        </p:nvSpPr>
        <p:spPr>
          <a:xfrm>
            <a:off x="514350" y="6496050"/>
            <a:ext cx="7239000" cy="1524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50800" tIns="25400" rIns="50800" bIns="25400" anchor="t"/>
          <a:lstStyle/>
          <a:p>
            <a:pPr algn="l">
              <a:defRPr sz="638" b="0">
                <a:solidFill>
                  <a:srgbClr val="8A7C90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850">
                <a:solidFill>
                  <a:srgbClr val="665A5A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 UI"/>
              </a:rPr>
              <a:t>第 4 章、图 4.1</a:t>
            </a: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8D1B6A6A-55C4-4B15-A69F-A3D11A397A22}"/>
              </a:ext>
            </a:extLst>
          </p:cNvPr>
          <p:cNvSpPr>
            <a:spLocks noGrp="1"/>
          </p:cNvSpPr>
          <p:nvPr/>
        </p:nvSpPr>
        <p:spPr>
          <a:xfrm>
            <a:off x="8667750" y="6496050"/>
            <a:ext cx="2476500" cy="1524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50800" tIns="25400" rIns="50800" bIns="25400" anchor="t"/>
          <a:lstStyle/>
          <a:p>
            <a:pPr algn="r">
              <a:defRPr sz="638" b="0">
                <a:solidFill>
                  <a:srgbClr val="8A7C90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850">
                <a:solidFill>
                  <a:srgbClr val="665A5A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 UI"/>
              </a:rPr>
              <a:t>孟帅 · 本科毕业设计答辩</a:t>
            </a: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01689EF2-C24E-433C-9DCA-D160B09A2800}"/>
              </a:ext>
            </a:extLst>
          </p:cNvPr>
          <p:cNvSpPr>
            <a:spLocks noGrp="1"/>
          </p:cNvSpPr>
          <p:nvPr/>
        </p:nvSpPr>
        <p:spPr>
          <a:xfrm>
            <a:off x="590550" y="552450"/>
            <a:ext cx="9144000" cy="482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50800" tIns="25400" rIns="50800" bIns="25400" anchor="t"/>
          <a:lstStyle/>
          <a:p>
            <a:pPr algn="l">
              <a:defRPr sz="2025" b="1">
                <a:solidFill>
                  <a:srgbClr val="24222A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lang="zh-CN" altLang="en-US" sz="2450" b="1">
                <a:solidFill>
                  <a:srgbClr val="261F1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 UI"/>
              </a:rPr>
              <a:t>知识图谱生成文化记忆</a:t>
            </a:r>
            <a:endParaRPr sz="2450" b="1">
              <a:solidFill>
                <a:srgbClr val="261F1F"/>
              </a:solidFill>
              <a:latin typeface="Microsoft YaHei" panose="020B0503020204020204" pitchFamily="34" charset="-122"/>
              <a:ea typeface="Microsoft YaHei" panose="020B0503020204020204" pitchFamily="34" charset="-122"/>
              <a:cs typeface="Microsoft YaHei UI"/>
            </a:endParaRPr>
          </a:p>
        </p:txBody>
      </p:sp>
      <p:sp>
        <p:nvSpPr>
          <p:cNvPr id="29" name="Slide07 KGGlobal Frame">
            <a:extLst>
              <a:ext uri="{FF2B5EF4-FFF2-40B4-BE49-F238E27FC236}">
                <a16:creationId xmlns:a16="http://schemas.microsoft.com/office/drawing/2014/main" id="{6C4486AF-0CDC-013C-F998-41F73201590E}"/>
              </a:ext>
            </a:extLst>
          </p:cNvPr>
          <p:cNvSpPr/>
          <p:nvPr/>
        </p:nvSpPr>
        <p:spPr>
          <a:xfrm>
            <a:off x="965200" y="1478071"/>
            <a:ext cx="5003800" cy="4694129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CDBED7"/>
            </a:solidFill>
          </a:ln>
          <a:effectLst>
            <a:outerShdw blurRad="50800" dist="35921" dir="2700002" rotWithShape="0">
              <a:scrgbClr r="0" g="0" b="0">
                <a:alpha val="14000"/>
              </a:scrgb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5" name="Slide07 KGGlobal Caption">
            <a:extLst>
              <a:ext uri="{FF2B5EF4-FFF2-40B4-BE49-F238E27FC236}">
                <a16:creationId xmlns:a16="http://schemas.microsoft.com/office/drawing/2014/main" id="{B62F43B1-8C39-682E-F41D-8A1725A3D337}"/>
              </a:ext>
            </a:extLst>
          </p:cNvPr>
          <p:cNvSpPr txBox="1"/>
          <p:nvPr/>
        </p:nvSpPr>
        <p:spPr>
          <a:xfrm>
            <a:off x="1238250" y="5792875"/>
            <a:ext cx="4546600" cy="104644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zh-CN" altLang="en-US" sz="680" b="1" dirty="0">
                <a:solidFill>
                  <a:srgbClr val="6F2184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知识图谱全局网络总图</a:t>
            </a: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D4229477-FEDA-09F8-C142-3CCBC53B091A}"/>
              </a:ext>
            </a:extLst>
          </p:cNvPr>
          <p:cNvSpPr txBox="1"/>
          <p:nvPr/>
        </p:nvSpPr>
        <p:spPr>
          <a:xfrm>
            <a:off x="571500" y="177800"/>
            <a:ext cx="6858000" cy="276999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n-US" altLang="zh-CN" b="1">
                <a:solidFill>
                  <a:srgbClr val="7E006F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02 | </a:t>
            </a:r>
            <a:r>
              <a:rPr lang="zh-CN" altLang="en-US" b="1">
                <a:solidFill>
                  <a:srgbClr val="7E006F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数据基础与处理方法</a:t>
            </a:r>
          </a:p>
        </p:txBody>
      </p:sp>
      <p:sp>
        <p:nvSpPr>
          <p:cNvPr id="47" name="Round8 Slide07 Rebuilt Panel">
            <a:extLst>
              <a:ext uri="{FF2B5EF4-FFF2-40B4-BE49-F238E27FC236}">
                <a16:creationId xmlns:a16="http://schemas.microsoft.com/office/drawing/2014/main" id="{E57DAF01-FFDF-9EF7-4591-D898CD6469EE}"/>
              </a:ext>
            </a:extLst>
          </p:cNvPr>
          <p:cNvSpPr/>
          <p:nvPr/>
        </p:nvSpPr>
        <p:spPr>
          <a:xfrm>
            <a:off x="6096000" y="1422400"/>
            <a:ext cx="4927600" cy="4800600"/>
          </a:xfrm>
          <a:prstGeom prst="roundRect">
            <a:avLst/>
          </a:prstGeom>
          <a:solidFill>
            <a:srgbClr val="FFFFFF"/>
          </a:solidFill>
          <a:ln w="11430">
            <a:solidFill>
              <a:srgbClr val="CDB0D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8" name="Round8 Slide07 Panel Head">
            <a:extLst>
              <a:ext uri="{FF2B5EF4-FFF2-40B4-BE49-F238E27FC236}">
                <a16:creationId xmlns:a16="http://schemas.microsoft.com/office/drawing/2014/main" id="{4F505C62-754B-ECCC-5CFD-B22817F35EB9}"/>
              </a:ext>
            </a:extLst>
          </p:cNvPr>
          <p:cNvSpPr txBox="1"/>
          <p:nvPr/>
        </p:nvSpPr>
        <p:spPr>
          <a:xfrm>
            <a:off x="6502400" y="1676400"/>
            <a:ext cx="4140200" cy="276999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zh-CN" altLang="en-US" b="1">
                <a:solidFill>
                  <a:srgbClr val="7E007E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从文本到图谱</a:t>
            </a:r>
          </a:p>
        </p:txBody>
      </p:sp>
      <p:sp>
        <p:nvSpPr>
          <p:cNvPr id="49" name="Round8 Slide07 Panel Lead">
            <a:extLst>
              <a:ext uri="{FF2B5EF4-FFF2-40B4-BE49-F238E27FC236}">
                <a16:creationId xmlns:a16="http://schemas.microsoft.com/office/drawing/2014/main" id="{5BC41ACE-1BFD-D4EA-CB04-CDE71711F985}"/>
              </a:ext>
            </a:extLst>
          </p:cNvPr>
          <p:cNvSpPr txBox="1"/>
          <p:nvPr/>
        </p:nvSpPr>
        <p:spPr>
          <a:xfrm>
            <a:off x="6502400" y="2057400"/>
            <a:ext cx="4140200" cy="430887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zh-CN" altLang="en-US" sz="1400">
                <a:solidFill>
                  <a:srgbClr val="241F28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知识图谱是中间关系层，不只是展示图；它把文本转成可追溯、可计算的关系。</a:t>
            </a:r>
          </a:p>
        </p:txBody>
      </p:sp>
      <p:sp>
        <p:nvSpPr>
          <p:cNvPr id="50" name="Round8 Slide07 Card">
            <a:extLst>
              <a:ext uri="{FF2B5EF4-FFF2-40B4-BE49-F238E27FC236}">
                <a16:creationId xmlns:a16="http://schemas.microsoft.com/office/drawing/2014/main" id="{3F6BED44-D4FA-78E5-C2C3-706CE8E65828}"/>
              </a:ext>
            </a:extLst>
          </p:cNvPr>
          <p:cNvSpPr/>
          <p:nvPr/>
        </p:nvSpPr>
        <p:spPr>
          <a:xfrm>
            <a:off x="6502400" y="2730500"/>
            <a:ext cx="4241800" cy="72390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CDB0D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1" name="Round8 Slide07 Card Accent">
            <a:extLst>
              <a:ext uri="{FF2B5EF4-FFF2-40B4-BE49-F238E27FC236}">
                <a16:creationId xmlns:a16="http://schemas.microsoft.com/office/drawing/2014/main" id="{1A5BD2CC-3F06-96E1-EB80-41E28CFC3D30}"/>
              </a:ext>
            </a:extLst>
          </p:cNvPr>
          <p:cNvSpPr/>
          <p:nvPr/>
        </p:nvSpPr>
        <p:spPr>
          <a:xfrm>
            <a:off x="6502400" y="2730500"/>
            <a:ext cx="4241800" cy="38100"/>
          </a:xfrm>
          <a:prstGeom prst="rect">
            <a:avLst/>
          </a:prstGeom>
          <a:solidFill>
            <a:srgbClr val="7E007E"/>
          </a:solidFill>
          <a:ln w="19050">
            <a:noFill/>
            <a:prstDash val="solid"/>
          </a:ln>
          <a:effectLst/>
          <a:extLst>
            <a:ext uri="{91240B29-F687-4F45-9708-019B960494DF}">
              <a14:hiddenLine xmlns:a14="http://schemas.microsoft.com/office/drawing/2010/main" w="19050">
                <a:solidFill>
                  <a:schemeClr val="accent1">
                    <a:shade val="15000"/>
                  </a:schemeClr>
                </a:solidFill>
                <a:prstDash val="solid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2" name="Round8 Slide07 Card Head">
            <a:extLst>
              <a:ext uri="{FF2B5EF4-FFF2-40B4-BE49-F238E27FC236}">
                <a16:creationId xmlns:a16="http://schemas.microsoft.com/office/drawing/2014/main" id="{58D7AFAC-266E-3B49-D081-656A20F9D4B2}"/>
              </a:ext>
            </a:extLst>
          </p:cNvPr>
          <p:cNvSpPr txBox="1"/>
          <p:nvPr/>
        </p:nvSpPr>
        <p:spPr>
          <a:xfrm>
            <a:off x="6654800" y="2832100"/>
            <a:ext cx="3937000" cy="230832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zh-CN" altLang="en-US" sz="1500" b="1">
                <a:solidFill>
                  <a:srgbClr val="7E007E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语料抽取</a:t>
            </a:r>
          </a:p>
        </p:txBody>
      </p:sp>
      <p:sp>
        <p:nvSpPr>
          <p:cNvPr id="53" name="Round8 Slide07 Card Body">
            <a:extLst>
              <a:ext uri="{FF2B5EF4-FFF2-40B4-BE49-F238E27FC236}">
                <a16:creationId xmlns:a16="http://schemas.microsoft.com/office/drawing/2014/main" id="{ACD45F2A-79F5-5D87-2449-1016498F22C7}"/>
              </a:ext>
            </a:extLst>
          </p:cNvPr>
          <p:cNvSpPr txBox="1"/>
          <p:nvPr/>
        </p:nvSpPr>
        <p:spPr>
          <a:xfrm>
            <a:off x="6654800" y="3111500"/>
            <a:ext cx="3937000" cy="215444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altLang="zh-CN" sz="1400">
                <a:solidFill>
                  <a:srgbClr val="241F28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53 </a:t>
            </a:r>
            <a:r>
              <a:rPr lang="zh-CN" altLang="en-US" sz="1400">
                <a:solidFill>
                  <a:srgbClr val="241F28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份典籍语料 → </a:t>
            </a:r>
            <a:r>
              <a:rPr lang="en-US" altLang="zh-CN" sz="1400">
                <a:solidFill>
                  <a:srgbClr val="241F28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61,218 </a:t>
            </a:r>
            <a:r>
              <a:rPr lang="zh-CN" altLang="en-US" sz="1400">
                <a:solidFill>
                  <a:srgbClr val="241F28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条实体记录</a:t>
            </a:r>
          </a:p>
        </p:txBody>
      </p:sp>
      <p:sp>
        <p:nvSpPr>
          <p:cNvPr id="54" name="Round8 Slide07 Card">
            <a:extLst>
              <a:ext uri="{FF2B5EF4-FFF2-40B4-BE49-F238E27FC236}">
                <a16:creationId xmlns:a16="http://schemas.microsoft.com/office/drawing/2014/main" id="{260AEDCC-D4E4-CFB4-8560-1EA7CB701120}"/>
              </a:ext>
            </a:extLst>
          </p:cNvPr>
          <p:cNvSpPr/>
          <p:nvPr/>
        </p:nvSpPr>
        <p:spPr>
          <a:xfrm>
            <a:off x="6502400" y="3606800"/>
            <a:ext cx="4241800" cy="72390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CDB0D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5" name="Round8 Slide07 Card Accent">
            <a:extLst>
              <a:ext uri="{FF2B5EF4-FFF2-40B4-BE49-F238E27FC236}">
                <a16:creationId xmlns:a16="http://schemas.microsoft.com/office/drawing/2014/main" id="{74B46F66-B236-26F9-2F7C-61ADCD8A3123}"/>
              </a:ext>
            </a:extLst>
          </p:cNvPr>
          <p:cNvSpPr/>
          <p:nvPr/>
        </p:nvSpPr>
        <p:spPr>
          <a:xfrm>
            <a:off x="6502400" y="3606800"/>
            <a:ext cx="4241800" cy="38100"/>
          </a:xfrm>
          <a:prstGeom prst="rect">
            <a:avLst/>
          </a:prstGeom>
          <a:solidFill>
            <a:srgbClr val="7E007E"/>
          </a:solidFill>
          <a:ln w="19050">
            <a:noFill/>
            <a:prstDash val="solid"/>
          </a:ln>
          <a:effectLst/>
          <a:extLst>
            <a:ext uri="{91240B29-F687-4F45-9708-019B960494DF}">
              <a14:hiddenLine xmlns:a14="http://schemas.microsoft.com/office/drawing/2010/main" w="19050">
                <a:solidFill>
                  <a:schemeClr val="accent1">
                    <a:shade val="15000"/>
                  </a:schemeClr>
                </a:solidFill>
                <a:prstDash val="solid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6" name="Round8 Slide07 Card Head">
            <a:extLst>
              <a:ext uri="{FF2B5EF4-FFF2-40B4-BE49-F238E27FC236}">
                <a16:creationId xmlns:a16="http://schemas.microsoft.com/office/drawing/2014/main" id="{B0649B4B-A771-B48C-475B-E90B64ACFC90}"/>
              </a:ext>
            </a:extLst>
          </p:cNvPr>
          <p:cNvSpPr txBox="1"/>
          <p:nvPr/>
        </p:nvSpPr>
        <p:spPr>
          <a:xfrm>
            <a:off x="6654800" y="3708400"/>
            <a:ext cx="3937000" cy="230832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zh-CN" altLang="en-US" sz="1500" b="1">
                <a:solidFill>
                  <a:srgbClr val="7E007E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关系合并</a:t>
            </a:r>
          </a:p>
        </p:txBody>
      </p:sp>
      <p:sp>
        <p:nvSpPr>
          <p:cNvPr id="57" name="Round8 Slide07 Card Body">
            <a:extLst>
              <a:ext uri="{FF2B5EF4-FFF2-40B4-BE49-F238E27FC236}">
                <a16:creationId xmlns:a16="http://schemas.microsoft.com/office/drawing/2014/main" id="{7F2ECAAA-7376-BDF3-31F7-6EC3236DD094}"/>
              </a:ext>
            </a:extLst>
          </p:cNvPr>
          <p:cNvSpPr txBox="1"/>
          <p:nvPr/>
        </p:nvSpPr>
        <p:spPr>
          <a:xfrm>
            <a:off x="6654800" y="3987800"/>
            <a:ext cx="3937000" cy="215444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altLang="zh-CN" sz="1400">
                <a:solidFill>
                  <a:srgbClr val="241F28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42,024 </a:t>
            </a:r>
            <a:r>
              <a:rPr lang="zh-CN" altLang="en-US" sz="1400">
                <a:solidFill>
                  <a:srgbClr val="241F28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条关系记录 → </a:t>
            </a:r>
            <a:r>
              <a:rPr lang="en-US" altLang="zh-CN" sz="1400">
                <a:solidFill>
                  <a:srgbClr val="241F28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8,048 </a:t>
            </a:r>
            <a:r>
              <a:rPr lang="zh-CN" altLang="en-US" sz="1400">
                <a:solidFill>
                  <a:srgbClr val="241F28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实体、</a:t>
            </a:r>
            <a:r>
              <a:rPr lang="en-US" altLang="zh-CN" sz="1400">
                <a:solidFill>
                  <a:srgbClr val="241F28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19,382 </a:t>
            </a:r>
            <a:r>
              <a:rPr lang="zh-CN" altLang="en-US" sz="1400">
                <a:solidFill>
                  <a:srgbClr val="241F28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关系</a:t>
            </a:r>
          </a:p>
        </p:txBody>
      </p:sp>
      <p:sp>
        <p:nvSpPr>
          <p:cNvPr id="58" name="Round8 Slide07 Card">
            <a:extLst>
              <a:ext uri="{FF2B5EF4-FFF2-40B4-BE49-F238E27FC236}">
                <a16:creationId xmlns:a16="http://schemas.microsoft.com/office/drawing/2014/main" id="{0655CD5D-A395-C1B0-8EC9-8C3DC81541CA}"/>
              </a:ext>
            </a:extLst>
          </p:cNvPr>
          <p:cNvSpPr/>
          <p:nvPr/>
        </p:nvSpPr>
        <p:spPr>
          <a:xfrm>
            <a:off x="6502400" y="4483100"/>
            <a:ext cx="4241800" cy="72390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CDB0D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9" name="Round8 Slide07 Card Accent">
            <a:extLst>
              <a:ext uri="{FF2B5EF4-FFF2-40B4-BE49-F238E27FC236}">
                <a16:creationId xmlns:a16="http://schemas.microsoft.com/office/drawing/2014/main" id="{2C26DD06-2E45-4275-2866-0DEE5F031DD4}"/>
              </a:ext>
            </a:extLst>
          </p:cNvPr>
          <p:cNvSpPr/>
          <p:nvPr/>
        </p:nvSpPr>
        <p:spPr>
          <a:xfrm>
            <a:off x="6502400" y="4483100"/>
            <a:ext cx="4241800" cy="38100"/>
          </a:xfrm>
          <a:prstGeom prst="rect">
            <a:avLst/>
          </a:prstGeom>
          <a:solidFill>
            <a:srgbClr val="498375"/>
          </a:solidFill>
          <a:ln w="19050">
            <a:noFill/>
            <a:prstDash val="solid"/>
          </a:ln>
          <a:effectLst/>
          <a:extLst>
            <a:ext uri="{91240B29-F687-4F45-9708-019B960494DF}">
              <a14:hiddenLine xmlns:a14="http://schemas.microsoft.com/office/drawing/2010/main" w="19050">
                <a:solidFill>
                  <a:schemeClr val="accent1">
                    <a:shade val="15000"/>
                  </a:schemeClr>
                </a:solidFill>
                <a:prstDash val="solid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0" name="Round8 Slide07 Card Head">
            <a:extLst>
              <a:ext uri="{FF2B5EF4-FFF2-40B4-BE49-F238E27FC236}">
                <a16:creationId xmlns:a16="http://schemas.microsoft.com/office/drawing/2014/main" id="{034BB7AC-44E6-34F5-D0D8-B67E5320B8B6}"/>
              </a:ext>
            </a:extLst>
          </p:cNvPr>
          <p:cNvSpPr txBox="1"/>
          <p:nvPr/>
        </p:nvSpPr>
        <p:spPr>
          <a:xfrm>
            <a:off x="6654800" y="4584700"/>
            <a:ext cx="3937000" cy="230832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zh-CN" altLang="en-US" sz="1500" b="1">
                <a:solidFill>
                  <a:srgbClr val="7E007E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空间落位</a:t>
            </a:r>
          </a:p>
        </p:txBody>
      </p:sp>
      <p:sp>
        <p:nvSpPr>
          <p:cNvPr id="61" name="Round8 Slide07 Card Body">
            <a:extLst>
              <a:ext uri="{FF2B5EF4-FFF2-40B4-BE49-F238E27FC236}">
                <a16:creationId xmlns:a16="http://schemas.microsoft.com/office/drawing/2014/main" id="{224802E5-C706-84BE-54FB-346C1BDE4C3E}"/>
              </a:ext>
            </a:extLst>
          </p:cNvPr>
          <p:cNvSpPr txBox="1"/>
          <p:nvPr/>
        </p:nvSpPr>
        <p:spPr>
          <a:xfrm>
            <a:off x="6654800" y="4864100"/>
            <a:ext cx="3937000" cy="215444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altLang="zh-CN" sz="1400">
                <a:solidFill>
                  <a:srgbClr val="241F28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575 </a:t>
            </a:r>
            <a:r>
              <a:rPr lang="zh-CN" altLang="en-US" sz="1400">
                <a:solidFill>
                  <a:srgbClr val="241F28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个实体落位，进入 </a:t>
            </a:r>
            <a:r>
              <a:rPr lang="en-US" altLang="zh-CN" sz="1400">
                <a:solidFill>
                  <a:srgbClr val="241F28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CMI </a:t>
            </a:r>
            <a:r>
              <a:rPr lang="zh-CN" altLang="en-US" sz="1400">
                <a:solidFill>
                  <a:srgbClr val="241F28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与网格匹配</a:t>
            </a:r>
          </a:p>
        </p:txBody>
      </p:sp>
      <p:sp>
        <p:nvSpPr>
          <p:cNvPr id="62" name="Round8 Slide07 Panel Note">
            <a:extLst>
              <a:ext uri="{FF2B5EF4-FFF2-40B4-BE49-F238E27FC236}">
                <a16:creationId xmlns:a16="http://schemas.microsoft.com/office/drawing/2014/main" id="{F77C80A7-783F-8274-A0F5-E87EE6EF6613}"/>
              </a:ext>
            </a:extLst>
          </p:cNvPr>
          <p:cNvSpPr txBox="1"/>
          <p:nvPr/>
        </p:nvSpPr>
        <p:spPr>
          <a:xfrm>
            <a:off x="6502400" y="5410200"/>
            <a:ext cx="4241800" cy="430887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zh-CN" altLang="en-US" sz="1400">
                <a:solidFill>
                  <a:srgbClr val="524C56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后续用人物、地点、技艺、事件关系解释文化记忆，并与 </a:t>
            </a:r>
            <a:r>
              <a:rPr lang="en-US" altLang="zh-CN" sz="1400">
                <a:solidFill>
                  <a:srgbClr val="524C56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POI / </a:t>
            </a:r>
            <a:r>
              <a:rPr lang="zh-CN" altLang="en-US" sz="1400">
                <a:solidFill>
                  <a:srgbClr val="524C56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评论热度对照。</a:t>
            </a:r>
          </a:p>
        </p:txBody>
      </p:sp>
      <p:pic>
        <p:nvPicPr>
          <p:cNvPr id="10" name="Slide07 KGGlobal">
            <a:extLst>
              <a:ext uri="{FF2B5EF4-FFF2-40B4-BE49-F238E27FC236}">
                <a16:creationId xmlns:a16="http://schemas.microsoft.com/office/drawing/2014/main" id="{F2BE8C57-DE1E-FDF2-CEA9-57BB3BC08E70}"/>
              </a:ext>
            </a:extLst>
          </p:cNvPr>
          <p:cNvPicPr>
            <a:picLocks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47263" y="1758211"/>
            <a:ext cx="4608012" cy="39306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04815188"/>
      </p:ext>
    </p:extLst>
  </p:cSld>
  <p:clrMapOvr>
    <a:masterClrMapping/>
  </p:clrMapOvr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45</TotalTime>
  <Words>112</Words>
  <Application>Microsoft Office PowerPoint</Application>
  <DocSecurity>0</DocSecurity>
  <PresentationFormat>宽屏</PresentationFormat>
  <Paragraphs>15</Paragraphs>
  <Slides>1</Slides>
  <Notes>1</Notes>
  <HiddenSlides>0</HiddenSlides>
  <MMClips>0</MMClips>
  <ScaleCrop>false</ScaleCrop>
  <HeadingPairs>
    <vt:vector size="6" baseType="variant">
      <vt:variant>
        <vt:lpstr>已用的字体</vt:lpstr>
      </vt:variant>
      <vt:variant>
        <vt:i4>2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</vt:i4>
      </vt:variant>
    </vt:vector>
  </HeadingPairs>
  <TitlesOfParts>
    <vt:vector size="4" baseType="lpstr">
      <vt:lpstr>Microsoft YaHei</vt:lpstr>
      <vt:lpstr>Calibri</vt:lpstr>
      <vt:lpstr>ChatGPT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Presentation</dc:title>
  <dc:creator>Walnut Exporter</dc:creator>
  <cp:lastModifiedBy>帅 孟</cp:lastModifiedBy>
  <cp:revision>42</cp:revision>
  <dcterms:created xsi:type="dcterms:W3CDTF">2026-06-02T06:15:18Z</dcterms:created>
  <dcterms:modified xsi:type="dcterms:W3CDTF">2026-06-03T04:24:00Z</dcterms:modified>
</cp:coreProperties>
</file>