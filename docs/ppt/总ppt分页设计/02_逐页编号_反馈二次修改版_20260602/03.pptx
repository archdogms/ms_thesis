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5C8F7B0-0AD1-4480-B1AB-2AF7811204A4}"/>
              </a:ext>
            </a:extLst>
          </p:cNvPr>
          <p:cNvSpPr>
            <a:spLocks noGrp="1"/>
          </p:cNvSpPr>
          <p:nvPr/>
        </p:nvSpPr>
        <p:spPr>
          <a:xfrm>
            <a:off x="571500" y="215900"/>
            <a:ext cx="4191000" cy="2540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 | </a:t>
            </a:r>
            <a:r>
              <a:rPr lang="zh-CN" altLang="en-US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研究回顾与问题收束</a:t>
            </a:r>
            <a:endParaRPr sz="132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开题/中期原始背景与终版论文第 1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939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6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从双谱系到错位诊断</a:t>
            </a:r>
            <a:endParaRPr sz="26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26342F-EEBA-4AD0-B732-58F64BED5DA3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核心判断：开题的「双谱系」没有停留在概念层面，而是被收束成可落位的空间错位诊断。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讲述时强调：中期跑通 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OCR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、评论与图谱，定稿再用 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条载体和 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网格复核。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7E5E03-442C-4743-9A9C-8DACBFA139C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C4612F-B566-4082-9C0C-AB150F28FE3F}"/>
              </a:ext>
            </a:extLst>
          </p:cNvPr>
          <p:cNvSpPr>
            <a:spLocks noGrp="1"/>
          </p:cNvSpPr>
          <p:nvPr/>
        </p:nvSpPr>
        <p:spPr>
          <a:xfrm>
            <a:off x="1085850" y="2038350"/>
            <a:ext cx="781050" cy="247650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CD683-B72F-4E34-8E38-086624DF0D24}"/>
              </a:ext>
            </a:extLst>
          </p:cNvPr>
          <p:cNvSpPr>
            <a:spLocks noGrp="1"/>
          </p:cNvSpPr>
          <p:nvPr/>
        </p:nvSpPr>
        <p:spPr>
          <a:xfrm>
            <a:off x="1200150" y="20859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政策导向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9DEB9F-DC90-4C09-8097-38AA11B22FC0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文旅融合成为区域高质量发展的重要方向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BBF1EC-14CE-44F0-BAFF-60592C774A66}"/>
              </a:ext>
            </a:extLst>
          </p:cNvPr>
          <p:cNvSpPr>
            <a:spLocks noGrp="1"/>
          </p:cNvSpPr>
          <p:nvPr/>
        </p:nvSpPr>
        <p:spPr>
          <a:xfrm>
            <a:off x="1104900" y="365760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文化资源需要从名录与文本，转化为可到达、可参与、可体验的旅游产品。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30408F-F964-48D2-BF21-D87B2EA848BA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91ADA-533C-4153-A35A-04890D255980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F2399-7D0E-4722-ACB8-C02C5C368A07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4CEFC1-EC67-4944-A6C2-1378707F0B15}"/>
              </a:ext>
            </a:extLst>
          </p:cNvPr>
          <p:cNvSpPr>
            <a:spLocks noGrp="1"/>
          </p:cNvSpPr>
          <p:nvPr/>
        </p:nvSpPr>
        <p:spPr>
          <a:xfrm>
            <a:off x="4333875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D3D4830-8616-49B8-8FFD-647B658BC357}"/>
              </a:ext>
            </a:extLst>
          </p:cNvPr>
          <p:cNvSpPr>
            <a:spLocks noGrp="1"/>
          </p:cNvSpPr>
          <p:nvPr/>
        </p:nvSpPr>
        <p:spPr>
          <a:xfrm>
            <a:off x="4543425" y="2038350"/>
            <a:ext cx="781050" cy="247650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6823F2B-36F9-4867-AF66-6445B5675A92}"/>
              </a:ext>
            </a:extLst>
          </p:cNvPr>
          <p:cNvSpPr>
            <a:spLocks noGrp="1"/>
          </p:cNvSpPr>
          <p:nvPr/>
        </p:nvSpPr>
        <p:spPr>
          <a:xfrm>
            <a:off x="4657725" y="20859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区域现状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E25CEE-2288-410C-9879-111F7C1A7A18}"/>
              </a:ext>
            </a:extLst>
          </p:cNvPr>
          <p:cNvSpPr>
            <a:spLocks noGrp="1"/>
          </p:cNvSpPr>
          <p:nvPr/>
        </p:nvSpPr>
        <p:spPr>
          <a:xfrm>
            <a:off x="4562475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南海文化资源丰富，但与旅游体验整合不足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43F559-F23E-4214-997F-7407C71EF586}"/>
              </a:ext>
            </a:extLst>
          </p:cNvPr>
          <p:cNvSpPr>
            <a:spLocks noGrp="1"/>
          </p:cNvSpPr>
          <p:nvPr/>
        </p:nvSpPr>
        <p:spPr>
          <a:xfrm>
            <a:off x="4562475" y="365760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南海拥有90项非遗、80处文物和12个名村，但文化体验的系统性仍需提升。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47F1E3-1CC0-43CC-B815-BB7CDBEFF1B6}"/>
              </a:ext>
            </a:extLst>
          </p:cNvPr>
          <p:cNvSpPr>
            <a:spLocks noGrp="1"/>
          </p:cNvSpPr>
          <p:nvPr/>
        </p:nvSpPr>
        <p:spPr>
          <a:xfrm>
            <a:off x="4562475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0DEA8-318E-4286-836D-4445CE7D5115}"/>
              </a:ext>
            </a:extLst>
          </p:cNvPr>
          <p:cNvSpPr>
            <a:spLocks noGrp="1"/>
          </p:cNvSpPr>
          <p:nvPr/>
        </p:nvSpPr>
        <p:spPr>
          <a:xfrm>
            <a:off x="4562475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E4BF31-37E8-4C50-B03C-2C7E5EAEC627}"/>
              </a:ext>
            </a:extLst>
          </p:cNvPr>
          <p:cNvSpPr>
            <a:spLocks noGrp="1"/>
          </p:cNvSpPr>
          <p:nvPr/>
        </p:nvSpPr>
        <p:spPr>
          <a:xfrm>
            <a:off x="4562475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3A4B76-352B-4124-930E-9E74909A76E3}"/>
              </a:ext>
            </a:extLst>
          </p:cNvPr>
          <p:cNvSpPr>
            <a:spLocks noGrp="1"/>
          </p:cNvSpPr>
          <p:nvPr/>
        </p:nvSpPr>
        <p:spPr>
          <a:xfrm>
            <a:off x="779145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06E303D-4EFE-497A-8694-E1B6BA17D2ED}"/>
              </a:ext>
            </a:extLst>
          </p:cNvPr>
          <p:cNvSpPr>
            <a:spLocks noGrp="1"/>
          </p:cNvSpPr>
          <p:nvPr/>
        </p:nvSpPr>
        <p:spPr>
          <a:xfrm>
            <a:off x="8001000" y="2038350"/>
            <a:ext cx="781050" cy="247650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8989A-C6C8-4A99-B4E7-A3B9EF901A29}"/>
              </a:ext>
            </a:extLst>
          </p:cNvPr>
          <p:cNvSpPr>
            <a:spLocks noGrp="1"/>
          </p:cNvSpPr>
          <p:nvPr/>
        </p:nvSpPr>
        <p:spPr>
          <a:xfrm>
            <a:off x="8115300" y="20859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中期问题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E7BFE2-6EFA-4D8C-95AC-BC0EA8C2E6F5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如何识别文化遗产与旅游产品的对应、错位和缺失？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334CF6-6E8C-4CC7-880E-4D435E7287C0}"/>
              </a:ext>
            </a:extLst>
          </p:cNvPr>
          <p:cNvSpPr>
            <a:spLocks noGrp="1"/>
          </p:cNvSpPr>
          <p:nvPr/>
        </p:nvSpPr>
        <p:spPr>
          <a:xfrm>
            <a:off x="8020050" y="365760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中期完成数据与图谱，定稿以165条载体和500m网格量化空间错位。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4B6C42-A394-46E6-8DC1-90CF68C5E119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75364E8-F4C4-4878-BC40-8B35BC137131}"/>
              </a:ext>
            </a:extLst>
          </p:cNvPr>
          <p:cNvSpPr>
            <a:spLocks noGrp="1"/>
          </p:cNvSpPr>
          <p:nvPr/>
        </p:nvSpPr>
        <p:spPr>
          <a:xfrm>
            <a:off x="802005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221924-D000-42D4-9C06-B6D57E855185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中期收束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D294B25-9B2A-419B-9056-51D7AB900029}"/>
              </a:ext>
            </a:extLst>
          </p:cNvPr>
          <p:cNvSpPr>
            <a:spLocks noGrp="1"/>
          </p:cNvSpPr>
          <p:nvPr/>
        </p:nvSpPr>
        <p:spPr>
          <a:xfrm>
            <a:off x="2238375" y="3467100"/>
            <a:ext cx="5905500" cy="28575"/>
          </a:xfrm>
          <a:prstGeom prst="rect">
            <a:avLst/>
          </a:prstGeom>
          <a:solidFill>
            <a:srgbClr val="8C4AA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120</Words>
  <Application>Microsoft Office PowerPoint</Application>
  <DocSecurity>0</DocSecurity>
  <PresentationFormat>宽屏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16</cp:revision>
  <dcterms:created xsi:type="dcterms:W3CDTF">2026-06-02T06:15:18Z</dcterms:created>
  <dcterms:modified xsi:type="dcterms:W3CDTF">2026-06-02T12:51:47Z</dcterms:modified>
</cp:coreProperties>
</file>