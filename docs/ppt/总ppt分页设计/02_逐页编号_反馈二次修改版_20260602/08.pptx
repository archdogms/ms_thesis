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3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>
        <p:scale>
          <a:sx n="125" d="100"/>
          <a:sy n="125" d="100"/>
        </p:scale>
        <p:origin x="1416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图片 29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4C5A1F6D-502A-4A79-A1ED-76B838C82F2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FD2E851-9117-4B8A-AE27-C738D7C7FE6A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9520866-5C2C-490D-94A8-50FABE26EE1F}"/>
              </a:ext>
            </a:extLst>
          </p:cNvPr>
          <p:cNvSpPr>
            <a:spLocks noGrp="1"/>
          </p:cNvSpPr>
          <p:nvPr/>
        </p:nvSpPr>
        <p:spPr>
          <a:xfrm>
            <a:off x="571500" y="215900"/>
            <a:ext cx="4191000" cy="254000"/>
          </a:xfrm>
          <a:prstGeom prst="rect">
            <a:avLst/>
          </a:prstGeom>
          <a:noFill/>
          <a:ln w="0">
            <a:noFill/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rgbClr val="56166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>
                    <a:alpha val="0"/>
                  </a:srgbClr>
                </a:solidFill>
                <a:prstDash val="solid"/>
              </a14:hiddenLine>
            </a:ext>
          </a:extLst>
        </p:spPr>
        <p:txBody>
          <a:bodyPr lIns="0" tIns="0" rIns="101600" bIns="0" anchor="ctr"/>
          <a:lstStyle/>
          <a:p>
            <a:pPr algn="l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32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02 | </a:t>
            </a:r>
            <a:r>
              <a:rPr lang="zh-CN" altLang="en-US" sz="132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数据基础与处理方法</a:t>
            </a:r>
            <a:endParaRPr sz="1320" b="1">
              <a:solidFill>
                <a:srgbClr val="5616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461A921-137A-4F50-9AB9-707E179B6955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08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E3E3B3E0-71CF-4D09-BFB8-161DDCD5B0E0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第 4.3.2 节、图 4.3、图 4.4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34D4A68-F63D-4D3D-8999-830698D7897D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6C34604-27ED-49CC-841B-0BE0A5F8F695}"/>
              </a:ext>
            </a:extLst>
          </p:cNvPr>
          <p:cNvSpPr>
            <a:spLocks noGrp="1"/>
          </p:cNvSpPr>
          <p:nvPr/>
        </p:nvSpPr>
        <p:spPr>
          <a:xfrm>
            <a:off x="590550" y="533400"/>
            <a:ext cx="93980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600" b="1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人物子图呈现关系网络</a:t>
            </a:r>
            <a:endParaRPr sz="2600" b="1">
              <a:solidFill>
                <a:srgbClr val="1E1E2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121950B-6511-4BB6-BE61-3669FCD462D5}"/>
              </a:ext>
            </a:extLst>
          </p:cNvPr>
          <p:cNvSpPr>
            <a:spLocks noGrp="1"/>
          </p:cNvSpPr>
          <p:nvPr/>
        </p:nvSpPr>
        <p:spPr>
          <a:xfrm>
            <a:off x="609600" y="1168400"/>
            <a:ext cx="9652000" cy="736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l">
              <a:defRPr sz="93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92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核心判断：人物、地点与技艺的连接说明文化记忆并非散点，而是可以组织为地方关系网络。</a:t>
            </a:r>
          </a:p>
          <a:p>
            <a:pPr algn="l">
              <a:defRPr sz="93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92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讲述时强调：黄飞鸿子图展示叙事如何从文本走向空间锚点，为后续文旅转译提供线索。</a:t>
            </a:r>
            <a:endParaRPr sz="920" dirty="0" err="1">
              <a:solidFill>
                <a:srgbClr val="524E5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EE3E200-3086-4F06-8780-73D6635973B3}"/>
              </a:ext>
            </a:extLst>
          </p:cNvPr>
          <p:cNvSpPr>
            <a:spLocks noGrp="1"/>
          </p:cNvSpPr>
          <p:nvPr/>
        </p:nvSpPr>
        <p:spPr>
          <a:xfrm>
            <a:off x="742950" y="2114550"/>
            <a:ext cx="4762500" cy="3409950"/>
          </a:xfrm>
          <a:prstGeom prst="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7D2AD61-A13E-41D6-87A1-AEE9277C7CC5}"/>
              </a:ext>
            </a:extLst>
          </p:cNvPr>
          <p:cNvSpPr>
            <a:spLocks noGrp="1"/>
          </p:cNvSpPr>
          <p:nvPr/>
        </p:nvSpPr>
        <p:spPr>
          <a:xfrm>
            <a:off x="819150" y="5219700"/>
            <a:ext cx="4457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713" b="1" dirty="0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人物关联总图</a:t>
            </a:r>
            <a:endParaRPr sz="713" b="1" dirty="0">
              <a:solidFill>
                <a:srgbClr val="600070"/>
              </a:solidFill>
              <a:latin typeface="Microsoft YaHei UI"/>
              <a:ea typeface="Microsoft YaHei UI"/>
              <a:cs typeface="Microsoft YaHei UI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A025EA7-441A-4146-9505-428CEDF1C16A}"/>
              </a:ext>
            </a:extLst>
          </p:cNvPr>
          <p:cNvSpPr>
            <a:spLocks noGrp="1"/>
          </p:cNvSpPr>
          <p:nvPr/>
        </p:nvSpPr>
        <p:spPr>
          <a:xfrm>
            <a:off x="5810250" y="2114550"/>
            <a:ext cx="4762500" cy="3409950"/>
          </a:xfrm>
          <a:prstGeom prst="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366371" y="2171700"/>
            <a:ext cx="3497857" cy="3009900"/>
          </a:xfrm>
          <a:prstGeom prst="rect">
            <a:avLst/>
          </a:prstGeom>
        </p:spPr>
      </p:pic>
      <p:sp>
        <p:nvSpPr>
          <p:cNvPr id="20" name="矩形 19">
            <a:extLst>
              <a:ext uri="{FF2B5EF4-FFF2-40B4-BE49-F238E27FC236}">
                <a16:creationId xmlns:a16="http://schemas.microsoft.com/office/drawing/2014/main" id="{126C096B-149F-4DFE-A979-F72238EA7DE7}"/>
              </a:ext>
            </a:extLst>
          </p:cNvPr>
          <p:cNvSpPr>
            <a:spLocks noGrp="1"/>
          </p:cNvSpPr>
          <p:nvPr/>
        </p:nvSpPr>
        <p:spPr>
          <a:xfrm>
            <a:off x="5886450" y="5219700"/>
            <a:ext cx="4457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黄飞鸿人物子图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3673C72-FB6E-46CB-BE4B-247E78DBC365}"/>
              </a:ext>
            </a:extLst>
          </p:cNvPr>
          <p:cNvSpPr>
            <a:spLocks noGrp="1"/>
          </p:cNvSpPr>
          <p:nvPr/>
        </p:nvSpPr>
        <p:spPr>
          <a:xfrm>
            <a:off x="10687050" y="2190750"/>
            <a:ext cx="838200" cy="552450"/>
          </a:xfrm>
          <a:prstGeom prst="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DA6DCD6-28B0-45F8-B41A-88B18E064A61}"/>
              </a:ext>
            </a:extLst>
          </p:cNvPr>
          <p:cNvSpPr>
            <a:spLocks noGrp="1"/>
          </p:cNvSpPr>
          <p:nvPr/>
        </p:nvSpPr>
        <p:spPr>
          <a:xfrm>
            <a:off x="10763250" y="2286000"/>
            <a:ext cx="685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人物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DCD72C2-D884-4D4E-B364-795D60E6A7A9}"/>
              </a:ext>
            </a:extLst>
          </p:cNvPr>
          <p:cNvSpPr>
            <a:spLocks noGrp="1"/>
          </p:cNvSpPr>
          <p:nvPr/>
        </p:nvSpPr>
        <p:spPr>
          <a:xfrm>
            <a:off x="10763250" y="2495550"/>
            <a:ext cx="6858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人物关系进入图谱结构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3A1F2E3-7773-472E-94B2-F26F1575CF7F}"/>
              </a:ext>
            </a:extLst>
          </p:cNvPr>
          <p:cNvSpPr>
            <a:spLocks noGrp="1"/>
          </p:cNvSpPr>
          <p:nvPr/>
        </p:nvSpPr>
        <p:spPr>
          <a:xfrm>
            <a:off x="10687050" y="3048000"/>
            <a:ext cx="838200" cy="552450"/>
          </a:xfrm>
          <a:prstGeom prst="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A0827CF-197B-44B9-A3B8-EFC8B1A8C2F0}"/>
              </a:ext>
            </a:extLst>
          </p:cNvPr>
          <p:cNvSpPr>
            <a:spLocks noGrp="1"/>
          </p:cNvSpPr>
          <p:nvPr/>
        </p:nvSpPr>
        <p:spPr>
          <a:xfrm>
            <a:off x="10763250" y="3143250"/>
            <a:ext cx="685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地点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EC7C91D-2B70-47AC-9B59-4EA0B1C14256}"/>
              </a:ext>
            </a:extLst>
          </p:cNvPr>
          <p:cNvSpPr>
            <a:spLocks noGrp="1"/>
          </p:cNvSpPr>
          <p:nvPr/>
        </p:nvSpPr>
        <p:spPr>
          <a:xfrm>
            <a:off x="10763250" y="3352800"/>
            <a:ext cx="6858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文化记忆可追溯到空间锚点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7EAF7CFF-1C31-4214-8663-BB628BF18689}"/>
              </a:ext>
            </a:extLst>
          </p:cNvPr>
          <p:cNvSpPr>
            <a:spLocks noGrp="1"/>
          </p:cNvSpPr>
          <p:nvPr/>
        </p:nvSpPr>
        <p:spPr>
          <a:xfrm>
            <a:off x="10687050" y="3905250"/>
            <a:ext cx="838200" cy="552450"/>
          </a:xfrm>
          <a:prstGeom prst="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91F5DD30-F609-48E5-B576-A0FEFE07ADB5}"/>
              </a:ext>
            </a:extLst>
          </p:cNvPr>
          <p:cNvSpPr>
            <a:spLocks noGrp="1"/>
          </p:cNvSpPr>
          <p:nvPr/>
        </p:nvSpPr>
        <p:spPr>
          <a:xfrm>
            <a:off x="10763250" y="4000500"/>
            <a:ext cx="685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技艺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1F5CD4F8-68CF-4E47-9E99-EC3BD2709CC3}"/>
              </a:ext>
            </a:extLst>
          </p:cNvPr>
          <p:cNvSpPr>
            <a:spLocks noGrp="1"/>
          </p:cNvSpPr>
          <p:nvPr/>
        </p:nvSpPr>
        <p:spPr>
          <a:xfrm>
            <a:off x="10763250" y="4210050"/>
            <a:ext cx="6858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非遗与地方叙事发生关联</a:t>
            </a:r>
          </a:p>
        </p:txBody>
      </p:sp>
      <p:pic>
        <p:nvPicPr>
          <p:cNvPr id="32" name="图片 31">
            <a:extLst>
              <a:ext uri="{FF2B5EF4-FFF2-40B4-BE49-F238E27FC236}">
                <a16:creationId xmlns:a16="http://schemas.microsoft.com/office/drawing/2014/main" id="{FF5F0A2C-9C73-8CE5-AF00-6948F43C86D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4728" y="2165587"/>
            <a:ext cx="3626544" cy="3003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367788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86</Words>
  <Application>Microsoft Office PowerPoint</Application>
  <DocSecurity>0</DocSecurity>
  <PresentationFormat>宽屏</PresentationFormat>
  <Paragraphs>15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Microsoft YaHei UI</vt:lpstr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16</cp:revision>
  <dcterms:created xsi:type="dcterms:W3CDTF">2026-06-02T06:15:18Z</dcterms:created>
  <dcterms:modified xsi:type="dcterms:W3CDTF">2026-06-02T12:51:48Z</dcterms:modified>
</cp:coreProperties>
</file>