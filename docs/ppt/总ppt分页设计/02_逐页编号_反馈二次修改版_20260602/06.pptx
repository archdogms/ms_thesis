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16571A-607F-42F8-B42F-DAF68D79B263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四类指数形成判断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48D6C4-756F-417C-8483-9B83ACE769D1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核心判断：四类指数不是给文化价值排名，而是把「文化强不强、旅游热不热、是否错位」拆开判断。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代表旅游热度，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才用于识别旅游侧与文化侧之间的相对差异。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CMI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文化记忆指数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OAI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官方认证指数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THI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旅游热度指数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1623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20764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3812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724150"/>
            <a:ext cx="1466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MI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257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错位指数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69570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219700"/>
            <a:ext cx="609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21336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3368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3368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5019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15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7940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典籍提及频次、图谱中心性，回答文化记忆厚不厚。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3368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3368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5019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15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7940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文物、非遗、历史文化资源等制度性认定。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8862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8862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40513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150" b="1">
                <a:solidFill>
                  <a:srgbClr val="56849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3434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、评分与评论量，回答现实到访热不热。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886200"/>
            <a:ext cx="1905000" cy="1092200"/>
          </a:xfrm>
          <a:prstGeom prst="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8862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4051300"/>
            <a:ext cx="1651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5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150" b="1">
                <a:solidFill>
                  <a:srgbClr val="60937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343400"/>
            <a:ext cx="1651000" cy="2400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比较旅游热度与文化侧基础，识别相对错位。</a:t>
            </a:r>
          </a:p>
        </p:txBody>
      </p:sp>
      <p:sp>
        <p:nvSpPr>
          <p:cNvPr id="53" name="Slide06 MIImage Frame">
            <a:extLst>
              <a:ext uri="{FF2B5EF4-FFF2-40B4-BE49-F238E27FC236}">
                <a16:creationId xmlns:a16="http://schemas.microsoft.com/office/drawing/2014/main" id="{0338470A-301E-5DFF-3F58-3CB29E32A125}"/>
              </a:ext>
            </a:extLst>
          </p:cNvPr>
          <p:cNvSpPr/>
          <p:nvPr/>
        </p:nvSpPr>
        <p:spPr>
          <a:xfrm>
            <a:off x="5651500" y="2286000"/>
            <a:ext cx="5016500" cy="3175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Slide06 MIImage">
            <a:extLst>
              <a:ext uri="{FF2B5EF4-FFF2-40B4-BE49-F238E27FC236}">
                <a16:creationId xmlns:a16="http://schemas.microsoft.com/office/drawing/2014/main" id="{37BF83BF-EE57-79A7-BDE9-F904E5684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579" y="2374900"/>
            <a:ext cx="4146342" cy="2844800"/>
          </a:xfrm>
          <a:prstGeom prst="rect">
            <a:avLst/>
          </a:prstGeom>
        </p:spPr>
      </p:pic>
      <p:sp>
        <p:nvSpPr>
          <p:cNvPr id="56" name="Slide06 MIImage Caption">
            <a:extLst>
              <a:ext uri="{FF2B5EF4-FFF2-40B4-BE49-F238E27FC236}">
                <a16:creationId xmlns:a16="http://schemas.microsoft.com/office/drawing/2014/main" id="{8DB70105-704D-A90B-2343-279D0EA3276E}"/>
              </a:ext>
            </a:extLst>
          </p:cNvPr>
          <p:cNvSpPr txBox="1"/>
          <p:nvPr/>
        </p:nvSpPr>
        <p:spPr>
          <a:xfrm>
            <a:off x="5753100" y="5257800"/>
            <a:ext cx="4813300" cy="104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6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分布：由指数进入错位分层判断</a:t>
            </a:r>
          </a:p>
        </p:txBody>
      </p:sp>
      <p:sp>
        <p:nvSpPr>
          <p:cNvPr id="57" name="Slide06 Formula">
            <a:extLst>
              <a:ext uri="{FF2B5EF4-FFF2-40B4-BE49-F238E27FC236}">
                <a16:creationId xmlns:a16="http://schemas.microsoft.com/office/drawing/2014/main" id="{BCAB3C6A-441E-74DA-1D06-9E70BF16E38B}"/>
              </a:ext>
            </a:extLst>
          </p:cNvPr>
          <p:cNvSpPr txBox="1"/>
          <p:nvPr/>
        </p:nvSpPr>
        <p:spPr>
          <a:xfrm>
            <a:off x="3175000" y="5613400"/>
            <a:ext cx="5651500" cy="1292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BA46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= THI - 0.5CMI - 0.5OAI</a:t>
            </a:r>
            <a:r>
              <a:rPr lang="zh-CN" altLang="en-US" sz="840" b="1">
                <a:solidFill>
                  <a:srgbClr val="BA46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840" b="1">
                <a:solidFill>
                  <a:srgbClr val="BA46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840" b="1">
                <a:solidFill>
                  <a:srgbClr val="BA46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表示旅游热度，不能替代文化识别。</a:t>
            </a:r>
          </a:p>
        </p:txBody>
      </p: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192</Words>
  <Application>Microsoft Office PowerPoint</Application>
  <DocSecurity>0</DocSecurity>
  <PresentationFormat>宽屏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2026-06-02T12:51:47Z</dcterms:modified>
</cp:coreProperties>
</file>