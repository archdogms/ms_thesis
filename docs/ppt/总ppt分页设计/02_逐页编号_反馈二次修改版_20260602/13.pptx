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68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>
        <p:scale>
          <a:sx n="125" d="100"/>
          <a:sy n="125" d="100"/>
        </p:scale>
        <p:origin x="1416" y="7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图片 35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D33473F4-6908-40AB-A741-16A12537457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2F7ADF8-1830-4437-9EF4-A75B1A0EE5CB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CFD8A09-18DC-4CB1-92F0-540D6C4C5430}"/>
              </a:ext>
            </a:extLst>
          </p:cNvPr>
          <p:cNvSpPr>
            <a:spLocks noGrp="1"/>
          </p:cNvSpPr>
          <p:nvPr/>
        </p:nvSpPr>
        <p:spPr>
          <a:xfrm>
            <a:off x="571500" y="215900"/>
            <a:ext cx="4191000" cy="254000"/>
          </a:xfrm>
          <a:prstGeom prst="rect">
            <a:avLst/>
          </a:prstGeom>
          <a:noFill/>
          <a:ln w="0">
            <a:noFill/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rgbClr val="56166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>
                    <a:alpha val="0"/>
                  </a:srgbClr>
                </a:solidFill>
                <a:prstDash val="solid"/>
              </a14:hiddenLine>
            </a:ext>
          </a:extLst>
        </p:spPr>
        <p:txBody>
          <a:bodyPr lIns="0" tIns="0" rIns="101600" bIns="0" anchor="ctr"/>
          <a:lstStyle/>
          <a:p>
            <a:pPr algn="l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1320" b="1">
                <a:solidFill>
                  <a:srgbClr val="5616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03 | </a:t>
            </a:r>
            <a:r>
              <a:rPr lang="zh-CN" altLang="en-US" sz="1320" b="1">
                <a:solidFill>
                  <a:srgbClr val="5616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结果诊断与空间格局</a:t>
            </a:r>
            <a:endParaRPr sz="1320" b="1">
              <a:solidFill>
                <a:srgbClr val="5616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7A5DE72-83E5-4BF8-9725-D13CDC138B23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13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DA6AE11D-C185-4559-8870-18887302B2B1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第 6.4 节、图 6.6、图 6.7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69B28BB-6127-40D1-8029-6AEA2544694B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孟帅 · 本科毕业设计答辩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E92110E-2E4B-4E19-A5F6-6C149D53F9C6}"/>
              </a:ext>
            </a:extLst>
          </p:cNvPr>
          <p:cNvSpPr>
            <a:spLocks noGrp="1"/>
          </p:cNvSpPr>
          <p:nvPr/>
        </p:nvSpPr>
        <p:spPr>
          <a:xfrm>
            <a:off x="590550" y="533400"/>
            <a:ext cx="93980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600" b="1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样本之外仍有潜力</a:t>
            </a:r>
            <a:endParaRPr sz="2600" b="1">
              <a:solidFill>
                <a:srgbClr val="1E1E2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8859FFA-F148-4104-AC51-BEF0B3241646}"/>
              </a:ext>
            </a:extLst>
          </p:cNvPr>
          <p:cNvSpPr>
            <a:spLocks noGrp="1"/>
          </p:cNvSpPr>
          <p:nvPr/>
        </p:nvSpPr>
        <p:spPr>
          <a:xfrm>
            <a:off x="609600" y="1168400"/>
            <a:ext cx="9652000" cy="736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/>
          <a:lstStyle/>
          <a:p>
            <a:pPr algn="l">
              <a:defRPr sz="93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92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核心判断：</a:t>
            </a:r>
            <a:r>
              <a:rPr lang="en-US" altLang="zh-CN" sz="92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165 </a:t>
            </a:r>
            <a:r>
              <a:rPr lang="zh-CN" altLang="en-US" sz="92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条是稳健样本，不代表南海文化资源的全部边界。</a:t>
            </a:r>
          </a:p>
          <a:p>
            <a:pPr algn="l">
              <a:defRPr sz="93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92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讲述时强调：官方扩展层用于发现样本之外仍可空间化、可转译的文物、博物馆和历史文化资源。</a:t>
            </a:r>
            <a:endParaRPr sz="920">
              <a:solidFill>
                <a:srgbClr val="524E5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7CF8C44-1C5E-4414-903A-31DB97DD9F6C}"/>
              </a:ext>
            </a:extLst>
          </p:cNvPr>
          <p:cNvSpPr>
            <a:spLocks noGrp="1"/>
          </p:cNvSpPr>
          <p:nvPr/>
        </p:nvSpPr>
        <p:spPr>
          <a:xfrm>
            <a:off x="742950" y="2114550"/>
            <a:ext cx="4762500" cy="3409950"/>
          </a:xfrm>
          <a:prstGeom prst="rect">
            <a:avLst/>
          </a:prstGeom>
          <a:solidFill>
            <a:srgbClr val="EFE7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102B81F-ED6D-41D7-B03B-E31A6C387652}"/>
              </a:ext>
            </a:extLst>
          </p:cNvPr>
          <p:cNvSpPr>
            <a:spLocks noGrp="1"/>
          </p:cNvSpPr>
          <p:nvPr/>
        </p:nvSpPr>
        <p:spPr>
          <a:xfrm>
            <a:off x="666750" y="2038350"/>
            <a:ext cx="4762500" cy="3409950"/>
          </a:xfrm>
          <a:prstGeom prst="rect">
            <a:avLst/>
          </a:prstGeom>
          <a:solidFill>
            <a:srgbClr val="FFFFFF"/>
          </a:solidFill>
          <a:ln w="9525">
            <a:solidFill>
              <a:srgbClr val="D8C8E2"/>
            </a:solidFill>
            <a:prstDash val="solid"/>
          </a:ln>
        </p:spPr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948070" y="2171700"/>
            <a:ext cx="4199860" cy="3009900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B27A2FEE-4DAC-4A29-9A88-39ECB8707E85}"/>
              </a:ext>
            </a:extLst>
          </p:cNvPr>
          <p:cNvSpPr>
            <a:spLocks noGrp="1"/>
          </p:cNvSpPr>
          <p:nvPr/>
        </p:nvSpPr>
        <p:spPr>
          <a:xfrm>
            <a:off x="800100" y="2171700"/>
            <a:ext cx="4495800" cy="3009900"/>
          </a:xfrm>
          <a:prstGeom prst="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5C5DF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D8EF8B0-F691-48BA-AB51-788F02C58E6A}"/>
              </a:ext>
            </a:extLst>
          </p:cNvPr>
          <p:cNvSpPr>
            <a:spLocks noGrp="1"/>
          </p:cNvSpPr>
          <p:nvPr/>
        </p:nvSpPr>
        <p:spPr>
          <a:xfrm>
            <a:off x="819150" y="5219700"/>
            <a:ext cx="44577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13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官方资源空间化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686F357-97B5-4AC3-B3D9-1DD9BF8F85CB}"/>
              </a:ext>
            </a:extLst>
          </p:cNvPr>
          <p:cNvSpPr>
            <a:spLocks noGrp="1"/>
          </p:cNvSpPr>
          <p:nvPr/>
        </p:nvSpPr>
        <p:spPr>
          <a:xfrm>
            <a:off x="5810250" y="2114550"/>
            <a:ext cx="4762500" cy="3409950"/>
          </a:xfrm>
          <a:prstGeom prst="rect">
            <a:avLst/>
          </a:prstGeom>
          <a:solidFill>
            <a:srgbClr val="EFE7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43D3A33-1920-4E36-8733-904ABE1B7442}"/>
              </a:ext>
            </a:extLst>
          </p:cNvPr>
          <p:cNvSpPr>
            <a:spLocks noGrp="1"/>
          </p:cNvSpPr>
          <p:nvPr/>
        </p:nvSpPr>
        <p:spPr>
          <a:xfrm>
            <a:off x="5734050" y="2038350"/>
            <a:ext cx="4762500" cy="3409950"/>
          </a:xfrm>
          <a:prstGeom prst="rect">
            <a:avLst/>
          </a:prstGeom>
          <a:solidFill>
            <a:srgbClr val="FFFFFF"/>
          </a:solidFill>
          <a:ln w="9525">
            <a:solidFill>
              <a:srgbClr val="D8C8E2"/>
            </a:solidFill>
            <a:prstDash val="solid"/>
          </a:ln>
        </p:spPr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6015370" y="2171700"/>
            <a:ext cx="4199860" cy="3009900"/>
          </a:xfrm>
          <a:prstGeom prst="rect">
            <a:avLst/>
          </a:prstGeom>
        </p:spPr>
      </p:pic>
      <p:sp>
        <p:nvSpPr>
          <p:cNvPr id="19" name="矩形 18">
            <a:extLst>
              <a:ext uri="{FF2B5EF4-FFF2-40B4-BE49-F238E27FC236}">
                <a16:creationId xmlns:a16="http://schemas.microsoft.com/office/drawing/2014/main" id="{4F8503F8-7150-4ED9-9A15-5DEE147097F9}"/>
              </a:ext>
            </a:extLst>
          </p:cNvPr>
          <p:cNvSpPr>
            <a:spLocks noGrp="1"/>
          </p:cNvSpPr>
          <p:nvPr/>
        </p:nvSpPr>
        <p:spPr>
          <a:xfrm>
            <a:off x="5867400" y="2171700"/>
            <a:ext cx="4495800" cy="3009900"/>
          </a:xfrm>
          <a:prstGeom prst="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5C5DF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49D4756-B5AA-4B5A-9FC6-2CA2A5CB1882}"/>
              </a:ext>
            </a:extLst>
          </p:cNvPr>
          <p:cNvSpPr>
            <a:spLocks noGrp="1"/>
          </p:cNvSpPr>
          <p:nvPr/>
        </p:nvSpPr>
        <p:spPr>
          <a:xfrm>
            <a:off x="5886450" y="5219700"/>
            <a:ext cx="44577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13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500 m 网格覆盖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E3AE6D9-4991-46FB-8D54-9055A05F2910}"/>
              </a:ext>
            </a:extLst>
          </p:cNvPr>
          <p:cNvSpPr>
            <a:spLocks noGrp="1"/>
          </p:cNvSpPr>
          <p:nvPr/>
        </p:nvSpPr>
        <p:spPr>
          <a:xfrm>
            <a:off x="10687050" y="2190750"/>
            <a:ext cx="838200" cy="552450"/>
          </a:xfrm>
          <a:prstGeom prst="rect">
            <a:avLst/>
          </a:prstGeom>
          <a:solidFill>
            <a:srgbClr val="FFFFFF">
              <a:alpha val="90980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14B54D5-1193-4D40-B52D-547108F01933}"/>
              </a:ext>
            </a:extLst>
          </p:cNvPr>
          <p:cNvSpPr>
            <a:spLocks noGrp="1"/>
          </p:cNvSpPr>
          <p:nvPr/>
        </p:nvSpPr>
        <p:spPr>
          <a:xfrm>
            <a:off x="10763250" y="2286000"/>
            <a:ext cx="685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593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EA06A68-E166-413A-912F-5A5843F5A585}"/>
              </a:ext>
            </a:extLst>
          </p:cNvPr>
          <p:cNvSpPr>
            <a:spLocks noGrp="1"/>
          </p:cNvSpPr>
          <p:nvPr/>
        </p:nvSpPr>
        <p:spPr>
          <a:xfrm>
            <a:off x="10763250" y="2495550"/>
            <a:ext cx="6858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6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6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官方资源扩展记录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648D940-17DC-4A3D-840E-84916FC32174}"/>
              </a:ext>
            </a:extLst>
          </p:cNvPr>
          <p:cNvSpPr>
            <a:spLocks noGrp="1"/>
          </p:cNvSpPr>
          <p:nvPr/>
        </p:nvSpPr>
        <p:spPr>
          <a:xfrm>
            <a:off x="10687050" y="3048000"/>
            <a:ext cx="838200" cy="552450"/>
          </a:xfrm>
          <a:prstGeom prst="rect">
            <a:avLst/>
          </a:prstGeom>
          <a:solidFill>
            <a:srgbClr val="FFFFFF">
              <a:alpha val="90980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43636651-D840-4286-B61A-A45AA1DCCC48}"/>
              </a:ext>
            </a:extLst>
          </p:cNvPr>
          <p:cNvSpPr>
            <a:spLocks noGrp="1"/>
          </p:cNvSpPr>
          <p:nvPr/>
        </p:nvSpPr>
        <p:spPr>
          <a:xfrm>
            <a:off x="10763250" y="3143250"/>
            <a:ext cx="685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484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AC204F0D-92A9-4874-B0AF-F34868CB8194}"/>
              </a:ext>
            </a:extLst>
          </p:cNvPr>
          <p:cNvSpPr>
            <a:spLocks noGrp="1"/>
          </p:cNvSpPr>
          <p:nvPr/>
        </p:nvSpPr>
        <p:spPr>
          <a:xfrm>
            <a:off x="10763250" y="3352800"/>
            <a:ext cx="6858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6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6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不可移动文物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C6EB63F0-15DA-4283-A9F4-DA96C77B5A1D}"/>
              </a:ext>
            </a:extLst>
          </p:cNvPr>
          <p:cNvSpPr>
            <a:spLocks noGrp="1"/>
          </p:cNvSpPr>
          <p:nvPr/>
        </p:nvSpPr>
        <p:spPr>
          <a:xfrm>
            <a:off x="10687050" y="3905250"/>
            <a:ext cx="838200" cy="552450"/>
          </a:xfrm>
          <a:prstGeom prst="rect">
            <a:avLst/>
          </a:prstGeom>
          <a:solidFill>
            <a:srgbClr val="FFFFFF">
              <a:alpha val="90980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E439DBDE-C08A-474C-B72D-42447E020211}"/>
              </a:ext>
            </a:extLst>
          </p:cNvPr>
          <p:cNvSpPr>
            <a:spLocks noGrp="1"/>
          </p:cNvSpPr>
          <p:nvPr/>
        </p:nvSpPr>
        <p:spPr>
          <a:xfrm>
            <a:off x="10763250" y="4000500"/>
            <a:ext cx="685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11 / 98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F5E64115-0A24-4571-A38B-9D66A7A70554}"/>
              </a:ext>
            </a:extLst>
          </p:cNvPr>
          <p:cNvSpPr>
            <a:spLocks noGrp="1"/>
          </p:cNvSpPr>
          <p:nvPr/>
        </p:nvSpPr>
        <p:spPr>
          <a:xfrm>
            <a:off x="10763250" y="4210050"/>
            <a:ext cx="6858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6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6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博物馆 / 历史文化资源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DB4E11-780B-4BFA-94C3-6ED151BF002A}"/>
              </a:ext>
            </a:extLst>
          </p:cNvPr>
          <p:cNvSpPr>
            <a:spLocks noGrp="1"/>
          </p:cNvSpPr>
          <p:nvPr/>
        </p:nvSpPr>
        <p:spPr>
          <a:xfrm>
            <a:off x="10687050" y="4762500"/>
            <a:ext cx="838200" cy="552450"/>
          </a:xfrm>
          <a:prstGeom prst="rect">
            <a:avLst/>
          </a:prstGeom>
          <a:solidFill>
            <a:srgbClr val="FFFFFF">
              <a:alpha val="90980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8A19C168-20F8-4497-8FF6-1D9CE17D46FD}"/>
              </a:ext>
            </a:extLst>
          </p:cNvPr>
          <p:cNvSpPr>
            <a:spLocks noGrp="1"/>
          </p:cNvSpPr>
          <p:nvPr/>
        </p:nvSpPr>
        <p:spPr>
          <a:xfrm>
            <a:off x="10763250" y="4857750"/>
            <a:ext cx="685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424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0C56FA9B-45F5-4336-BD9C-868223F10E2A}"/>
              </a:ext>
            </a:extLst>
          </p:cNvPr>
          <p:cNvSpPr>
            <a:spLocks noGrp="1"/>
          </p:cNvSpPr>
          <p:nvPr/>
        </p:nvSpPr>
        <p:spPr>
          <a:xfrm>
            <a:off x="10763250" y="5067300"/>
            <a:ext cx="6858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6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6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纯新增候选资源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5951BE15-8D9E-4014-A19E-8E648DE65F2A}"/>
              </a:ext>
            </a:extLst>
          </p:cNvPr>
          <p:cNvSpPr>
            <a:spLocks noGrp="1"/>
          </p:cNvSpPr>
          <p:nvPr/>
        </p:nvSpPr>
        <p:spPr>
          <a:xfrm>
            <a:off x="10687050" y="5619750"/>
            <a:ext cx="838200" cy="552450"/>
          </a:xfrm>
          <a:prstGeom prst="rect">
            <a:avLst/>
          </a:prstGeom>
          <a:solidFill>
            <a:srgbClr val="FFFFFF">
              <a:alpha val="90980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196F6F1C-E339-4C8A-B022-CB597BF6AB05}"/>
              </a:ext>
            </a:extLst>
          </p:cNvPr>
          <p:cNvSpPr>
            <a:spLocks noGrp="1"/>
          </p:cNvSpPr>
          <p:nvPr/>
        </p:nvSpPr>
        <p:spPr>
          <a:xfrm>
            <a:off x="10763250" y="5715000"/>
            <a:ext cx="685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710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A1EF1BD8-DDDC-469D-B859-9B372481AF31}"/>
              </a:ext>
            </a:extLst>
          </p:cNvPr>
          <p:cNvSpPr>
            <a:spLocks noGrp="1"/>
          </p:cNvSpPr>
          <p:nvPr/>
        </p:nvSpPr>
        <p:spPr>
          <a:xfrm>
            <a:off x="10763250" y="5924550"/>
            <a:ext cx="6858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6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6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扩展锚点库总量</a:t>
            </a:r>
          </a:p>
        </p:txBody>
      </p:sp>
    </p:spTree>
    <p:extLst>
      <p:ext uri="{BB962C8B-B14F-4D97-AF65-F5344CB8AC3E}">
        <p14:creationId xmlns:p14="http://schemas.microsoft.com/office/powerpoint/2010/main" val="61287252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88</Words>
  <Application>Microsoft Office PowerPoint</Application>
  <DocSecurity>0</DocSecurity>
  <PresentationFormat>宽屏</PresentationFormat>
  <Paragraphs>19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Microsoft YaHei UI</vt:lpstr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16</cp:revision>
  <dcterms:created xsi:type="dcterms:W3CDTF">2026-06-02T06:15:18Z</dcterms:created>
  <dcterms:modified xsi:type="dcterms:W3CDTF">2026-06-02T12:51:49Z</dcterms:modified>
</cp:coreProperties>
</file>