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06DF4-50BF-46D8-BBE2-DA7892DFDE4F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9F9F06-00E1-483A-B1B2-69E254AB1C97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核心判断：错位是结构性现象，沉睡潜力与空心景点合计达到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103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讲述时强调：核心耦合只有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条，后续策略不能只围绕「热点」，还要识别未被承接的文化潜力。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4D9D3A-177E-47A0-83F8-0BA60CA4673D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364054-E406-4815-8819-DAC7A42719CD}"/>
              </a:ext>
            </a:extLst>
          </p:cNvPr>
          <p:cNvSpPr>
            <a:spLocks noGrp="1"/>
          </p:cNvSpPr>
          <p:nvPr/>
        </p:nvSpPr>
        <p:spPr>
          <a:xfrm>
            <a:off x="4457700" y="22288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31FCB5-CBE5-4073-BD56-95BFAFD8D52A}"/>
              </a:ext>
            </a:extLst>
          </p:cNvPr>
          <p:cNvSpPr>
            <a:spLocks noGrp="1"/>
          </p:cNvSpPr>
          <p:nvPr/>
        </p:nvSpPr>
        <p:spPr>
          <a:xfrm>
            <a:off x="4438650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3.0%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69E67D-F224-4FD7-A5CF-FC478D34A385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文化基础与热度双高，优先深化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4B41B5-EA55-40A3-A08A-480C91DF1373}"/>
              </a:ext>
            </a:extLst>
          </p:cNvPr>
          <p:cNvSpPr>
            <a:spLocks noGrp="1"/>
          </p:cNvSpPr>
          <p:nvPr/>
        </p:nvSpPr>
        <p:spPr>
          <a:xfrm>
            <a:off x="6343650" y="20383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074360-ADEC-4AFC-B353-A6D5BDCD60B7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一般耦合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56B976-4199-439E-9106-87AE9BA5500D}"/>
              </a:ext>
            </a:extLst>
          </p:cNvPr>
          <p:cNvSpPr>
            <a:spLocks noGrp="1"/>
          </p:cNvSpPr>
          <p:nvPr/>
        </p:nvSpPr>
        <p:spPr>
          <a:xfrm>
            <a:off x="9982200" y="22288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C6B6AC-8BDA-42E8-9486-474D008C59BC}"/>
              </a:ext>
            </a:extLst>
          </p:cNvPr>
          <p:cNvSpPr>
            <a:spLocks noGrp="1"/>
          </p:cNvSpPr>
          <p:nvPr/>
        </p:nvSpPr>
        <p:spPr>
          <a:xfrm>
            <a:off x="9963150" y="2705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34.5%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6BF829-B186-485E-824F-FE9604B35D42}"/>
              </a:ext>
            </a:extLst>
          </p:cNvPr>
          <p:cNvSpPr>
            <a:spLocks noGrp="1"/>
          </p:cNvSpPr>
          <p:nvPr/>
        </p:nvSpPr>
        <p:spPr>
          <a:xfrm>
            <a:off x="6591300" y="27813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过渡型样本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14BDFF-F3A7-41BB-BE91-0E5736DD7F34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FF3305-9BEB-4848-BAB6-5B0D1CF73919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2615B7-AF11-4036-B18D-4F6EB2630F30}"/>
              </a:ext>
            </a:extLst>
          </p:cNvPr>
          <p:cNvSpPr>
            <a:spLocks noGrp="1"/>
          </p:cNvSpPr>
          <p:nvPr/>
        </p:nvSpPr>
        <p:spPr>
          <a:xfrm>
            <a:off x="4457700" y="43624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37971D-2116-4F3E-820C-4DC42E257DC2}"/>
              </a:ext>
            </a:extLst>
          </p:cNvPr>
          <p:cNvSpPr>
            <a:spLocks noGrp="1"/>
          </p:cNvSpPr>
          <p:nvPr/>
        </p:nvSpPr>
        <p:spPr>
          <a:xfrm>
            <a:off x="4438650" y="48387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32.7%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387509-EB5C-4FA4-8B44-24F9067F9A23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文化强、旅游转化不足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27E6329-BD89-4009-90F7-839883E945C4}"/>
              </a:ext>
            </a:extLst>
          </p:cNvPr>
          <p:cNvSpPr>
            <a:spLocks noGrp="1"/>
          </p:cNvSpPr>
          <p:nvPr/>
        </p:nvSpPr>
        <p:spPr>
          <a:xfrm>
            <a:off x="6343650" y="4171950"/>
            <a:ext cx="4857750" cy="1314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6FE229F-2DA5-411D-9E9E-980B74054730}"/>
              </a:ext>
            </a:extLst>
          </p:cNvPr>
          <p:cNvSpPr>
            <a:spLocks noGrp="1"/>
          </p:cNvSpPr>
          <p:nvPr/>
        </p:nvSpPr>
        <p:spPr>
          <a:xfrm>
            <a:off x="6591300" y="44386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1CA73B6-43DA-4A9C-B4EB-74AFD2CFC9A8}"/>
              </a:ext>
            </a:extLst>
          </p:cNvPr>
          <p:cNvSpPr>
            <a:spLocks noGrp="1"/>
          </p:cNvSpPr>
          <p:nvPr/>
        </p:nvSpPr>
        <p:spPr>
          <a:xfrm>
            <a:off x="9982200" y="4362450"/>
            <a:ext cx="685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49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106AAC-B522-4B8F-843F-70F0B91E71D1}"/>
              </a:ext>
            </a:extLst>
          </p:cNvPr>
          <p:cNvSpPr>
            <a:spLocks noGrp="1"/>
          </p:cNvSpPr>
          <p:nvPr/>
        </p:nvSpPr>
        <p:spPr>
          <a:xfrm>
            <a:off x="9963150" y="48387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29.7%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6FE465-78A2-4C2C-8202-F2CDAB1D3F72}"/>
              </a:ext>
            </a:extLst>
          </p:cNvPr>
          <p:cNvSpPr>
            <a:spLocks noGrp="1"/>
          </p:cNvSpPr>
          <p:nvPr/>
        </p:nvSpPr>
        <p:spPr>
          <a:xfrm>
            <a:off x="6591300" y="491490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热度高、本土叙事不足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AC8769-9D7A-42F8-935E-600014A6B09C}"/>
              </a:ext>
            </a:extLst>
          </p:cNvPr>
          <p:cNvSpPr>
            <a:spLocks noGrp="1"/>
          </p:cNvSpPr>
          <p:nvPr/>
        </p:nvSpPr>
        <p:spPr>
          <a:xfrm>
            <a:off x="4248150" y="3638550"/>
            <a:ext cx="371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沉睡 + 空心 = 103 条 / 62.4%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AEFC47-87D2-45E9-85DC-68FEA4ED6059}"/>
              </a:ext>
            </a:extLst>
          </p:cNvPr>
          <p:cNvSpPr>
            <a:spLocks noGrp="1"/>
          </p:cNvSpPr>
          <p:nvPr/>
        </p:nvSpPr>
        <p:spPr>
          <a:xfrm>
            <a:off x="3524250" y="582930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核心耦合只作为优先深化对象，不做成熟度结论。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109</Words>
  <Application>Microsoft Office PowerPoint</Application>
  <DocSecurity>0</DocSecurity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2026-06-02T12:51:48Z</dcterms:modified>
</cp:coreProperties>
</file>