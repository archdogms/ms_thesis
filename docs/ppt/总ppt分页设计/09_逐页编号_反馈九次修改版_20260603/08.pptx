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3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C5A1F6D-502A-4A79-A1ED-76B838C82F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FD2E851-9117-4B8A-AE27-C738D7C7FE6A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461A921-137A-4F50-9AB9-707E179B6955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08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E3E3B3E0-71CF-4D09-BFB8-161DDCD5B0E0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4.3.2 节、图 4.3、图 4.4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34D4A68-F63D-4D3D-8999-830698D7897D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6C34604-27ED-49CC-841B-0BE0A5F8F69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人物子图呈现关系网络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EE3E200-3086-4F06-8780-73D6635973B3}"/>
              </a:ext>
            </a:extLst>
          </p:cNvPr>
          <p:cNvSpPr>
            <a:spLocks noGrp="1"/>
          </p:cNvSpPr>
          <p:nvPr/>
        </p:nvSpPr>
        <p:spPr>
          <a:xfrm>
            <a:off x="742950" y="1936750"/>
            <a:ext cx="4762500" cy="34099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7D2AD61-A13E-41D6-87A1-AEE9277C7CC5}"/>
              </a:ext>
            </a:extLst>
          </p:cNvPr>
          <p:cNvSpPr>
            <a:spLocks noGrp="1"/>
          </p:cNvSpPr>
          <p:nvPr/>
        </p:nvSpPr>
        <p:spPr>
          <a:xfrm>
            <a:off x="819150" y="5041900"/>
            <a:ext cx="4457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13" b="1" dirty="0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人物关联总图</a:t>
            </a:r>
            <a:endParaRPr sz="713" b="1" dirty="0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6A025EA7-441A-4146-9505-428CEDF1C16A}"/>
              </a:ext>
            </a:extLst>
          </p:cNvPr>
          <p:cNvSpPr>
            <a:spLocks noGrp="1"/>
          </p:cNvSpPr>
          <p:nvPr/>
        </p:nvSpPr>
        <p:spPr>
          <a:xfrm>
            <a:off x="5810250" y="1936750"/>
            <a:ext cx="4762500" cy="34099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366371" y="1993900"/>
            <a:ext cx="3497857" cy="3009900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126C096B-149F-4DFE-A979-F72238EA7DE7}"/>
              </a:ext>
            </a:extLst>
          </p:cNvPr>
          <p:cNvSpPr>
            <a:spLocks noGrp="1"/>
          </p:cNvSpPr>
          <p:nvPr/>
        </p:nvSpPr>
        <p:spPr>
          <a:xfrm>
            <a:off x="5886450" y="5041900"/>
            <a:ext cx="4457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黄飞鸿人物子图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03673C72-FB6E-46CB-BE4B-247E78DBC365}"/>
              </a:ext>
            </a:extLst>
          </p:cNvPr>
          <p:cNvSpPr>
            <a:spLocks noGrp="1"/>
          </p:cNvSpPr>
          <p:nvPr/>
        </p:nvSpPr>
        <p:spPr>
          <a:xfrm>
            <a:off x="10687050" y="2012950"/>
            <a:ext cx="838200" cy="55245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DA6DCD6-28B0-45F8-B41A-88B18E064A61}"/>
              </a:ext>
            </a:extLst>
          </p:cNvPr>
          <p:cNvSpPr>
            <a:spLocks noGrp="1"/>
          </p:cNvSpPr>
          <p:nvPr/>
        </p:nvSpPr>
        <p:spPr>
          <a:xfrm>
            <a:off x="10763250" y="210820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人物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5DCD72C2-D884-4D4E-B364-795D60E6A7A9}"/>
              </a:ext>
            </a:extLst>
          </p:cNvPr>
          <p:cNvSpPr>
            <a:spLocks noGrp="1"/>
          </p:cNvSpPr>
          <p:nvPr/>
        </p:nvSpPr>
        <p:spPr>
          <a:xfrm>
            <a:off x="10763250" y="2317750"/>
            <a:ext cx="6858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人物关系进入图谱结构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13A1F2E3-7773-472E-94B2-F26F1575CF7F}"/>
              </a:ext>
            </a:extLst>
          </p:cNvPr>
          <p:cNvSpPr>
            <a:spLocks noGrp="1"/>
          </p:cNvSpPr>
          <p:nvPr/>
        </p:nvSpPr>
        <p:spPr>
          <a:xfrm>
            <a:off x="10687050" y="2870200"/>
            <a:ext cx="838200" cy="55245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A0827CF-197B-44B9-A3B8-EFC8B1A8C2F0}"/>
              </a:ext>
            </a:extLst>
          </p:cNvPr>
          <p:cNvSpPr>
            <a:spLocks noGrp="1"/>
          </p:cNvSpPr>
          <p:nvPr/>
        </p:nvSpPr>
        <p:spPr>
          <a:xfrm>
            <a:off x="10763250" y="296545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地点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DEC7C91D-2B70-47AC-9B59-4EA0B1C14256}"/>
              </a:ext>
            </a:extLst>
          </p:cNvPr>
          <p:cNvSpPr>
            <a:spLocks noGrp="1"/>
          </p:cNvSpPr>
          <p:nvPr/>
        </p:nvSpPr>
        <p:spPr>
          <a:xfrm>
            <a:off x="10763250" y="3175000"/>
            <a:ext cx="6858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文化记忆可追溯到空间锚点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7EAF7CFF-1C31-4214-8663-BB628BF18689}"/>
              </a:ext>
            </a:extLst>
          </p:cNvPr>
          <p:cNvSpPr>
            <a:spLocks noGrp="1"/>
          </p:cNvSpPr>
          <p:nvPr/>
        </p:nvSpPr>
        <p:spPr>
          <a:xfrm>
            <a:off x="10687050" y="3727450"/>
            <a:ext cx="838200" cy="55245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1F5DD30-F609-48E5-B576-A0FEFE07ADB5}"/>
              </a:ext>
            </a:extLst>
          </p:cNvPr>
          <p:cNvSpPr>
            <a:spLocks noGrp="1"/>
          </p:cNvSpPr>
          <p:nvPr/>
        </p:nvSpPr>
        <p:spPr>
          <a:xfrm>
            <a:off x="10763250" y="382270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技艺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1F5CD4F8-68CF-4E47-9E99-EC3BD2709CC3}"/>
              </a:ext>
            </a:extLst>
          </p:cNvPr>
          <p:cNvSpPr>
            <a:spLocks noGrp="1"/>
          </p:cNvSpPr>
          <p:nvPr/>
        </p:nvSpPr>
        <p:spPr>
          <a:xfrm>
            <a:off x="10763250" y="4032250"/>
            <a:ext cx="6858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非遗与地方叙事发生关联</a:t>
            </a: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FF5F0A2C-9C73-8CE5-AF00-6948F43C86D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4728" y="1987787"/>
            <a:ext cx="3626544" cy="3003076"/>
          </a:xfrm>
          <a:prstGeom prst="rect">
            <a:avLst/>
          </a:prstGeom>
        </p:spPr>
      </p:pic>
      <p:sp>
        <p:nvSpPr>
          <p:cNvPr id="10" name="Slide08 Explain Box">
            <a:extLst>
              <a:ext uri="{FF2B5EF4-FFF2-40B4-BE49-F238E27FC236}">
                <a16:creationId xmlns:a16="http://schemas.microsoft.com/office/drawing/2014/main" id="{FC77A2B6-ACA4-0EA9-2C6F-D01BC122C37A}"/>
              </a:ext>
            </a:extLst>
          </p:cNvPr>
          <p:cNvSpPr/>
          <p:nvPr/>
        </p:nvSpPr>
        <p:spPr>
          <a:xfrm>
            <a:off x="850900" y="5435600"/>
            <a:ext cx="9461500" cy="5334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Slide08 Explain Text">
            <a:extLst>
              <a:ext uri="{FF2B5EF4-FFF2-40B4-BE49-F238E27FC236}">
                <a16:creationId xmlns:a16="http://schemas.microsoft.com/office/drawing/2014/main" id="{CF890B3B-9959-9E33-CD27-874107485A92}"/>
              </a:ext>
            </a:extLst>
          </p:cNvPr>
          <p:cNvSpPr txBox="1"/>
          <p:nvPr/>
        </p:nvSpPr>
        <p:spPr>
          <a:xfrm>
            <a:off x="1003300" y="5562600"/>
            <a:ext cx="9156700" cy="41447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这一页用人物总图和黄飞鸿子图说明：地方文化记忆不是孤立词条，而是由人物、地点、技艺和事件共同组成的关系网络，可以进一步转译为游线和解说内容。</a:t>
            </a:r>
          </a:p>
        </p:txBody>
      </p:sp>
      <p:sp>
        <p:nvSpPr>
          <p:cNvPr id="13" name="Slide08 Explain Label">
            <a:extLst>
              <a:ext uri="{FF2B5EF4-FFF2-40B4-BE49-F238E27FC236}">
                <a16:creationId xmlns:a16="http://schemas.microsoft.com/office/drawing/2014/main" id="{73684301-10DB-D1C1-5D83-B5CFEA633535}"/>
              </a:ext>
            </a:extLst>
          </p:cNvPr>
          <p:cNvSpPr txBox="1"/>
          <p:nvPr/>
        </p:nvSpPr>
        <p:spPr>
          <a:xfrm>
            <a:off x="1003300" y="5308600"/>
            <a:ext cx="5080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2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说明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DDDB60C-C7A9-D9B6-350B-72DE1DE8CA5B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数据基础与处理方法</a:t>
            </a:r>
          </a:p>
        </p:txBody>
      </p:sp>
      <p:sp>
        <p:nvSpPr>
          <p:cNvPr id="4" name="Round8 CoreClaim Text">
            <a:extLst>
              <a:ext uri="{FF2B5EF4-FFF2-40B4-BE49-F238E27FC236}">
                <a16:creationId xmlns:a16="http://schemas.microsoft.com/office/drawing/2014/main" id="{42C5C51E-DF0D-7603-25D0-F9670FB5C6FD}"/>
              </a:ext>
            </a:extLst>
          </p:cNvPr>
          <p:cNvSpPr txBox="1"/>
          <p:nvPr/>
        </p:nvSpPr>
        <p:spPr>
          <a:xfrm>
            <a:off x="889000" y="1320800"/>
            <a:ext cx="1041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核心判断：</a:t>
            </a:r>
            <a:r>
              <a:rPr lang="zh-CN" altLang="en-US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人物、地点与技艺的关系网络，是文化记忆指数和空间匹配的依据。</a:t>
            </a:r>
          </a:p>
        </p:txBody>
      </p:sp>
      <p:cxnSp>
        <p:nvCxnSpPr>
          <p:cNvPr id="17" name="Round8 CoreClaim Rule">
            <a:extLst>
              <a:ext uri="{FF2B5EF4-FFF2-40B4-BE49-F238E27FC236}">
                <a16:creationId xmlns:a16="http://schemas.microsoft.com/office/drawing/2014/main" id="{16E9E52A-741E-F508-C4C5-DC3BAADD2273}"/>
              </a:ext>
            </a:extLst>
          </p:cNvPr>
          <p:cNvCxnSpPr/>
          <p:nvPr/>
        </p:nvCxnSpPr>
        <p:spPr>
          <a:xfrm>
            <a:off x="889000" y="1689100"/>
            <a:ext cx="10414000" cy="0"/>
          </a:xfrm>
          <a:prstGeom prst="line">
            <a:avLst/>
          </a:prstGeom>
          <a:ln w="10160">
            <a:solidFill>
              <a:srgbClr val="CDB0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367788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100</Words>
  <Application>Microsoft Office PowerPoint</Application>
  <DocSecurity>0</DocSecurity>
  <PresentationFormat>宽屏</PresentationFormat>
  <Paragraphs>16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39</cp:revision>
  <dcterms:created xsi:type="dcterms:W3CDTF">2026-06-02T06:15:18Z</dcterms:created>
  <dcterms:modified xsi:type="dcterms:W3CDTF">2026-06-03T03:47:47Z</dcterms:modified>
</cp:coreProperties>
</file>