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FE6B6-87D3-4F11-A5B8-E4617DF268A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85B2-9277-4CD0-ADBD-7C88C5461B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775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11F624-4E56-2BE7-FE28-4552C6320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71480F-FC39-FE88-231C-08188C86E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CE4981-BCA3-01FD-A060-A2E989E8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2ED-586A-46C4-A6AD-7829B1C44C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5419CD-F452-2871-F3AF-DFF209B8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08428C-A030-C29E-79BC-1CFD79F39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A1CD-4F65-4455-87ED-23FB2C6ED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384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5CD41-7969-59B4-B4F1-BA2846EB5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B0D891-6E44-FD0C-74B6-D918AC167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E3E7D8-38D4-43F8-597C-3522B6C83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2ED-586A-46C4-A6AD-7829B1C44C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AB772E-49D2-C732-F00F-1606615C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4D34FD-9B74-7559-FD14-EE02ECE6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A1CD-4F65-4455-87ED-23FB2C6ED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74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9587A-744B-8FDE-C01A-3DDFD8240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440751-5D94-10FA-188B-0DFF3CBC7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5466EC-36DF-D00F-726A-5E8389A0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2ED-586A-46C4-A6AD-7829B1C44C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1F092D-2E73-A7FC-7929-066D5D848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3E8AD6-7853-CF90-CEE1-71F5C421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A1CD-4F65-4455-87ED-23FB2C6ED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615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1698F-1139-1063-DD92-73B3E6708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DE0B4-C6A7-3CA7-A3CC-90C53039DD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0F1289-DE76-7746-0A84-EFA148F9C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7E1283-915C-BF57-0B67-2249A6523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2ED-586A-46C4-A6AD-7829B1C44C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7C7156-DE75-5EF2-2FBD-68C95A1C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E996C0-1CA6-DE4E-6D3B-BC83D88BF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A1CD-4F65-4455-87ED-23FB2C6ED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08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08A04D-A7B9-D85B-D3A5-7667A9115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A2A285-A344-B12C-E03C-D735AD979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6F1759-CBE2-05DC-72DA-96A88376E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7FA50DD-1FF2-3E70-DFD6-EE5026836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7DBFB70-B654-91AB-0FDF-C8F4AE5AC4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45AF24-4652-10DE-DE39-15DF94A5D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2ED-586A-46C4-A6AD-7829B1C44C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5116EC4-D85E-4A0E-9AC0-87AFB33C0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2438681-55DF-A38C-816F-BBC701AD4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A1CD-4F65-4455-87ED-23FB2C6ED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648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150B9-4A96-61B0-9493-93C88CCC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21A2933-EC14-4A3E-F6A3-828F152F2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2ED-586A-46C4-A6AD-7829B1C44C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C4D88E-3FAC-24CB-7B9F-B7313D71D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CFD8DD-6A0B-8D9F-2CBE-3FC570C34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A1CD-4F65-4455-87ED-23FB2C6ED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103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6C5520F-BB8C-BAA1-D8A6-1602D07DB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2ED-586A-46C4-A6AD-7829B1C44C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407984-B220-A8D9-1CFF-F5BC0FA7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9242CC-B4F3-DA4A-34CC-10D23641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A1CD-4F65-4455-87ED-23FB2C6ED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559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FF7E61-F002-BAC1-1A59-012A5BE24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269384-BBDB-EE46-2F73-8D06FEB3C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440770-D8EB-65ED-8ACC-5ABDC9FC4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6F7153-6D06-7D0A-4E94-B30A5DABF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2ED-586A-46C4-A6AD-7829B1C44C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0E3D73-ADDC-8EDF-B9D5-F35902F7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75816D-B265-CBF0-4AF3-A762326BB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A1CD-4F65-4455-87ED-23FB2C6ED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13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BDAE15-DA8A-216A-5B0F-5A9601EFA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FAAEE60-6ED3-D5A4-0C62-68181F66D0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55118B-3ED4-1ADB-7109-A647FB49D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0DA5ED-BD5A-BABC-FF5C-26C2498D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2ED-586A-46C4-A6AD-7829B1C44C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83CE34-29AD-2CE6-D4C6-C0E465EAA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F40C03-49DC-86C6-8BC9-C90CC5B18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A1CD-4F65-4455-87ED-23FB2C6ED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107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32651-4266-A97A-B435-012BB9F46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914EE9-7FBF-9DD7-6EFA-0CF8670C2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DE77C9-0B86-77DD-3C38-6671C5719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2ED-586A-46C4-A6AD-7829B1C44C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E25CAB-C23A-AD3B-B90F-8EB2A70DF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269940-0C13-4892-4A9F-79AC46193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A1CD-4F65-4455-87ED-23FB2C6ED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809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4A848FE-EC43-063D-B78A-43B020C927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52673B-3B8B-F25B-4751-9DC21F1EA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5F6A14-6BBB-39CD-DA6A-AB2018DE0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2ED-586A-46C4-A6AD-7829B1C44C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321891-86FD-B17C-0F9D-6CAD05813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E34478-51AB-7BF5-3C06-433BC48A4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EA1CD-4F65-4455-87ED-23FB2C6ED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1465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8427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DA2E094-8E8C-5984-F737-4506957F9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E9C53C-E191-193E-F0AA-2F09B04A8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0BCCBF-ABB3-7515-05D3-F6963A0DED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E22ED-586A-46C4-A6AD-7829B1C44CD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64A85B-9650-EB45-8160-27D4529253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620D9A-9E7D-6681-5613-5BB67FAE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EA1CD-4F65-4455-87ED-23FB2C6ED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98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 </a:t>
            </a: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章、图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4.1</a:t>
            </a: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4.2</a:t>
            </a:r>
            <a:endParaRPr sz="850">
              <a:solidFill>
                <a:srgbClr val="60606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知识图谱成果</a:t>
            </a:r>
            <a:endParaRPr sz="3000" b="1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229477-FEDA-09F8-C142-3CCBC53B091A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知识图谱成果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293016-541A-A174-D3AB-B22605168165}"/>
              </a:ext>
            </a:extLst>
          </p:cNvPr>
          <p:cNvSpPr txBox="1"/>
          <p:nvPr/>
        </p:nvSpPr>
        <p:spPr>
          <a:xfrm>
            <a:off x="889000" y="11684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知识图谱是本研究的文化记忆计算层：它把文本中的人物、地点、技艺、文献和事件关系转成可追溯网络。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1185D01-A9CE-071F-0457-6C0EFC34F8FB}"/>
              </a:ext>
            </a:extLst>
          </p:cNvPr>
          <p:cNvSpPr/>
          <p:nvPr/>
        </p:nvSpPr>
        <p:spPr>
          <a:xfrm>
            <a:off x="889000" y="1752600"/>
            <a:ext cx="5270500" cy="419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5B9BA9E-575E-CB7E-09CA-8CEA765478DE}"/>
              </a:ext>
            </a:extLst>
          </p:cNvPr>
          <p:cNvSpPr txBox="1"/>
          <p:nvPr/>
        </p:nvSpPr>
        <p:spPr>
          <a:xfrm>
            <a:off x="1092200" y="5549900"/>
            <a:ext cx="4864100" cy="2872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20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120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4.2  </a:t>
            </a:r>
            <a:r>
              <a:rPr lang="zh-CN" altLang="en-US" sz="120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知识图谱全局网络总图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FACD101-34D8-818F-9143-823CB22D1A3A}"/>
              </a:ext>
            </a:extLst>
          </p:cNvPr>
          <p:cNvSpPr/>
          <p:nvPr/>
        </p:nvSpPr>
        <p:spPr>
          <a:xfrm>
            <a:off x="6604000" y="1752600"/>
            <a:ext cx="4699000" cy="11684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617961-DFD6-B506-8536-1EBDD063328D}"/>
              </a:ext>
            </a:extLst>
          </p:cNvPr>
          <p:cNvSpPr txBox="1"/>
          <p:nvPr/>
        </p:nvSpPr>
        <p:spPr>
          <a:xfrm>
            <a:off x="6883400" y="20320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8,048</a:t>
            </a:r>
            <a:endParaRPr lang="zh-CN" altLang="en-US" sz="2300" b="1">
              <a:solidFill>
                <a:srgbClr val="663D8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DD7E6F6-59BB-FC21-74B1-06C567079D1D}"/>
              </a:ext>
            </a:extLst>
          </p:cNvPr>
          <p:cNvCxnSpPr/>
          <p:nvPr/>
        </p:nvCxnSpPr>
        <p:spPr>
          <a:xfrm>
            <a:off x="6883400" y="2425700"/>
            <a:ext cx="1168400" cy="0"/>
          </a:xfrm>
          <a:prstGeom prst="line">
            <a:avLst/>
          </a:prstGeom>
          <a:ln w="12700">
            <a:solidFill>
              <a:srgbClr val="663D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1040538F-4E96-9323-518E-3A18935CAA65}"/>
              </a:ext>
            </a:extLst>
          </p:cNvPr>
          <p:cNvSpPr txBox="1"/>
          <p:nvPr/>
        </p:nvSpPr>
        <p:spPr>
          <a:xfrm>
            <a:off x="6883400" y="24765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D7B4B17-75EA-D319-6CAB-6C0186CC4DD2}"/>
              </a:ext>
            </a:extLst>
          </p:cNvPr>
          <p:cNvSpPr txBox="1"/>
          <p:nvPr/>
        </p:nvSpPr>
        <p:spPr>
          <a:xfrm>
            <a:off x="8318500" y="20320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227E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19,382</a:t>
            </a:r>
            <a:endParaRPr lang="zh-CN" altLang="en-US" sz="2300" b="1">
              <a:solidFill>
                <a:srgbClr val="227E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B698C73-9FAA-F6E3-DCED-BBCE7511B46F}"/>
              </a:ext>
            </a:extLst>
          </p:cNvPr>
          <p:cNvCxnSpPr/>
          <p:nvPr/>
        </p:nvCxnSpPr>
        <p:spPr>
          <a:xfrm>
            <a:off x="8318500" y="2425700"/>
            <a:ext cx="1168400" cy="0"/>
          </a:xfrm>
          <a:prstGeom prst="line">
            <a:avLst/>
          </a:prstGeom>
          <a:ln w="12700">
            <a:solidFill>
              <a:srgbClr val="227E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EEE10ED-048E-2126-3AFD-790E889B98D2}"/>
              </a:ext>
            </a:extLst>
          </p:cNvPr>
          <p:cNvSpPr txBox="1"/>
          <p:nvPr/>
        </p:nvSpPr>
        <p:spPr>
          <a:xfrm>
            <a:off x="8318500" y="24765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D4B5113-EC67-DFE9-F3E1-99DFA467D6BE}"/>
              </a:ext>
            </a:extLst>
          </p:cNvPr>
          <p:cNvSpPr txBox="1"/>
          <p:nvPr/>
        </p:nvSpPr>
        <p:spPr>
          <a:xfrm>
            <a:off x="10033000" y="20320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BE892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575</a:t>
            </a:r>
            <a:endParaRPr lang="zh-CN" altLang="en-US" sz="2300" b="1">
              <a:solidFill>
                <a:srgbClr val="BE892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B8FB928-FDAC-F46B-30DD-A2CC5960D9C7}"/>
              </a:ext>
            </a:extLst>
          </p:cNvPr>
          <p:cNvCxnSpPr/>
          <p:nvPr/>
        </p:nvCxnSpPr>
        <p:spPr>
          <a:xfrm>
            <a:off x="10033000" y="2425700"/>
            <a:ext cx="1168400" cy="0"/>
          </a:xfrm>
          <a:prstGeom prst="line">
            <a:avLst/>
          </a:prstGeom>
          <a:ln w="12700">
            <a:solidFill>
              <a:srgbClr val="BE89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695BB75-8D4A-4E05-931C-63B69BF0FE5E}"/>
              </a:ext>
            </a:extLst>
          </p:cNvPr>
          <p:cNvSpPr txBox="1"/>
          <p:nvPr/>
        </p:nvSpPr>
        <p:spPr>
          <a:xfrm>
            <a:off x="10033000" y="24765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空间落位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6AA0AFA-31BA-19A5-6A0E-26070575F8C9}"/>
              </a:ext>
            </a:extLst>
          </p:cNvPr>
          <p:cNvSpPr txBox="1"/>
          <p:nvPr/>
        </p:nvSpPr>
        <p:spPr>
          <a:xfrm>
            <a:off x="6604000" y="3200400"/>
            <a:ext cx="4699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分类体系：</a:t>
            </a:r>
            <a:r>
              <a:rPr lang="en-US" altLang="zh-CN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大体系 </a:t>
            </a:r>
            <a:r>
              <a:rPr lang="en-US" altLang="zh-CN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11 </a:t>
            </a:r>
            <a:r>
              <a:rPr lang="zh-CN" altLang="en-US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类实体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B632A19-F8BD-7EFD-1B85-9D74848923FF}"/>
              </a:ext>
            </a:extLst>
          </p:cNvPr>
          <p:cNvSpPr/>
          <p:nvPr/>
        </p:nvSpPr>
        <p:spPr>
          <a:xfrm>
            <a:off x="6604000" y="3632200"/>
            <a:ext cx="4699000" cy="2311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D760C0B-F970-DE23-B0BA-40957CED2639}"/>
              </a:ext>
            </a:extLst>
          </p:cNvPr>
          <p:cNvSpPr txBox="1"/>
          <p:nvPr/>
        </p:nvSpPr>
        <p:spPr>
          <a:xfrm>
            <a:off x="6832600" y="3835400"/>
            <a:ext cx="4241800" cy="141372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 dirty="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非遗体系：非遗项目、民俗礼仪、物产饮食</a:t>
            </a:r>
          </a:p>
          <a:p>
            <a:r>
              <a:rPr lang="zh-CN" altLang="en-US" sz="1420" dirty="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文物体系：文物建筑、文物遗址</a:t>
            </a:r>
          </a:p>
          <a:p>
            <a:r>
              <a:rPr lang="zh-CN" altLang="en-US" sz="1420" dirty="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传承主体：人物、宗族姓氏</a:t>
            </a:r>
          </a:p>
          <a:p>
            <a:r>
              <a:rPr lang="zh-CN" altLang="en-US" sz="1420" dirty="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空间载体：地名空间</a:t>
            </a:r>
          </a:p>
          <a:p>
            <a:r>
              <a:rPr lang="zh-CN" altLang="en-US" sz="1420" dirty="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文献记忆：典籍文献</a:t>
            </a:r>
          </a:p>
          <a:p>
            <a:r>
              <a:rPr lang="zh-CN" altLang="en-US" sz="1420" dirty="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历史时序：朝代年号、历史事件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D2F7A2B-D06F-1C6A-CABA-D2F39CA1EA60}"/>
              </a:ext>
            </a:extLst>
          </p:cNvPr>
          <p:cNvSpPr txBox="1"/>
          <p:nvPr/>
        </p:nvSpPr>
        <p:spPr>
          <a:xfrm>
            <a:off x="6832600" y="5384800"/>
            <a:ext cx="4241800" cy="5180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50" dirty="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后续用该分类体系计算文化记忆指数，并解释文化载体之间的关系。</a:t>
            </a:r>
          </a:p>
        </p:txBody>
      </p:sp>
      <p:pic>
        <p:nvPicPr>
          <p:cNvPr id="12" name="WhiteBG Knowledge Graph Global">
            <a:extLst>
              <a:ext uri="{FF2B5EF4-FFF2-40B4-BE49-F238E27FC236}">
                <a16:creationId xmlns:a16="http://schemas.microsoft.com/office/drawing/2014/main" id="{A2D7C589-0666-B12C-9E84-5CF6C33CA0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495" y="1928317"/>
            <a:ext cx="4467505" cy="362158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A8901C0-896C-7060-DDC8-A23D3503EAF6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Microsoft Office PowerPoint</Application>
  <PresentationFormat>自定义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2026-06-03T12:34:09Z</dcterms:created>
  <dcterms:modified xsi:type="dcterms:W3CDTF">2026-06-03T12:34:09Z</dcterms:modified>
</cp:coreProperties>
</file>