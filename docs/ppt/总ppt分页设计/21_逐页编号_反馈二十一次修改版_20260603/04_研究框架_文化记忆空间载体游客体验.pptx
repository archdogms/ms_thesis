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26C58A-3035-4473-9B78-317235A9497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7F510C-5C0C-4607-8810-67AFAE3125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045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F2DC96-5CAF-BA03-CC72-ADB2845EEC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F03A6A1-2ADF-CA6C-DC9B-CBB1281FF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50FA84-477C-14C0-8F71-F23CD4CBF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533EA-E621-43DF-A210-A9986DC47A52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54E30E-9E54-012E-F82B-CEF6AA868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7A0222-86B5-63CD-1DD0-6AED4130B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961CC-F357-449A-88CE-8160056118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647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DAB935-A369-267B-AFEB-993C213B3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2148CC-310E-034E-63F6-45FBC6BD1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51F9C2-F74A-A747-2D0C-18B00320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533EA-E621-43DF-A210-A9986DC47A52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F6AAF0-711A-BD49-2D82-D65265A1D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722D63-87A1-527F-5E5A-A293C307B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961CC-F357-449A-88CE-8160056118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088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46302-C8CE-6E22-094A-203646E30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6FDB5E-68CF-6B36-7A59-A0B6E69FD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232334-19E0-C463-2AB3-EB9390701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533EA-E621-43DF-A210-A9986DC47A52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60A4D5-4276-54B7-B82F-0E0652822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5CE12F-73B1-35F6-12E3-F73767D5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961CC-F357-449A-88CE-8160056118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077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F1EEBD-E7D6-DF9F-6CD4-BB9BC982D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24B0D4-D9C9-2B66-C83D-A8A02B62A4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F7E2F4E-3E51-FCB7-C710-8730C4429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2B27FF-B184-1CD5-0834-55CA436CA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533EA-E621-43DF-A210-A9986DC47A52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7EF2C1-2B5A-259E-F0AB-59AFB3C44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E950B6-5626-7422-AB5E-303C28B5D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961CC-F357-449A-88CE-8160056118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7181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C612BC-A421-9850-1780-8D3E4AB9B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1B8C8B-A547-E9D0-855D-FCDF91399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33F37E-D5E8-D031-D84A-06E6187F7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3B5C962-9542-82DD-5880-CA149AD449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BD7140E-5A68-BE7C-25A0-B66A3B6A42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1EBA203-CA61-89E9-C636-2D345CC8C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533EA-E621-43DF-A210-A9986DC47A52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88A6158-776F-58D9-035F-2DEB5CD61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30AEA37-A337-FA6F-A1AD-C60887F10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961CC-F357-449A-88CE-8160056118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167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8AFF25-CE02-43EE-A309-42D442E65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AEF0737-A551-BF2D-26A0-640F964F6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533EA-E621-43DF-A210-A9986DC47A52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70177B4-EA0D-C63F-0F02-8B09C27E2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2D8B5E-D50D-6C01-8EA0-3450CD5AB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961CC-F357-449A-88CE-8160056118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174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CA3601B-8655-E81F-0C07-DF7313FB0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533EA-E621-43DF-A210-A9986DC47A52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F98D0EF-ACB5-9C6C-D345-904965C63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375401-7F49-0AD3-A7ED-2A1568B34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961CC-F357-449A-88CE-8160056118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481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09859C-8214-E128-2341-9F3F1C7F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5C8845-F4CC-2C86-56D0-4894F3E48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FB52DF-E2C8-8AE4-CD81-AB797E95E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E42C83-12F8-022B-62EE-551514E8C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533EA-E621-43DF-A210-A9986DC47A52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36CD29-B414-2399-A013-B53E204F2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55F8C3-9E16-E3F6-57DF-C20CD04B6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961CC-F357-449A-88CE-8160056118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397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FA5A88-EA1E-DF59-4A26-BDF6E2ADF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4AF44E2-29CC-0D0F-CE4B-1857D570C7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E3D0A86-EF0F-CC8C-0C97-4AADABC87E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1175CB-0E00-5271-1C1D-1BE95F176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533EA-E621-43DF-A210-A9986DC47A52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3A3C5D-91C3-5015-174C-ECE385C8E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1C5644-E5D4-5D57-B0E0-7E229757C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961CC-F357-449A-88CE-8160056118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839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E4EB51-E049-B34C-0E56-244339BC6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61FA00-767A-EA3A-6809-23351BD785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0E012B-6466-01BE-1ED2-82F133DF9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533EA-E621-43DF-A210-A9986DC47A52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83DE93-BA07-3654-7389-F1E819D11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611415-DD9E-49C9-26D2-EED113BF8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961CC-F357-449A-88CE-8160056118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186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79E30AC-1B93-A41A-810B-000E53BC21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A41B585-B4EE-1D76-0201-F39A4A4229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BB22E4-F80F-68AB-FEDE-A4E70477D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533EA-E621-43DF-A210-A9986DC47A52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197830-5DFC-1517-C8F7-9E29BF75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567572-4709-A47D-24EF-EC842C40E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961CC-F357-449A-88CE-8160056118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1941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5051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2DC99A1-A3A8-78D6-D07E-C4F6A0B1B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23B512-CFFE-8A51-996F-C72012D93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0623B-CB8C-6AB7-8243-6134F87234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533EA-E621-43DF-A210-A9986DC47A52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42D0B5-2A02-47EF-79AD-0D46C27CF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6524DF-51F8-7E3A-7B77-F00E8E52C7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961CC-F357-449A-88CE-8160056118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611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BF101D9B-A151-B48A-A626-6B6826CCBDD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0DC805C-5E7E-F7EC-DE04-ED7A9CBA0C20}"/>
              </a:ext>
            </a:extLst>
          </p:cNvPr>
          <p:cNvSpPr txBox="1"/>
          <p:nvPr/>
        </p:nvSpPr>
        <p:spPr>
          <a:xfrm>
            <a:off x="571500" y="177800"/>
            <a:ext cx="6858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| </a:t>
            </a:r>
            <a:r>
              <a:rPr lang="zh-CN" altLang="en-US" sz="140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研究问题与逻辑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42C06BD-25BF-CF20-4655-FF8131D28EC5}"/>
              </a:ext>
            </a:extLst>
          </p:cNvPr>
          <p:cNvSpPr txBox="1"/>
          <p:nvPr/>
        </p:nvSpPr>
        <p:spPr>
          <a:xfrm>
            <a:off x="590550" y="552450"/>
            <a:ext cx="9652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研究框架：文化记忆、空间载体与游客体验如何对接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87FCB69-F388-3F6B-4BD4-D41BE3E495A7}"/>
              </a:ext>
            </a:extLst>
          </p:cNvPr>
          <p:cNvSpPr txBox="1"/>
          <p:nvPr/>
        </p:nvSpPr>
        <p:spPr>
          <a:xfrm>
            <a:off x="889000" y="1168400"/>
            <a:ext cx="10414000" cy="2385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用空间载体作为中间层，把典籍中的文化记忆与真实旅游体验放到同一张底图、同一组指标中比较。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292FB42-AD7F-EB38-43ED-18DA4F5EF479}"/>
              </a:ext>
            </a:extLst>
          </p:cNvPr>
          <p:cNvSpPr/>
          <p:nvPr/>
        </p:nvSpPr>
        <p:spPr>
          <a:xfrm>
            <a:off x="889000" y="1841500"/>
            <a:ext cx="2984500" cy="2844800"/>
          </a:xfrm>
          <a:prstGeom prst="roundRect">
            <a:avLst>
              <a:gd name="adj" fmla="val 10000"/>
            </a:avLst>
          </a:prstGeom>
          <a:solidFill>
            <a:srgbClr val="F9FAFC"/>
          </a:solidFill>
          <a:ln w="15240">
            <a:solidFill>
              <a:srgbClr val="D9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91E41A7-9DE8-D499-2BBA-43A39ECA9AFB}"/>
              </a:ext>
            </a:extLst>
          </p:cNvPr>
          <p:cNvSpPr/>
          <p:nvPr/>
        </p:nvSpPr>
        <p:spPr>
          <a:xfrm>
            <a:off x="1943100" y="2120900"/>
            <a:ext cx="431800" cy="584200"/>
          </a:xfrm>
          <a:prstGeom prst="rect">
            <a:avLst/>
          </a:prstGeom>
          <a:solidFill>
            <a:srgbClr val="FFFFFF"/>
          </a:solidFill>
          <a:ln w="22860">
            <a:solidFill>
              <a:srgbClr val="5C3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21B8D3F-5D41-D6FB-1642-4392A8E2C544}"/>
              </a:ext>
            </a:extLst>
          </p:cNvPr>
          <p:cNvSpPr/>
          <p:nvPr/>
        </p:nvSpPr>
        <p:spPr>
          <a:xfrm>
            <a:off x="2374900" y="2120900"/>
            <a:ext cx="431800" cy="584200"/>
          </a:xfrm>
          <a:prstGeom prst="rect">
            <a:avLst/>
          </a:prstGeom>
          <a:solidFill>
            <a:srgbClr val="FFFFFF"/>
          </a:solidFill>
          <a:ln w="22860">
            <a:solidFill>
              <a:srgbClr val="5C3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0AC8CAE9-7919-4E95-E995-9B9B88641165}"/>
              </a:ext>
            </a:extLst>
          </p:cNvPr>
          <p:cNvCxnSpPr/>
          <p:nvPr/>
        </p:nvCxnSpPr>
        <p:spPr>
          <a:xfrm>
            <a:off x="2044700" y="2273300"/>
            <a:ext cx="241300" cy="0"/>
          </a:xfrm>
          <a:prstGeom prst="line">
            <a:avLst/>
          </a:prstGeom>
          <a:ln w="13970">
            <a:solidFill>
              <a:srgbClr val="5C3D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9A15013-04EE-DC1D-FDAF-65334AD86392}"/>
              </a:ext>
            </a:extLst>
          </p:cNvPr>
          <p:cNvCxnSpPr/>
          <p:nvPr/>
        </p:nvCxnSpPr>
        <p:spPr>
          <a:xfrm>
            <a:off x="2476500" y="2273300"/>
            <a:ext cx="241300" cy="0"/>
          </a:xfrm>
          <a:prstGeom prst="line">
            <a:avLst/>
          </a:prstGeom>
          <a:ln w="13970">
            <a:solidFill>
              <a:srgbClr val="5C3D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C5C3FCAC-26C2-FFA3-0B9E-1A88C14004E8}"/>
              </a:ext>
            </a:extLst>
          </p:cNvPr>
          <p:cNvCxnSpPr/>
          <p:nvPr/>
        </p:nvCxnSpPr>
        <p:spPr>
          <a:xfrm>
            <a:off x="2044700" y="2400300"/>
            <a:ext cx="241300" cy="0"/>
          </a:xfrm>
          <a:prstGeom prst="line">
            <a:avLst/>
          </a:prstGeom>
          <a:ln w="13970">
            <a:solidFill>
              <a:srgbClr val="5C3D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C808742D-086F-A73C-91F2-2D6C8724BD34}"/>
              </a:ext>
            </a:extLst>
          </p:cNvPr>
          <p:cNvCxnSpPr/>
          <p:nvPr/>
        </p:nvCxnSpPr>
        <p:spPr>
          <a:xfrm>
            <a:off x="2476500" y="2400300"/>
            <a:ext cx="241300" cy="0"/>
          </a:xfrm>
          <a:prstGeom prst="line">
            <a:avLst/>
          </a:prstGeom>
          <a:ln w="13970">
            <a:solidFill>
              <a:srgbClr val="5C3D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3B73D2D-2BA2-6254-8CF5-B876DA1F1A7E}"/>
              </a:ext>
            </a:extLst>
          </p:cNvPr>
          <p:cNvCxnSpPr/>
          <p:nvPr/>
        </p:nvCxnSpPr>
        <p:spPr>
          <a:xfrm>
            <a:off x="2044700" y="2527300"/>
            <a:ext cx="241300" cy="0"/>
          </a:xfrm>
          <a:prstGeom prst="line">
            <a:avLst/>
          </a:prstGeom>
          <a:ln w="13970">
            <a:solidFill>
              <a:srgbClr val="5C3D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EA0620D5-F63A-905B-2C79-7672A0684ED8}"/>
              </a:ext>
            </a:extLst>
          </p:cNvPr>
          <p:cNvCxnSpPr/>
          <p:nvPr/>
        </p:nvCxnSpPr>
        <p:spPr>
          <a:xfrm>
            <a:off x="2476500" y="2527300"/>
            <a:ext cx="241300" cy="0"/>
          </a:xfrm>
          <a:prstGeom prst="line">
            <a:avLst/>
          </a:prstGeom>
          <a:ln w="13970">
            <a:solidFill>
              <a:srgbClr val="5C3D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636115B2-DEA5-EB47-E6E1-AE83CE99F4A4}"/>
              </a:ext>
            </a:extLst>
          </p:cNvPr>
          <p:cNvSpPr txBox="1"/>
          <p:nvPr/>
        </p:nvSpPr>
        <p:spPr>
          <a:xfrm>
            <a:off x="1244600" y="3009900"/>
            <a:ext cx="2286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750" b="1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文化记忆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9595E5B-E4A6-5FD0-B5FC-63CF8724D754}"/>
              </a:ext>
            </a:extLst>
          </p:cNvPr>
          <p:cNvSpPr txBox="1"/>
          <p:nvPr/>
        </p:nvSpPr>
        <p:spPr>
          <a:xfrm>
            <a:off x="1181100" y="3416300"/>
            <a:ext cx="2413000" cy="1969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8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典籍文献 </a:t>
            </a:r>
            <a:r>
              <a:rPr lang="en-US" altLang="zh-CN" sz="128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8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E68DD26-425C-4E1E-EE25-320D0D18B1BA}"/>
              </a:ext>
            </a:extLst>
          </p:cNvPr>
          <p:cNvSpPr txBox="1"/>
          <p:nvPr/>
        </p:nvSpPr>
        <p:spPr>
          <a:xfrm>
            <a:off x="1193800" y="3797300"/>
            <a:ext cx="2387600" cy="76328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4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从地方文献、典籍、人物、事件、地点和技艺关系中提取文化线索，形成文化记忆指数（</a:t>
            </a:r>
            <a:r>
              <a:rPr lang="en-US" altLang="zh-CN" sz="124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</a:t>
            </a:r>
            <a:r>
              <a:rPr lang="zh-CN" altLang="en-US" sz="124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）与官方认定指数（</a:t>
            </a:r>
            <a:r>
              <a:rPr lang="en-US" altLang="zh-CN" sz="124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OAI</a:t>
            </a:r>
            <a:r>
              <a:rPr lang="zh-CN" altLang="en-US" sz="124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）。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890E6E93-24E7-7ADC-8742-3450312E824A}"/>
              </a:ext>
            </a:extLst>
          </p:cNvPr>
          <p:cNvSpPr/>
          <p:nvPr/>
        </p:nvSpPr>
        <p:spPr>
          <a:xfrm>
            <a:off x="4603750" y="1841500"/>
            <a:ext cx="2984500" cy="2844800"/>
          </a:xfrm>
          <a:prstGeom prst="roundRect">
            <a:avLst>
              <a:gd name="adj" fmla="val 10000"/>
            </a:avLst>
          </a:prstGeom>
          <a:solidFill>
            <a:srgbClr val="F9FAFC"/>
          </a:solidFill>
          <a:ln w="15240">
            <a:solidFill>
              <a:srgbClr val="D9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C5B5753C-7DF3-EEBA-48C9-0859D53F5EB8}"/>
              </a:ext>
            </a:extLst>
          </p:cNvPr>
          <p:cNvSpPr/>
          <p:nvPr/>
        </p:nvSpPr>
        <p:spPr>
          <a:xfrm>
            <a:off x="5721350" y="2019300"/>
            <a:ext cx="736600" cy="736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366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520D3460-9FB6-0D38-E494-26ACC80ABD19}"/>
              </a:ext>
            </a:extLst>
          </p:cNvPr>
          <p:cNvSpPr/>
          <p:nvPr/>
        </p:nvSpPr>
        <p:spPr>
          <a:xfrm>
            <a:off x="5975350" y="2247900"/>
            <a:ext cx="228600" cy="228600"/>
          </a:xfrm>
          <a:prstGeom prst="ellipse">
            <a:avLst/>
          </a:prstGeom>
          <a:solidFill>
            <a:srgbClr val="336699"/>
          </a:solidFill>
          <a:ln>
            <a:solidFill>
              <a:srgbClr val="3366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等腰三角形 33">
            <a:extLst>
              <a:ext uri="{FF2B5EF4-FFF2-40B4-BE49-F238E27FC236}">
                <a16:creationId xmlns:a16="http://schemas.microsoft.com/office/drawing/2014/main" id="{7B309F00-638E-92AD-EB9F-31A90EF3924D}"/>
              </a:ext>
            </a:extLst>
          </p:cNvPr>
          <p:cNvSpPr/>
          <p:nvPr/>
        </p:nvSpPr>
        <p:spPr>
          <a:xfrm rot="10800000">
            <a:off x="5899150" y="2552700"/>
            <a:ext cx="381000" cy="482600"/>
          </a:xfrm>
          <a:prstGeom prst="triangle">
            <a:avLst/>
          </a:prstGeom>
          <a:solidFill>
            <a:srgbClr val="336699"/>
          </a:solidFill>
          <a:ln>
            <a:solidFill>
              <a:srgbClr val="3366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D9D3A9A-0455-6C3B-1307-99E6D70BE07E}"/>
              </a:ext>
            </a:extLst>
          </p:cNvPr>
          <p:cNvSpPr txBox="1"/>
          <p:nvPr/>
        </p:nvSpPr>
        <p:spPr>
          <a:xfrm>
            <a:off x="4959350" y="3009900"/>
            <a:ext cx="2286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750" b="1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空间载体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817FD61-450A-FE26-4329-84512A0C8B57}"/>
              </a:ext>
            </a:extLst>
          </p:cNvPr>
          <p:cNvSpPr txBox="1"/>
          <p:nvPr/>
        </p:nvSpPr>
        <p:spPr>
          <a:xfrm>
            <a:off x="4895850" y="3416300"/>
            <a:ext cx="2413000" cy="1969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80" b="1">
                <a:solidFill>
                  <a:srgbClr val="3366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</a:t>
            </a:r>
            <a:r>
              <a:rPr lang="zh-CN" altLang="en-US" sz="1280" b="1">
                <a:solidFill>
                  <a:srgbClr val="3366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条核心文化载体 </a:t>
            </a:r>
            <a:r>
              <a:rPr lang="en-US" altLang="zh-CN" sz="1280" b="1">
                <a:solidFill>
                  <a:srgbClr val="3366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500m</a:t>
            </a:r>
            <a:r>
              <a:rPr lang="zh-CN" altLang="en-US" sz="1280" b="1">
                <a:solidFill>
                  <a:srgbClr val="3366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E0C0500-27DC-0597-5799-5F7D6B068FFC}"/>
              </a:ext>
            </a:extLst>
          </p:cNvPr>
          <p:cNvSpPr txBox="1"/>
          <p:nvPr/>
        </p:nvSpPr>
        <p:spPr>
          <a:xfrm>
            <a:off x="4908550" y="3797300"/>
            <a:ext cx="2387600" cy="5724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4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以坐标明确、类型可辨、可与旅游数据匹配的文化载体为锚点，连接文化谱系与旅游谱系。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AB3A11A0-9DEF-B224-86ED-E54F565A3D2F}"/>
              </a:ext>
            </a:extLst>
          </p:cNvPr>
          <p:cNvSpPr/>
          <p:nvPr/>
        </p:nvSpPr>
        <p:spPr>
          <a:xfrm>
            <a:off x="8318500" y="1841500"/>
            <a:ext cx="2984500" cy="2844800"/>
          </a:xfrm>
          <a:prstGeom prst="roundRect">
            <a:avLst>
              <a:gd name="adj" fmla="val 10000"/>
            </a:avLst>
          </a:prstGeom>
          <a:solidFill>
            <a:srgbClr val="F9FAFC"/>
          </a:solidFill>
          <a:ln w="15240">
            <a:solidFill>
              <a:srgbClr val="D9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A66C4422-60B6-12E2-1256-42C722F45E06}"/>
              </a:ext>
            </a:extLst>
          </p:cNvPr>
          <p:cNvSpPr/>
          <p:nvPr/>
        </p:nvSpPr>
        <p:spPr>
          <a:xfrm>
            <a:off x="9359900" y="2120900"/>
            <a:ext cx="914400" cy="6096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228F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>
            <a:extLst>
              <a:ext uri="{FF2B5EF4-FFF2-40B4-BE49-F238E27FC236}">
                <a16:creationId xmlns:a16="http://schemas.microsoft.com/office/drawing/2014/main" id="{70DB6738-4C30-0491-D00A-DB6535E37B93}"/>
              </a:ext>
            </a:extLst>
          </p:cNvPr>
          <p:cNvSpPr/>
          <p:nvPr/>
        </p:nvSpPr>
        <p:spPr>
          <a:xfrm rot="10800000">
            <a:off x="9588500" y="2628900"/>
            <a:ext cx="228600" cy="254000"/>
          </a:xfrm>
          <a:prstGeom prst="triangle">
            <a:avLst/>
          </a:prstGeom>
          <a:solidFill>
            <a:srgbClr val="FFFFFF"/>
          </a:solidFill>
          <a:ln w="22860">
            <a:solidFill>
              <a:srgbClr val="228F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F779EBA5-2C65-4832-3248-8156A650BD35}"/>
              </a:ext>
            </a:extLst>
          </p:cNvPr>
          <p:cNvSpPr/>
          <p:nvPr/>
        </p:nvSpPr>
        <p:spPr>
          <a:xfrm>
            <a:off x="9588500" y="2374900"/>
            <a:ext cx="76200" cy="76200"/>
          </a:xfrm>
          <a:prstGeom prst="ellipse">
            <a:avLst/>
          </a:prstGeom>
          <a:solidFill>
            <a:srgbClr val="228F78"/>
          </a:solidFill>
          <a:ln>
            <a:solidFill>
              <a:srgbClr val="228F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52520BF5-8D66-CFC5-D2AB-DB200EF4B5F2}"/>
              </a:ext>
            </a:extLst>
          </p:cNvPr>
          <p:cNvSpPr/>
          <p:nvPr/>
        </p:nvSpPr>
        <p:spPr>
          <a:xfrm>
            <a:off x="9817100" y="2374900"/>
            <a:ext cx="76200" cy="76200"/>
          </a:xfrm>
          <a:prstGeom prst="ellipse">
            <a:avLst/>
          </a:prstGeom>
          <a:solidFill>
            <a:srgbClr val="228F78"/>
          </a:solidFill>
          <a:ln>
            <a:solidFill>
              <a:srgbClr val="228F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9E47C8AC-ADB6-9C50-92E3-5C55F4AB0133}"/>
              </a:ext>
            </a:extLst>
          </p:cNvPr>
          <p:cNvSpPr/>
          <p:nvPr/>
        </p:nvSpPr>
        <p:spPr>
          <a:xfrm>
            <a:off x="10045700" y="2374900"/>
            <a:ext cx="76200" cy="76200"/>
          </a:xfrm>
          <a:prstGeom prst="ellipse">
            <a:avLst/>
          </a:prstGeom>
          <a:solidFill>
            <a:srgbClr val="228F78"/>
          </a:solidFill>
          <a:ln>
            <a:solidFill>
              <a:srgbClr val="228F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B443318B-061C-6FED-031F-19F531160E49}"/>
              </a:ext>
            </a:extLst>
          </p:cNvPr>
          <p:cNvSpPr txBox="1"/>
          <p:nvPr/>
        </p:nvSpPr>
        <p:spPr>
          <a:xfrm>
            <a:off x="8674100" y="3009900"/>
            <a:ext cx="2286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750" b="1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游客体验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6D7967B8-DDFC-BC85-FB64-ECF23D536E36}"/>
              </a:ext>
            </a:extLst>
          </p:cNvPr>
          <p:cNvSpPr txBox="1"/>
          <p:nvPr/>
        </p:nvSpPr>
        <p:spPr>
          <a:xfrm>
            <a:off x="8610600" y="3416300"/>
            <a:ext cx="2413000" cy="1969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80" b="1">
                <a:solidFill>
                  <a:srgbClr val="228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景区</a:t>
            </a:r>
            <a:r>
              <a:rPr lang="en-US" altLang="zh-CN" sz="1280" b="1">
                <a:solidFill>
                  <a:srgbClr val="228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/ </a:t>
            </a:r>
            <a:r>
              <a:rPr lang="zh-CN" altLang="en-US" sz="1280" b="1">
                <a:solidFill>
                  <a:srgbClr val="228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评分 </a:t>
            </a:r>
            <a:r>
              <a:rPr lang="en-US" altLang="zh-CN" sz="1280" b="1">
                <a:solidFill>
                  <a:srgbClr val="228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280" b="1">
                <a:solidFill>
                  <a:srgbClr val="228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5595C5F-B15F-0B5A-C447-A7988DE7FAA2}"/>
              </a:ext>
            </a:extLst>
          </p:cNvPr>
          <p:cNvSpPr txBox="1"/>
          <p:nvPr/>
        </p:nvSpPr>
        <p:spPr>
          <a:xfrm>
            <a:off x="8623300" y="3797300"/>
            <a:ext cx="2387600" cy="5724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4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用旅游热度指数（</a:t>
            </a:r>
            <a:r>
              <a:rPr lang="en-US" altLang="zh-CN" sz="124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</a:t>
            </a:r>
            <a:r>
              <a:rPr lang="zh-CN" altLang="en-US" sz="124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）描述游客到达、评分与评论强弱，避免只按资源名录判断转化效果。</a:t>
            </a:r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4B4EBBB6-51FE-142D-FCF6-AB169F4E9B85}"/>
              </a:ext>
            </a:extLst>
          </p:cNvPr>
          <p:cNvCxnSpPr/>
          <p:nvPr/>
        </p:nvCxnSpPr>
        <p:spPr>
          <a:xfrm>
            <a:off x="4000500" y="3149600"/>
            <a:ext cx="533400" cy="0"/>
          </a:xfrm>
          <a:prstGeom prst="line">
            <a:avLst/>
          </a:prstGeom>
          <a:ln w="19050">
            <a:solidFill>
              <a:srgbClr val="D9DDE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49A54D36-47B9-DFF4-EB7D-9E9709468D10}"/>
              </a:ext>
            </a:extLst>
          </p:cNvPr>
          <p:cNvCxnSpPr/>
          <p:nvPr/>
        </p:nvCxnSpPr>
        <p:spPr>
          <a:xfrm>
            <a:off x="7708900" y="3149600"/>
            <a:ext cx="546100" cy="0"/>
          </a:xfrm>
          <a:prstGeom prst="line">
            <a:avLst/>
          </a:prstGeom>
          <a:ln w="19050">
            <a:solidFill>
              <a:srgbClr val="D9DDE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BD42C04C-282D-19A8-309C-87D88816B9BB}"/>
              </a:ext>
            </a:extLst>
          </p:cNvPr>
          <p:cNvSpPr/>
          <p:nvPr/>
        </p:nvSpPr>
        <p:spPr>
          <a:xfrm>
            <a:off x="1168400" y="4978400"/>
            <a:ext cx="9855200" cy="889000"/>
          </a:xfrm>
          <a:prstGeom prst="roundRect">
            <a:avLst>
              <a:gd name="adj" fmla="val 10000"/>
            </a:avLst>
          </a:prstGeom>
          <a:solidFill>
            <a:srgbClr val="FBFAF7"/>
          </a:solidFill>
          <a:ln w="15240">
            <a:solidFill>
              <a:srgbClr val="E7E0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B4327F50-1ACF-BB20-A931-E9A5FA0932A5}"/>
              </a:ext>
            </a:extLst>
          </p:cNvPr>
          <p:cNvSpPr txBox="1"/>
          <p:nvPr/>
        </p:nvSpPr>
        <p:spPr>
          <a:xfrm>
            <a:off x="1473200" y="5219700"/>
            <a:ext cx="1333500" cy="2539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50" b="1">
                <a:solidFill>
                  <a:srgbClr val="BC83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输出口径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AD453AE-8720-BC3C-7E08-830BFB246A0B}"/>
              </a:ext>
            </a:extLst>
          </p:cNvPr>
          <p:cNvSpPr txBox="1"/>
          <p:nvPr/>
        </p:nvSpPr>
        <p:spPr>
          <a:xfrm>
            <a:off x="2819400" y="5168900"/>
            <a:ext cx="7620000" cy="45550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8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错位指数（</a:t>
            </a:r>
            <a:r>
              <a:rPr lang="en-US" altLang="zh-CN" sz="148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</a:t>
            </a:r>
            <a:r>
              <a:rPr lang="zh-CN" altLang="en-US" sz="148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）比较文化基础与旅游热度：高匹配形成核心耦合，文化强但热度弱形成沉睡潜力，热度强但文化弱形成空心景点。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B50E420-CDF0-218B-D3FA-9583DEF61D8F}"/>
              </a:ext>
            </a:extLst>
          </p:cNvPr>
          <p:cNvSpPr txBox="1"/>
          <p:nvPr/>
        </p:nvSpPr>
        <p:spPr>
          <a:xfrm>
            <a:off x="889000" y="6451600"/>
            <a:ext cx="5461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论文依据：第</a:t>
            </a:r>
            <a:r>
              <a:rPr lang="en-US" altLang="zh-CN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章研究方法、第</a:t>
            </a:r>
            <a:r>
              <a:rPr lang="en-US" altLang="zh-CN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章指标计算与错位分类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64590109-D734-E88E-4C5D-140CB8488A6E}"/>
              </a:ext>
            </a:extLst>
          </p:cNvPr>
          <p:cNvSpPr txBox="1"/>
          <p:nvPr/>
        </p:nvSpPr>
        <p:spPr>
          <a:xfrm>
            <a:off x="8667750" y="6496050"/>
            <a:ext cx="24765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zh-CN" altLang="en-US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孟帅 </a:t>
            </a:r>
            <a:r>
              <a:rPr lang="en-US" altLang="zh-CN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本科毕业设计答辩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00C6B2C1-4971-4DDD-CF75-264CE49714DA}"/>
              </a:ext>
            </a:extLst>
          </p:cNvPr>
          <p:cNvSpPr txBox="1"/>
          <p:nvPr/>
        </p:nvSpPr>
        <p:spPr>
          <a:xfrm>
            <a:off x="11353800" y="6457950"/>
            <a:ext cx="533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95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lang="zh-CN" altLang="en-US" sz="950" b="1">
              <a:solidFill>
                <a:srgbClr val="5C3D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4575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</Words>
  <Application>Microsoft Office PowerPoint</Application>
  <PresentationFormat>自定义</PresentationFormat>
  <Paragraphs>17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2026-06-03T12:34:09Z</dcterms:created>
  <dcterms:modified xsi:type="dcterms:W3CDTF">2026-06-03T12:34:09Z</dcterms:modified>
</cp:coreProperties>
</file>