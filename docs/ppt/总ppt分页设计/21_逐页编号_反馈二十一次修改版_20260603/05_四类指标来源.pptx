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51BB3-77F8-40AA-ADF7-C01151E51DF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C081-60EC-4CCC-8420-E7EB18ACBC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81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DCC60-5F7B-49D9-9B04-CBEDFEC5E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A432B7-50CF-5DA3-CAC9-72B3F2E6A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7E734-2170-6EBA-CF28-997C3C5A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27A2AE-BC79-6781-B3AF-54C85EBB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2F80E-EF23-7212-A087-3AF838C9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949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918B7-6424-11E3-8A4F-AA7C0CE0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31023-E044-181F-2E7A-07F916B30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FDBC3F-29B3-457C-6EDC-BA470265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8AB55C-742E-554C-A3D2-BD5CC985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E7D71-6CC7-8115-16D5-FFD76829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9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D9C55-C435-1BEB-08E0-D07F4803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C43C5D-D6D5-75EE-F5FA-C1D73F7F8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4857DD-60DF-389F-DD4A-647215F9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C46DD-1F58-4A94-8D86-270AC9BD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F7059D-975F-8E59-0A36-1706CE71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16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23431-E8BD-568F-839B-E4E826A9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F9CE0B-A4A8-035E-EEE6-5D97F872B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AAA65-F813-1770-1046-4C19C7527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1E4DE2-A8A3-3AF8-AB73-B6153DCC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D0AAC3-FFA6-784A-1B4C-6941774C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110DDC-37FD-1F34-2CA3-52E1579A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9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CFDB2-A627-86FE-395E-07444F471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B397-DDC3-113F-249E-78D44FE05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7FC8AF-8C03-E85B-846F-162B7040F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40A500-6A22-7BC1-67D9-97527E1DB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4A8ED6-153F-472D-58DA-8C42D22F7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E65651-D138-2AB8-F661-3232C595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A47C-EF64-DCAF-A1E6-5C06435C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527461-E818-4E71-9545-A576412C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13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EED53-6A71-C770-C055-B75111A0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774ACB-E9C9-7D3A-D7AE-FBD9E51B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C8ED2C-3BF4-72BF-334A-385169602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F58AE3-2E09-5F87-DE33-805A029E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55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F23310-EBD7-2708-2552-7DF44C72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EAA9D9-683A-3A04-B538-30C83009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92C7F8-5403-965B-0117-F74797AB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8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2439C-BBDE-F262-17D5-EB06A6E0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47C879-A0B2-4EF7-74FA-314CB314C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2446F3-C59C-265E-B9D1-9A0FC6297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C67C3-DF61-EDB1-6562-D609C330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0964AE-FD54-00E5-9135-A50B1A29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7CD8B8-F640-35EB-83A7-60CA52AB2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2A32A-DD87-6DC3-B840-F75D6190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0DD0ED-76E6-8EB6-682F-E1BBE8C7D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84C6E0-5652-8623-C900-1DDF5608D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2ED041-5192-2AE0-3703-DDA2A4C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D4A23A-4550-6837-6575-28D827BB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1E2DE6-4A41-7B0E-1829-AEC61023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55E08-DD4E-DAD8-EAFD-ED8B1E99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2A0F64-2882-79A9-AFE7-788896414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C8B93-D057-DF9B-1100-FC4E0E84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97453-79BC-730F-1035-D77D7A12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B2FEE4-ED09-F0BA-BDDE-57907A6E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29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21819C-DA7F-F01A-6AEE-71760C434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02F2C9-92FF-6519-4F98-4A40508B2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93090-CC4C-09AE-1E0E-EE5C50C5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4D6320-7BBB-657D-B4E3-4D2813B2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FD1D9-395E-E49E-FF33-542BD676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860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81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83445B-5519-E4AE-CC6B-0F8FF5E1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9BA973-C2AE-2A06-CE2E-4D30CB5DD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AEB5A-E0C5-EBC0-AC32-FDD685F3A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370DD-E995-4CE7-98DF-383ADE3C8C8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C60BD-ECCE-0C5B-18BC-041A6EE42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93FA3-228E-655E-A641-AC039497B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C9CB-2C50-46E5-B6F4-242FB36ED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86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四类指标来源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986B1-95EC-B37A-C414-6835F70AEA5B}"/>
              </a:ext>
            </a:extLst>
          </p:cNvPr>
          <p:cNvSpPr txBox="1"/>
          <p:nvPr/>
        </p:nvSpPr>
        <p:spPr>
          <a:xfrm>
            <a:off x="889000" y="1168400"/>
            <a:ext cx="10414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四类指标先归一化到同一分值口径，再比较文化基础与旅游承接之间的偏离。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5966770-E1DC-71E7-AE3A-BB4F5371403A}"/>
              </a:ext>
            </a:extLst>
          </p:cNvPr>
          <p:cNvCxnSpPr/>
          <p:nvPr/>
        </p:nvCxnSpPr>
        <p:spPr>
          <a:xfrm>
            <a:off x="889000" y="16510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17B54-895D-AFCA-5985-AFF9C05305E8}"/>
              </a:ext>
            </a:extLst>
          </p:cNvPr>
          <p:cNvSpPr/>
          <p:nvPr/>
        </p:nvSpPr>
        <p:spPr>
          <a:xfrm>
            <a:off x="88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91451-373D-9C68-9134-E1F46A1DBB9C}"/>
              </a:ext>
            </a:extLst>
          </p:cNvPr>
          <p:cNvSpPr txBox="1"/>
          <p:nvPr/>
        </p:nvSpPr>
        <p:spPr>
          <a:xfrm>
            <a:off x="111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5.2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FA5CA2-A29E-07D1-C462-64B83DFE3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2349500"/>
            <a:ext cx="1219200" cy="12192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BCF607-CB35-9062-133D-EB3B94AF70F0}"/>
              </a:ext>
            </a:extLst>
          </p:cNvPr>
          <p:cNvSpPr/>
          <p:nvPr/>
        </p:nvSpPr>
        <p:spPr>
          <a:xfrm>
            <a:off x="469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39A2A-C6AA-0679-4EB7-277C52C10B90}"/>
              </a:ext>
            </a:extLst>
          </p:cNvPr>
          <p:cNvSpPr txBox="1"/>
          <p:nvPr/>
        </p:nvSpPr>
        <p:spPr>
          <a:xfrm>
            <a:off x="492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5.3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936AF-CC1A-C1B1-067E-D787A21A6C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2349500"/>
            <a:ext cx="1219200" cy="12192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4AE10B-017A-33C6-0E32-4F176F0158A3}"/>
              </a:ext>
            </a:extLst>
          </p:cNvPr>
          <p:cNvSpPr/>
          <p:nvPr/>
        </p:nvSpPr>
        <p:spPr>
          <a:xfrm>
            <a:off x="88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4B27-B070-829F-1F45-593A4F6AED77}"/>
              </a:ext>
            </a:extLst>
          </p:cNvPr>
          <p:cNvSpPr txBox="1"/>
          <p:nvPr/>
        </p:nvSpPr>
        <p:spPr>
          <a:xfrm>
            <a:off x="111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5.4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7CF73ED-F3C8-A9DA-DEF4-DA55CD6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4508500"/>
            <a:ext cx="1219200" cy="121920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2801DF-7035-E8BF-C93A-EB2EF0730ECB}"/>
              </a:ext>
            </a:extLst>
          </p:cNvPr>
          <p:cNvSpPr/>
          <p:nvPr/>
        </p:nvSpPr>
        <p:spPr>
          <a:xfrm>
            <a:off x="469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6F86E8-79C6-037D-EC43-9C1ACAE1B82A}"/>
              </a:ext>
            </a:extLst>
          </p:cNvPr>
          <p:cNvSpPr txBox="1"/>
          <p:nvPr/>
        </p:nvSpPr>
        <p:spPr>
          <a:xfrm>
            <a:off x="492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5.5  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错位指数（</a:t>
            </a:r>
            <a:r>
              <a:rPr lang="en-US" altLang="zh-CN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zh-CN" altLang="en-US" sz="135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）分布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922968-1A13-303C-BAC7-5014E761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4508500"/>
            <a:ext cx="1219200" cy="12192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0B49170-AD6D-F18C-DA6B-DD06F15CBB31}"/>
              </a:ext>
            </a:extLst>
          </p:cNvPr>
          <p:cNvSpPr/>
          <p:nvPr/>
        </p:nvSpPr>
        <p:spPr>
          <a:xfrm>
            <a:off x="8763000" y="1879600"/>
            <a:ext cx="2540000" cy="4064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75C902-79A8-A73C-C447-6CFC529707EB}"/>
              </a:ext>
            </a:extLst>
          </p:cNvPr>
          <p:cNvSpPr txBox="1"/>
          <p:nvPr/>
        </p:nvSpPr>
        <p:spPr>
          <a:xfrm>
            <a:off x="9017000" y="2159000"/>
            <a:ext cx="2032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指标计算口径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ED7BA9-43F5-911B-A66B-F739686E8B97}"/>
              </a:ext>
            </a:extLst>
          </p:cNvPr>
          <p:cNvSpPr txBox="1"/>
          <p:nvPr/>
        </p:nvSpPr>
        <p:spPr>
          <a:xfrm>
            <a:off x="9017000" y="2667000"/>
            <a:ext cx="2032000" cy="13213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文化记忆指数（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）：典籍频次 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图谱中心性</a:t>
            </a:r>
          </a:p>
          <a:p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官方认定指数（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）：官方认定等级</a:t>
            </a:r>
          </a:p>
          <a:p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旅游热度指数（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</a:t>
            </a:r>
            <a:r>
              <a:rPr lang="en-US" altLang="zh-CN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BC9A90-F45B-F61C-587F-54B326E13A77}"/>
              </a:ext>
            </a:extLst>
          </p:cNvPr>
          <p:cNvCxnSpPr/>
          <p:nvPr/>
        </p:nvCxnSpPr>
        <p:spPr>
          <a:xfrm>
            <a:off x="9017000" y="4089400"/>
            <a:ext cx="2032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19CE85-A718-414C-F833-30A5C635AADC}"/>
              </a:ext>
            </a:extLst>
          </p:cNvPr>
          <p:cNvSpPr txBox="1"/>
          <p:nvPr/>
        </p:nvSpPr>
        <p:spPr>
          <a:xfrm>
            <a:off x="9017000" y="4318000"/>
            <a:ext cx="2032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700" b="1">
                <a:solidFill>
                  <a:srgbClr val="C152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错位指数（</a:t>
            </a:r>
            <a:r>
              <a:rPr lang="en-US" altLang="zh-CN" sz="1700" b="1">
                <a:solidFill>
                  <a:srgbClr val="C152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zh-CN" altLang="en-US" sz="1700" b="1">
                <a:solidFill>
                  <a:srgbClr val="C152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4F60F1-2BCB-E5E6-A69C-C9B8DCE888F5}"/>
              </a:ext>
            </a:extLst>
          </p:cNvPr>
          <p:cNvSpPr txBox="1"/>
          <p:nvPr/>
        </p:nvSpPr>
        <p:spPr>
          <a:xfrm>
            <a:off x="9017000" y="4749800"/>
            <a:ext cx="203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6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= THI - 0.5 CMI - 0.5 OAI</a:t>
            </a:r>
            <a:endParaRPr lang="zh-CN" altLang="en-US" sz="1600" b="1">
              <a:solidFill>
                <a:srgbClr val="663D8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1DEB9B-8B0D-105A-E06F-A1EB1A5CFD93}"/>
              </a:ext>
            </a:extLst>
          </p:cNvPr>
          <p:cNvSpPr txBox="1"/>
          <p:nvPr/>
        </p:nvSpPr>
        <p:spPr>
          <a:xfrm>
            <a:off x="9017000" y="5384800"/>
            <a:ext cx="20320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28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28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衡量旅游热度相对文化基础的偏离。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239E77-5F53-6C9A-1A74-EF88AC530477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自定义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2026-06-03T12:34:09Z</dcterms:created>
  <dcterms:modified xsi:type="dcterms:W3CDTF">2026-06-03T12:34:09Z</dcterms:modified>
</cp:coreProperties>
</file>