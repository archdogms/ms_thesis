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987FF-290B-4E80-AA9F-8A1D8BCEA3D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8E928-6DE2-4BEB-BC7B-BCA207992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57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F8AE6-A657-82D0-30D4-764D43F64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81FCF5-3198-8EA8-BB23-E8561EC6F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7D15BA-3C03-6D71-D98A-DD653F9FF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4B4692-1103-1E98-AD40-54FE43BB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EE0F41-7336-FDF4-7AC7-B5F46B84E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958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04EF7-EE70-94EA-6B40-7B4646C4F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BE4530-A066-E485-D87D-E4ED3782B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DEB2EC-D23A-53CD-5C29-B5C7DC00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05F0DF-ACEF-8A25-4AE0-C904AD56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7BDD6-C7A7-990F-6AFA-23C6EBBE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05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81610-1862-28F5-2760-646928FF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FC2BBF-09B0-6CEE-6BCF-9806AF5AF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F746CC-1211-5143-21BB-A561CB40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5A3740-30A1-5E2D-F70F-10230B6B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49ECBE-6AD1-97AB-115B-8E06ABF6B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28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9E552-25AE-F650-4ECB-308ADF2B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9D4F0-0BCB-439E-78EB-9E2A9F37A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D11BCD-5FBD-EF76-0EC6-8A79369B4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9DABBC-9CF7-0E67-4A15-7AD113CED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052D67-94E3-1E5C-06D7-139E06FE0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0AAF7A-25F0-21E3-53A1-07098960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963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567C6-57BC-137C-9098-DBA4DBDC4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B3FCB7-BA84-7520-0398-D6B59EF64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5FE6D7-DD27-94EA-B4DE-2ADFA43FF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D2A280-4C81-A052-FB91-6BA1EC3A4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F337AA-DE53-9F9A-7917-B1EA7F6F3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E90E6B-57A4-7A36-E00F-592C9BBB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956487-D143-5B23-8036-D7BE0A03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DC2C64E-BC58-73A1-65D8-407D6BB9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37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66332-CF1C-89CC-B082-9AED69E8B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96A8F6-2CF9-3FEB-BB5D-8DDC0002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AB6910-CF20-06DF-96F6-0DAE88EC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5198A1-6640-2768-04B0-0FA0BD308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88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2C5690-9CAA-A073-0930-7B226E8B7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8318FD-BF29-3670-21E9-834746C75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88DEDA-4397-1EC8-06B2-62EA5AF6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024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1D832-7A69-0187-CC8E-D8C288FFE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022C5-07A9-3140-7211-1DC5CDF4C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FD1233-8C39-92D3-48D3-1D34080FF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11F4FB-53A1-A0EE-1C73-EC247DC91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F62D67-A3DC-C6C0-4D26-EF0D69BF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D5AF69-7E36-1D0E-425E-6AFA3003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8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8D2E1-9F07-F247-DCD6-335855EF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1E7E170-D7B4-050D-ACB2-66F2B23B3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10C3F1-7EDE-112A-2E06-87C1E9408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A5390B-FBC1-28D4-0F12-A7297B8F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4B6446-15D8-669E-AF28-EC8FAA53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8C3664-5FDE-44F6-5CBF-A38E1BD0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61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1A14D-F249-1D84-5E11-00408E11F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6B024F-1ECC-17C3-F75B-900AB470B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D59D7-2A4C-3D98-E9F0-8CAA089D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FF4866-ED5A-AFC8-6C53-A4BF103E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EC867B-3674-C116-D028-9FACBC60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391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17687B-836F-8251-2E81-55E770227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85641F-E056-2E04-88DA-B9F16B9B4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DC969B-03DB-9D4B-91B5-F554A6F7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660A8E-602D-C4BC-C04D-820652E0C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BFBDB-998D-73D3-A2FA-0FA99C68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867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795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490664-0AF8-6D91-264A-FFD43280B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E5D92E-2E9F-FC1C-169D-89A483B90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B9210-4D83-11B3-D722-F62F13445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72AF3-E6CD-47AC-A336-ABB5806658DB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CA46D4-6F66-3417-EAD2-7242E94FE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9469F5-3800-5941-B8FA-69031E6B13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AD856-9D51-4923-BF65-E7EEC70868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797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 </a:t>
            </a:r>
            <a:r>
              <a:rPr lang="zh-CN" altLang="en-US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</a:t>
            </a:r>
            <a:endParaRPr sz="850">
              <a:solidFill>
                <a:srgbClr val="60606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东旅西文机制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4E53C8-1313-8C64-971F-A73A600E1AF8}"/>
              </a:ext>
            </a:extLst>
          </p:cNvPr>
          <p:cNvSpPr txBox="1"/>
          <p:nvPr/>
        </p:nvSpPr>
        <p:spPr>
          <a:xfrm>
            <a:off x="889000" y="1168400"/>
            <a:ext cx="10414000" cy="34881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60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东旅西文不是一句现象描述，而是文化载体分布、</a:t>
            </a:r>
            <a:r>
              <a:rPr lang="en-US" altLang="zh-CN" sz="160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60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供给、交通消费场景和空间转化能力叠加后的结果。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318937B-6803-8E1D-94F4-C3AADE41F160}"/>
              </a:ext>
            </a:extLst>
          </p:cNvPr>
          <p:cNvSpPr/>
          <p:nvPr/>
        </p:nvSpPr>
        <p:spPr>
          <a:xfrm>
            <a:off x="889000" y="1778000"/>
            <a:ext cx="6350000" cy="3937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45E25FB-5936-BE08-8DF9-6B7CC5120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964" y="2006600"/>
            <a:ext cx="5022937" cy="32258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FCFD3209-E743-A9F4-ED54-CD80B89E4C86}"/>
              </a:ext>
            </a:extLst>
          </p:cNvPr>
          <p:cNvSpPr txBox="1"/>
          <p:nvPr/>
        </p:nvSpPr>
        <p:spPr>
          <a:xfrm>
            <a:off x="1117600" y="5334000"/>
            <a:ext cx="5892800" cy="294953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pPr algn="ctr"/>
            <a:r>
              <a:rPr lang="zh-CN" altLang="en-US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6.2  </a:t>
            </a:r>
            <a:r>
              <a:rPr lang="zh-CN" altLang="en-US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文化载体核密度与 </a:t>
            </a:r>
            <a:r>
              <a:rPr lang="en-US" altLang="zh-CN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25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核密度对照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0B47288-AFB1-03FD-1981-B5B32DBA0EDB}"/>
              </a:ext>
            </a:extLst>
          </p:cNvPr>
          <p:cNvSpPr/>
          <p:nvPr/>
        </p:nvSpPr>
        <p:spPr>
          <a:xfrm>
            <a:off x="7747000" y="1778000"/>
            <a:ext cx="3556000" cy="3937000"/>
          </a:xfrm>
          <a:prstGeom prst="roundRect">
            <a:avLst/>
          </a:prstGeom>
          <a:solidFill>
            <a:srgbClr val="F8F8FB"/>
          </a:solidFill>
          <a:ln w="12700" cap="flat" cmpd="sng" algn="ctr">
            <a:solidFill>
              <a:srgbClr val="DADDE4">
                <a:alpha val="88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6E649A5-D3A5-ECA2-2D57-46F8AA55AD58}"/>
              </a:ext>
            </a:extLst>
          </p:cNvPr>
          <p:cNvSpPr txBox="1"/>
          <p:nvPr/>
        </p:nvSpPr>
        <p:spPr>
          <a:xfrm>
            <a:off x="8026400" y="2032000"/>
            <a:ext cx="2870200" cy="410369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20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原因解释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C300B7F-362D-0682-CE62-A6FB95B30BEE}"/>
              </a:ext>
            </a:extLst>
          </p:cNvPr>
          <p:cNvSpPr txBox="1"/>
          <p:nvPr/>
        </p:nvSpPr>
        <p:spPr>
          <a:xfrm>
            <a:off x="8026400" y="25146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东部：桂城、里水等片区 </a:t>
            </a:r>
            <a:r>
              <a:rPr lang="en-US" altLang="zh-CN" sz="14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4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、商业服务和日常消费场景更集中，旅游热度更容易形成。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C6098F4-CFFC-CBC1-EFA1-B74787A53BF5}"/>
              </a:ext>
            </a:extLst>
          </p:cNvPr>
          <p:cNvCxnSpPr/>
          <p:nvPr/>
        </p:nvCxnSpPr>
        <p:spPr>
          <a:xfrm>
            <a:off x="8026400" y="32766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449A36B-C868-8D00-9B06-AF12CAB5F903}"/>
              </a:ext>
            </a:extLst>
          </p:cNvPr>
          <p:cNvSpPr txBox="1"/>
          <p:nvPr/>
        </p:nvSpPr>
        <p:spPr>
          <a:xfrm>
            <a:off x="8026400" y="34798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西部：西樵、九江、丹灶等片区历史村落、非遗、宗族与水乡文化线索更厚。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0A81583-F641-ED0B-CA55-7CAC86682154}"/>
              </a:ext>
            </a:extLst>
          </p:cNvPr>
          <p:cNvCxnSpPr/>
          <p:nvPr/>
        </p:nvCxnSpPr>
        <p:spPr>
          <a:xfrm>
            <a:off x="8026400" y="4241800"/>
            <a:ext cx="2971800" cy="0"/>
          </a:xfrm>
          <a:prstGeom prst="line">
            <a:avLst/>
          </a:prstGeom>
          <a:ln w="12700">
            <a:solidFill>
              <a:srgbClr val="DADD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0F88875-1100-E555-EAE7-E0B7223FF466}"/>
              </a:ext>
            </a:extLst>
          </p:cNvPr>
          <p:cNvSpPr txBox="1"/>
          <p:nvPr/>
        </p:nvSpPr>
        <p:spPr>
          <a:xfrm>
            <a:off x="8026400" y="4445000"/>
            <a:ext cx="2997200" cy="75815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42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核心问题：文化资源没有充分转化为可到达、可观看、可评价的旅游入口。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B5EC69C-33A0-CECB-E62C-CC91B2337F8D}"/>
              </a:ext>
            </a:extLst>
          </p:cNvPr>
          <p:cNvSpPr txBox="1"/>
          <p:nvPr/>
        </p:nvSpPr>
        <p:spPr>
          <a:xfrm>
            <a:off x="8026400" y="5295900"/>
            <a:ext cx="2997200" cy="496546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zh-CN" altLang="en-US" sz="1280">
                <a:solidFill>
                  <a:srgbClr val="6060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该判断用于解释空间机制，不等同于东部无文化或西部无旅游。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C7CBB0-C201-61C9-0E09-597128CB6292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自定义</PresentationFormat>
  <Paragraphs>12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2026-06-03T12:34:11Z</dcterms:created>
  <dcterms:modified xsi:type="dcterms:W3CDTF">2026-06-03T12:34:11Z</dcterms:modified>
</cp:coreProperties>
</file>