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4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72DFD0-FD56-47AC-8569-C855BFCD8B7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58C190-5AA6-42C7-AAF3-7EBEAD22A1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8098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154FDC-5DBD-CB6A-A692-2812931794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117994-9E5A-56AB-9C00-411C40396A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6265BF-718D-D034-8B9E-81267C1C7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D3AD3-2395-4BA9-8FB3-3E9AD07FA6C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366D9F-9418-FE45-6DE4-F568E2979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61DCF9-111F-D595-013D-4518B098D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D7581-3974-43E5-8605-71DCB8E9A7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210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900884-7AAC-1E5C-960A-4C71787BB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56B22D-EE48-9DF3-FA1A-2F26BFEA8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4F44BA-D24E-7156-F30A-EA80B6679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D3AD3-2395-4BA9-8FB3-3E9AD07FA6C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55EB28-BA70-B5AD-5F2F-B8ECA46F0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E55328-3F30-E53C-B1B9-DDAC055F9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D7581-3974-43E5-8605-71DCB8E9A7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83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05D5E8-11CE-4D98-6767-D100027AF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855479-5F8D-407E-B9B6-5961F4D8C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B804C7-ED77-B806-C374-29467985F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D3AD3-2395-4BA9-8FB3-3E9AD07FA6C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C065CD-B24C-C6EA-3A3C-827F069D3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73B6C6-FB3A-7E00-5BDE-9DA841A6A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D7581-3974-43E5-8605-71DCB8E9A7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5570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73234-6816-4EC2-E3D0-DD2F331F1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425A8C-DFA7-4D5A-9580-9EF6EAEBFA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8ABDD34-F758-8166-167D-CCB20FA48F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A41241-C2B0-9254-DDFE-DF1559FDE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D3AD3-2395-4BA9-8FB3-3E9AD07FA6C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2B473A-865C-7853-7067-62F5865CE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CDEF8D-A552-7505-B56A-247031812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D7581-3974-43E5-8605-71DCB8E9A7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850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591DC8-6EFE-B0C5-B19F-B51110392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551676-0CE0-9A2F-E0B8-C647EC57D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7A388EF-03E2-1E23-9363-2DDFE549A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C4F5CDC-C4CB-15F3-FBD9-CD5C3F0DAC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19A2D42-5916-70FA-ABBC-802B7DE4DE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FBE46A8-4F98-56B0-4344-BD9439F2B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D3AD3-2395-4BA9-8FB3-3E9AD07FA6C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E11428A-6E11-D220-AD27-EE200E80C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756A2BF-31E1-CD6A-0224-066A55B5E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D7581-3974-43E5-8605-71DCB8E9A7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536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D5CC78-3286-D86C-1FD0-81AAAFFD2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76E5AF4-8E51-CC7E-1280-7605E3E64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D3AD3-2395-4BA9-8FB3-3E9AD07FA6C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59FC8D6-BF23-62F6-FEC1-E38203B27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364522D-6F54-D3B0-0F3F-7325C6C23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D7581-3974-43E5-8605-71DCB8E9A7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385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474E164-1BBA-4101-0572-DEFCB15DB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D3AD3-2395-4BA9-8FB3-3E9AD07FA6C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745357E-8EEA-CA9A-B578-BF9C43BFB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E203C2-E428-9E44-2A17-0FCE20BED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D7581-3974-43E5-8605-71DCB8E9A7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1825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4738C2-4965-3A2E-FDFC-88D43AD35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FFABD6-73A8-606E-6999-15F3385BE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EED8E8B-FC91-3147-B7C1-FE10AC263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1AF3D8-6F1E-17E4-EFE7-3A9588484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D3AD3-2395-4BA9-8FB3-3E9AD07FA6C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1D834E-16BE-EC11-A011-FDF90FCCE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BF4923-990D-3DD7-1D62-BEE6A92F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D7581-3974-43E5-8605-71DCB8E9A7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9859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D1111A-AEDB-2F32-A80C-6FFE0ECFF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1435516-2DB4-1F14-DBD3-A61900AA85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852BB8-BBD8-FD92-44A7-4F4912B5E6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44C357-2C87-3140-EB4B-ACEA89538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D3AD3-2395-4BA9-8FB3-3E9AD07FA6C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C3FE4C5-1D4E-8E0E-81F9-ECD662548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F610B9-8D61-5C8B-7154-793B7EFDC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D7581-3974-43E5-8605-71DCB8E9A7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304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B5F34E-5EB4-5991-3B74-181E87163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D70E58-73DB-82B3-C305-4C6BB048B0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B4B89E-BF6E-4842-8818-A0CBD533F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D3AD3-2395-4BA9-8FB3-3E9AD07FA6C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77D419-9086-3896-C39E-3317C3882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9EBA53-8C51-3F23-41A1-202E9B5EC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D7581-3974-43E5-8605-71DCB8E9A7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327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6DB1C0F-7097-6A8B-CD9C-7099A510C9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F3FE208-3778-D899-D2CF-2E221D3183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85141D-467E-5508-A900-757936E62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D3AD3-2395-4BA9-8FB3-3E9AD07FA6C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42247D-5EBD-E8F1-8F69-71D1B8933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71A15F-953E-C0FD-4E46-48608A5E4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D7581-3974-43E5-8605-71DCB8E9A7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32561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5232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997CBE7-E4E8-0177-B2EC-93D70E222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F004DD-79DC-AE68-7830-18FFF07BD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973088-FCC8-DC2C-14E5-6D9BB7A29F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AD3AD3-2395-4BA9-8FB3-3E9AD07FA6C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AACBC7-04EB-ADA4-A7A7-2E18A6063B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505711-170C-1557-00EB-5607295F60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8D7581-3974-43E5-8605-71DCB8E9A7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3410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F6A6544-DB6B-3370-D0AF-3EAF4ACA91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8CFA60E-867A-C055-6409-04A968EBA1A3}"/>
              </a:ext>
            </a:extLst>
          </p:cNvPr>
          <p:cNvSpPr txBox="1"/>
          <p:nvPr/>
        </p:nvSpPr>
        <p:spPr>
          <a:xfrm>
            <a:off x="571500" y="177800"/>
            <a:ext cx="6858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| </a:t>
            </a:r>
            <a:r>
              <a:rPr lang="zh-CN" altLang="en-US" sz="140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错位识别与空间结果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F4B5BB8-BC99-3D6F-47A9-F3807AFFFD12}"/>
              </a:ext>
            </a:extLst>
          </p:cNvPr>
          <p:cNvSpPr txBox="1"/>
          <p:nvPr/>
        </p:nvSpPr>
        <p:spPr>
          <a:xfrm>
            <a:off x="590550" y="552450"/>
            <a:ext cx="9652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重点载体对比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364AF91-5E3D-ADF0-0A2B-B142F36671AB}"/>
              </a:ext>
            </a:extLst>
          </p:cNvPr>
          <p:cNvSpPr txBox="1"/>
          <p:nvPr/>
        </p:nvSpPr>
        <p:spPr>
          <a:xfrm>
            <a:off x="889000" y="1168400"/>
            <a:ext cx="10414000" cy="2385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核心耦合代表文化基础与旅游承接相对匹配；沉睡潜力代表文化基础较强但旅游承接偏弱。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76A655C-8513-0C5E-EE7E-E567413055E8}"/>
              </a:ext>
            </a:extLst>
          </p:cNvPr>
          <p:cNvSpPr/>
          <p:nvPr/>
        </p:nvSpPr>
        <p:spPr>
          <a:xfrm>
            <a:off x="609600" y="1574800"/>
            <a:ext cx="6248400" cy="419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9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54436942-F9B3-4964-8531-2D5142A51D6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00" y="1701800"/>
            <a:ext cx="5969000" cy="373380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5FFB2762-1BC7-486A-210A-7B3E4B3E231E}"/>
              </a:ext>
            </a:extLst>
          </p:cNvPr>
          <p:cNvSpPr txBox="1"/>
          <p:nvPr/>
        </p:nvSpPr>
        <p:spPr>
          <a:xfrm>
            <a:off x="838200" y="5473700"/>
            <a:ext cx="5715000" cy="1508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8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图中灰点为</a:t>
            </a:r>
            <a:r>
              <a:rPr lang="en-US" altLang="zh-CN" sz="98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</a:t>
            </a:r>
            <a:r>
              <a:rPr lang="zh-CN" altLang="en-US" sz="98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条核心文化载体；绿色星标为核心耦合区，红色三角为沉睡潜力</a:t>
            </a:r>
            <a:r>
              <a:rPr lang="en-US" altLang="zh-CN" sz="98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Top10</a:t>
            </a:r>
            <a:r>
              <a:rPr lang="zh-CN" altLang="en-US" sz="98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C483D92F-C3F3-315F-C487-E62CA158CA61}"/>
              </a:ext>
            </a:extLst>
          </p:cNvPr>
          <p:cNvSpPr/>
          <p:nvPr/>
        </p:nvSpPr>
        <p:spPr>
          <a:xfrm>
            <a:off x="7137400" y="1574800"/>
            <a:ext cx="4191000" cy="1879600"/>
          </a:xfrm>
          <a:prstGeom prst="roundRect">
            <a:avLst>
              <a:gd name="adj" fmla="val 10000"/>
            </a:avLst>
          </a:prstGeom>
          <a:solidFill>
            <a:srgbClr val="F8FCFA"/>
          </a:solidFill>
          <a:ln w="15240">
            <a:solidFill>
              <a:srgbClr val="CFE4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29B634D-8A13-8768-608B-CA9A7476ABF7}"/>
              </a:ext>
            </a:extLst>
          </p:cNvPr>
          <p:cNvSpPr txBox="1"/>
          <p:nvPr/>
        </p:nvSpPr>
        <p:spPr>
          <a:xfrm>
            <a:off x="7416800" y="1790700"/>
            <a:ext cx="2667000" cy="2539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50" b="1">
                <a:solidFill>
                  <a:srgbClr val="228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核心耦合区 </a:t>
            </a:r>
            <a:r>
              <a:rPr lang="en-US" altLang="zh-CN" sz="1650" b="1">
                <a:solidFill>
                  <a:srgbClr val="228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en-US" sz="1650" b="1">
                <a:solidFill>
                  <a:srgbClr val="228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8C674DE-A6F9-C0EB-BC9C-BD9A313820E1}"/>
              </a:ext>
            </a:extLst>
          </p:cNvPr>
          <p:cNvSpPr txBox="1"/>
          <p:nvPr/>
        </p:nvSpPr>
        <p:spPr>
          <a:xfrm>
            <a:off x="7429500" y="2171700"/>
            <a:ext cx="3556000" cy="17697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C1 </a:t>
            </a:r>
            <a:r>
              <a:rPr lang="zh-CN" altLang="en-US" sz="115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云泉仙馆｜西樵｜热度</a:t>
            </a:r>
            <a:r>
              <a:rPr lang="en-US" altLang="zh-CN" sz="115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77.78</a:t>
            </a:r>
            <a:endParaRPr lang="zh-CN" altLang="en-US" sz="1150">
              <a:solidFill>
                <a:srgbClr val="2324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10C8D95-1F16-9542-C8C3-8C6008F04B08}"/>
              </a:ext>
            </a:extLst>
          </p:cNvPr>
          <p:cNvSpPr txBox="1"/>
          <p:nvPr/>
        </p:nvSpPr>
        <p:spPr>
          <a:xfrm>
            <a:off x="7429500" y="2406650"/>
            <a:ext cx="3556000" cy="17697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C2 </a:t>
            </a:r>
            <a:r>
              <a:rPr lang="zh-CN" altLang="en-US" sz="115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西樵山百步云梯｜西樵｜热度</a:t>
            </a:r>
            <a:r>
              <a:rPr lang="en-US" altLang="zh-CN" sz="115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66.51</a:t>
            </a:r>
            <a:endParaRPr lang="zh-CN" altLang="en-US" sz="1150">
              <a:solidFill>
                <a:srgbClr val="2324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B6C4EB4-D59B-F491-2E78-02E1271AF5C3}"/>
              </a:ext>
            </a:extLst>
          </p:cNvPr>
          <p:cNvSpPr txBox="1"/>
          <p:nvPr/>
        </p:nvSpPr>
        <p:spPr>
          <a:xfrm>
            <a:off x="7429500" y="2641600"/>
            <a:ext cx="3556000" cy="17697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C3 </a:t>
            </a:r>
            <a:r>
              <a:rPr lang="zh-CN" altLang="en-US" sz="115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九江吴家大院｜九江｜热度</a:t>
            </a:r>
            <a:r>
              <a:rPr lang="en-US" altLang="zh-CN" sz="115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66.04</a:t>
            </a:r>
            <a:endParaRPr lang="zh-CN" altLang="en-US" sz="1150">
              <a:solidFill>
                <a:srgbClr val="2324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FE21EC4-1DC8-19D6-E9C6-D3B847F121EC}"/>
              </a:ext>
            </a:extLst>
          </p:cNvPr>
          <p:cNvSpPr txBox="1"/>
          <p:nvPr/>
        </p:nvSpPr>
        <p:spPr>
          <a:xfrm>
            <a:off x="7429500" y="2876550"/>
            <a:ext cx="3556000" cy="17697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C4 </a:t>
            </a:r>
            <a:r>
              <a:rPr lang="zh-CN" altLang="en-US" sz="115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西樵山抗战纪念碑｜西樵｜热度</a:t>
            </a:r>
            <a:r>
              <a:rPr lang="en-US" altLang="zh-CN" sz="115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65.58</a:t>
            </a:r>
            <a:endParaRPr lang="zh-CN" altLang="en-US" sz="1150">
              <a:solidFill>
                <a:srgbClr val="2324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1FD34FB-CF04-A2BA-13EA-EAA3856FD397}"/>
              </a:ext>
            </a:extLst>
          </p:cNvPr>
          <p:cNvSpPr txBox="1"/>
          <p:nvPr/>
        </p:nvSpPr>
        <p:spPr>
          <a:xfrm>
            <a:off x="7429500" y="3111500"/>
            <a:ext cx="3556000" cy="17697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C5 </a:t>
            </a:r>
            <a:r>
              <a:rPr lang="zh-CN" altLang="en-US" sz="115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平洲传统玉器制作技艺｜桂城｜热度</a:t>
            </a:r>
            <a:r>
              <a:rPr lang="en-US" altLang="zh-CN" sz="115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56.63</a:t>
            </a:r>
            <a:endParaRPr lang="zh-CN" altLang="en-US" sz="1150">
              <a:solidFill>
                <a:srgbClr val="2324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E6D70326-9A8C-26EF-D92C-1C4E3230A8B5}"/>
              </a:ext>
            </a:extLst>
          </p:cNvPr>
          <p:cNvSpPr/>
          <p:nvPr/>
        </p:nvSpPr>
        <p:spPr>
          <a:xfrm>
            <a:off x="7137400" y="3708400"/>
            <a:ext cx="4191000" cy="2057400"/>
          </a:xfrm>
          <a:prstGeom prst="roundRect">
            <a:avLst>
              <a:gd name="adj" fmla="val 10000"/>
            </a:avLst>
          </a:prstGeom>
          <a:solidFill>
            <a:srgbClr val="FDFAFA"/>
          </a:solidFill>
          <a:ln w="15240">
            <a:solidFill>
              <a:srgbClr val="EBD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9DF0233-AE5C-6A4E-949F-3C77B1D3683B}"/>
              </a:ext>
            </a:extLst>
          </p:cNvPr>
          <p:cNvSpPr txBox="1"/>
          <p:nvPr/>
        </p:nvSpPr>
        <p:spPr>
          <a:xfrm>
            <a:off x="7416800" y="3924300"/>
            <a:ext cx="2667000" cy="2539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50" b="1">
                <a:solidFill>
                  <a:srgbClr val="BF48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沉睡潜力 </a:t>
            </a:r>
            <a:r>
              <a:rPr lang="en-US" altLang="zh-CN" sz="1650" b="1">
                <a:solidFill>
                  <a:srgbClr val="BF484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Top10</a:t>
            </a:r>
            <a:endParaRPr lang="zh-CN" altLang="en-US" sz="1650" b="1">
              <a:solidFill>
                <a:srgbClr val="BF484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4AA7C5C-9C2C-6BE2-4F6D-2D10E72FDD91}"/>
              </a:ext>
            </a:extLst>
          </p:cNvPr>
          <p:cNvSpPr txBox="1"/>
          <p:nvPr/>
        </p:nvSpPr>
        <p:spPr>
          <a:xfrm>
            <a:off x="7429500" y="4318000"/>
            <a:ext cx="1803400" cy="1738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S1 </a:t>
            </a:r>
            <a:r>
              <a:rPr lang="zh-CN" altLang="en-US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松塘村 </a:t>
            </a:r>
            <a:r>
              <a:rPr lang="en-US" altLang="zh-CN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-85.72</a:t>
            </a:r>
            <a:endParaRPr lang="zh-CN" altLang="en-US" sz="1130">
              <a:solidFill>
                <a:srgbClr val="2324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1E59B78-1E04-F768-0ECC-9BD53076789E}"/>
              </a:ext>
            </a:extLst>
          </p:cNvPr>
          <p:cNvSpPr txBox="1"/>
          <p:nvPr/>
        </p:nvSpPr>
        <p:spPr>
          <a:xfrm>
            <a:off x="9296400" y="4318000"/>
            <a:ext cx="1803400" cy="1738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S6 </a:t>
            </a:r>
            <a:r>
              <a:rPr lang="zh-CN" altLang="en-US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棋盘村 </a:t>
            </a:r>
            <a:r>
              <a:rPr lang="en-US" altLang="zh-CN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-72.99</a:t>
            </a:r>
            <a:endParaRPr lang="zh-CN" altLang="en-US" sz="1130">
              <a:solidFill>
                <a:srgbClr val="2324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AA1418D-7425-0452-9B5C-2E081068ED2C}"/>
              </a:ext>
            </a:extLst>
          </p:cNvPr>
          <p:cNvSpPr txBox="1"/>
          <p:nvPr/>
        </p:nvSpPr>
        <p:spPr>
          <a:xfrm>
            <a:off x="7429500" y="4565650"/>
            <a:ext cx="1803400" cy="1738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S2 </a:t>
            </a:r>
            <a:r>
              <a:rPr lang="zh-CN" altLang="en-US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烟桥烟南村 </a:t>
            </a:r>
            <a:r>
              <a:rPr lang="en-US" altLang="zh-CN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-85.16</a:t>
            </a:r>
            <a:endParaRPr lang="zh-CN" altLang="en-US" sz="1130">
              <a:solidFill>
                <a:srgbClr val="2324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941E03A-DC5E-67AA-EB9C-BB4846A475DF}"/>
              </a:ext>
            </a:extLst>
          </p:cNvPr>
          <p:cNvSpPr txBox="1"/>
          <p:nvPr/>
        </p:nvSpPr>
        <p:spPr>
          <a:xfrm>
            <a:off x="9296400" y="4565650"/>
            <a:ext cx="1803400" cy="1738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S7 </a:t>
            </a:r>
            <a:r>
              <a:rPr lang="zh-CN" altLang="en-US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烟桥村 </a:t>
            </a:r>
            <a:r>
              <a:rPr lang="en-US" altLang="zh-CN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-72.79</a:t>
            </a:r>
            <a:endParaRPr lang="zh-CN" altLang="en-US" sz="1130">
              <a:solidFill>
                <a:srgbClr val="2324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06AF2ED5-3A92-3D99-2344-611C9488120F}"/>
              </a:ext>
            </a:extLst>
          </p:cNvPr>
          <p:cNvSpPr txBox="1"/>
          <p:nvPr/>
        </p:nvSpPr>
        <p:spPr>
          <a:xfrm>
            <a:off x="7429500" y="4813300"/>
            <a:ext cx="1803400" cy="1738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S3 </a:t>
            </a:r>
            <a:r>
              <a:rPr lang="zh-CN" altLang="en-US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仙岗社区 </a:t>
            </a:r>
            <a:r>
              <a:rPr lang="en-US" altLang="zh-CN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-80.20</a:t>
            </a:r>
            <a:endParaRPr lang="zh-CN" altLang="en-US" sz="1130">
              <a:solidFill>
                <a:srgbClr val="2324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D46B99F3-E6F1-D63F-C722-21752F631E3B}"/>
              </a:ext>
            </a:extLst>
          </p:cNvPr>
          <p:cNvSpPr txBox="1"/>
          <p:nvPr/>
        </p:nvSpPr>
        <p:spPr>
          <a:xfrm>
            <a:off x="9296400" y="4813300"/>
            <a:ext cx="1803400" cy="1738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S8 </a:t>
            </a:r>
            <a:r>
              <a:rPr lang="zh-CN" altLang="en-US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百西村头村 </a:t>
            </a:r>
            <a:r>
              <a:rPr lang="en-US" altLang="zh-CN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-70.86</a:t>
            </a:r>
            <a:endParaRPr lang="zh-CN" altLang="en-US" sz="1130">
              <a:solidFill>
                <a:srgbClr val="2324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D6721652-2B72-BF8A-49DF-72646E007210}"/>
              </a:ext>
            </a:extLst>
          </p:cNvPr>
          <p:cNvSpPr txBox="1"/>
          <p:nvPr/>
        </p:nvSpPr>
        <p:spPr>
          <a:xfrm>
            <a:off x="7429500" y="5060950"/>
            <a:ext cx="1803400" cy="1738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S4 </a:t>
            </a:r>
            <a:r>
              <a:rPr lang="zh-CN" altLang="en-US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九江传统龙舟 </a:t>
            </a:r>
            <a:r>
              <a:rPr lang="en-US" altLang="zh-CN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-76.55</a:t>
            </a:r>
            <a:endParaRPr lang="zh-CN" altLang="en-US" sz="1130">
              <a:solidFill>
                <a:srgbClr val="2324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F29D6301-A390-9E01-3470-1B5E293CB4AC}"/>
              </a:ext>
            </a:extLst>
          </p:cNvPr>
          <p:cNvSpPr txBox="1"/>
          <p:nvPr/>
        </p:nvSpPr>
        <p:spPr>
          <a:xfrm>
            <a:off x="9296400" y="5060950"/>
            <a:ext cx="1803400" cy="1738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S9 </a:t>
            </a:r>
            <a:r>
              <a:rPr lang="zh-CN" altLang="en-US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仙岗村 </a:t>
            </a:r>
            <a:r>
              <a:rPr lang="en-US" altLang="zh-CN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-68.26</a:t>
            </a:r>
            <a:endParaRPr lang="zh-CN" altLang="en-US" sz="1130">
              <a:solidFill>
                <a:srgbClr val="2324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767E6086-5F8A-9F15-D83C-B629385DC277}"/>
              </a:ext>
            </a:extLst>
          </p:cNvPr>
          <p:cNvSpPr txBox="1"/>
          <p:nvPr/>
        </p:nvSpPr>
        <p:spPr>
          <a:xfrm>
            <a:off x="7429500" y="5308600"/>
            <a:ext cx="1803400" cy="1738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S5 </a:t>
            </a:r>
            <a:r>
              <a:rPr lang="zh-CN" altLang="en-US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南沙棋盘村 </a:t>
            </a:r>
            <a:r>
              <a:rPr lang="en-US" altLang="zh-CN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-72.99</a:t>
            </a:r>
            <a:endParaRPr lang="zh-CN" altLang="en-US" sz="1130">
              <a:solidFill>
                <a:srgbClr val="2324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91F9E2CF-420A-A2EF-79C4-3A1EDED4D711}"/>
              </a:ext>
            </a:extLst>
          </p:cNvPr>
          <p:cNvSpPr txBox="1"/>
          <p:nvPr/>
        </p:nvSpPr>
        <p:spPr>
          <a:xfrm>
            <a:off x="9296400" y="5308600"/>
            <a:ext cx="1803400" cy="1738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S10 </a:t>
            </a:r>
            <a:r>
              <a:rPr lang="zh-CN" altLang="en-US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康有为故居 </a:t>
            </a:r>
            <a:r>
              <a:rPr lang="en-US" altLang="zh-CN" sz="113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-51.76</a:t>
            </a:r>
            <a:endParaRPr lang="zh-CN" altLang="en-US" sz="1130">
              <a:solidFill>
                <a:srgbClr val="2324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033C3A71-F00A-0E3F-47AB-A3B97A4B1A3F}"/>
              </a:ext>
            </a:extLst>
          </p:cNvPr>
          <p:cNvSpPr txBox="1"/>
          <p:nvPr/>
        </p:nvSpPr>
        <p:spPr>
          <a:xfrm>
            <a:off x="889000" y="5994400"/>
            <a:ext cx="97790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50">
                <a:solidFill>
                  <a:srgbClr val="2324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含义：西樵、九江、丹灶的传统村落与非遗线索较集中，但需要补足到达、展示、解说和活动运营。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387F9376-880B-7D9D-A022-1CB972CACFE9}"/>
              </a:ext>
            </a:extLst>
          </p:cNvPr>
          <p:cNvSpPr txBox="1"/>
          <p:nvPr/>
        </p:nvSpPr>
        <p:spPr>
          <a:xfrm>
            <a:off x="889000" y="6451600"/>
            <a:ext cx="6604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数据来源：</a:t>
            </a:r>
            <a:r>
              <a:rPr lang="en-US" altLang="zh-CN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output/tables/indices_anchors.csv</a:t>
            </a:r>
            <a:r>
              <a:rPr lang="zh-CN" altLang="en-US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；地图为本次按论文指标结果重新绘制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DF61AA80-6F5F-3657-795A-FE4D0D8BF1F3}"/>
              </a:ext>
            </a:extLst>
          </p:cNvPr>
          <p:cNvSpPr txBox="1"/>
          <p:nvPr/>
        </p:nvSpPr>
        <p:spPr>
          <a:xfrm>
            <a:off x="8667750" y="6496050"/>
            <a:ext cx="24765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zh-CN" altLang="en-US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孟帅 </a:t>
            </a:r>
            <a:r>
              <a:rPr lang="en-US" altLang="zh-CN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750">
                <a:solidFill>
                  <a:srgbClr val="676D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本科毕业设计答辩</a:t>
            </a: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FBFED0DE-34C6-0FA3-02EB-DF55AA0BF887}"/>
              </a:ext>
            </a:extLst>
          </p:cNvPr>
          <p:cNvSpPr txBox="1"/>
          <p:nvPr/>
        </p:nvSpPr>
        <p:spPr>
          <a:xfrm>
            <a:off x="11353800" y="6457950"/>
            <a:ext cx="5334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95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endParaRPr lang="zh-CN" altLang="en-US" sz="950" b="1">
              <a:solidFill>
                <a:srgbClr val="5C3D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204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</Words>
  <Application>Microsoft Office PowerPoint</Application>
  <PresentationFormat>自定义</PresentationFormat>
  <Paragraphs>25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2026-06-03T12:34:11Z</dcterms:created>
  <dcterms:modified xsi:type="dcterms:W3CDTF">2026-06-03T12:34:11Z</dcterms:modified>
</cp:coreProperties>
</file>