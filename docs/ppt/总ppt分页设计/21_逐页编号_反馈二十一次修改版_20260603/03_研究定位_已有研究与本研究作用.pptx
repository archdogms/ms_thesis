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F971D-BAC0-5D32-1F97-14CCD4B5E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D68247-EF6E-18AA-125C-F70133AF8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980DD-9522-2444-F317-D78BD1317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8024-F006-46B8-B87F-1990140700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5E0A87-6A28-D17A-96AA-EFFD0A0CA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0F2F76-73B5-4ABD-4AEC-179EFDA1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3BBCD-D165-42D6-A141-DBAE83AB9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003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CA115F-43AF-325A-D0C1-715CF48E3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4CD589-2A06-AFB5-73C4-495E0E4DA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E9E58E-5C47-2A28-7C8E-A376D8F62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8024-F006-46B8-B87F-1990140700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EBA151-6B21-3130-28C6-8CAB3F3A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09B577-9246-C567-7DC8-B74FCC1A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3BBCD-D165-42D6-A141-DBAE83AB9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060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5310C9-26F1-CA40-DEDB-5C9E49F9E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49EF42-5E7F-4686-DF7F-31725D9FB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33A869-F53A-DDF3-CF03-23BE6FC26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8024-F006-46B8-B87F-1990140700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3D1EA5-C236-A4C0-F200-B8263227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8F2EC9-74F0-DB5F-2570-1EB569C5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3BBCD-D165-42D6-A141-DBAE83AB9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483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3F0633-D2CD-BEB0-9FF9-09B0F017E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D17F9A-2E3D-DFB3-80C2-28D428619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5D45D5-D223-491E-E5F1-C971AACA6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856CF4-E19C-1A6E-45EC-FED4CC4AF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8024-F006-46B8-B87F-1990140700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40313A-C106-9AA4-DF96-C5C42C5A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1C723C-9963-1A80-CFB9-86A33CAFC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3BBCD-D165-42D6-A141-DBAE83AB9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005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408BBA-C0FC-D2E9-BF56-48EBF4E21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A3857B-DF3B-5DD5-A488-96B2D1706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63A5BA-683A-068F-0534-7A12A1A2C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A15C49A-995B-F504-9020-FFB92E7E8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E4A1A4-9F5C-7F4C-7397-B82D4C7BF0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1A6C6E-3E68-6040-E943-6C72D1DAC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8024-F006-46B8-B87F-1990140700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C9053C-198D-A1EA-3A07-EC23D1E38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460347-FB2E-B573-6F01-03C4DF12E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3BBCD-D165-42D6-A141-DBAE83AB9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011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6588C8-BA9B-B5DD-1595-E2E49138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B3CC18-8DB9-FF94-2905-6DEAB9D0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8024-F006-46B8-B87F-1990140700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EA97EC-7421-9B8B-80A5-FCD817FB0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AF0FE7-C667-929F-83C7-3A82839A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3BBCD-D165-42D6-A141-DBAE83AB9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857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09AEFCF-24BE-927E-B353-3C6228CCA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8024-F006-46B8-B87F-1990140700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B09ACD-CE6E-1009-FA9C-E3EAB45C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3E1A0E-1309-284A-8DD3-D10F2FC7D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3BBCD-D165-42D6-A141-DBAE83AB9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033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3BF53D-DBEA-F3A2-18AA-E98FFB597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61BC7D-BA3F-5BA3-CFFE-D119ADC38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0798E2-F599-EAFC-DA8B-1A6AAE393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0E78B1-D785-989E-D8D0-93C6BB22D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8024-F006-46B8-B87F-1990140700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E89768-0F30-A911-6E7C-7A0E8B4E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2FBF1D-70B6-2654-3FDD-9CF483ADE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3BBCD-D165-42D6-A141-DBAE83AB9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740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FA5A9-0F13-D18B-556D-E1B30340C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0BCA539-7DF5-24A4-FA30-6C91961AA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B8FA5D-E31A-E745-ED26-B0DCA98FB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9FF1A3-189B-2673-C3BC-1ACF321C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8024-F006-46B8-B87F-1990140700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625ACA-817A-E685-EC24-BE23F6E40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6858F8-47A4-464F-C0DB-742E61E7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3BBCD-D165-42D6-A141-DBAE83AB9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019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A307B-B560-98E9-1242-FD4F5EA92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102AD3-7E34-2F8E-C7E5-B894FFDBA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B29D3A-18A5-36D8-96DD-88E64139F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8024-F006-46B8-B87F-1990140700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15420C-5385-6F78-953F-9CE6C805A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F43007-0DBB-AEF9-FD59-8CB108DB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3BBCD-D165-42D6-A141-DBAE83AB9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579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88206F7-C784-06CC-C144-C1605DAA0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642839-F613-5135-9A43-B4CDE4AB4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E9637A-F8DB-AF1C-6F8E-BDB46AF92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8024-F006-46B8-B87F-1990140700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5225CA-0D4E-291A-ED90-5BCFD8DB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683EE9-ACE5-12B6-3AF0-53F3661F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3BBCD-D165-42D6-A141-DBAE83AB9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326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8E06FC-8FE2-3A8D-9A15-40996D387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2A1C18-231D-2B6A-3995-8C83EBCB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EB15DA-91C3-620D-DA04-EF2C1C1CE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58024-F006-46B8-B87F-19901407004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CBF3D-2A11-34BD-4BA4-D0623AD81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007383-CA44-57A7-33CF-B15F46015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3BBCD-D165-42D6-A141-DBAE83AB9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969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F8DF3B-0A2D-2900-E361-0080999CCB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A20C83-77E2-6C0E-42B4-3415AE1FC870}"/>
              </a:ext>
            </a:extLst>
          </p:cNvPr>
          <p:cNvSpPr txBox="1"/>
          <p:nvPr/>
        </p:nvSpPr>
        <p:spPr>
          <a:xfrm>
            <a:off x="571500" y="177800"/>
            <a:ext cx="685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sz="140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E8B27E-E56D-6F9F-3A9A-A34C5C72EF61}"/>
              </a:ext>
            </a:extLst>
          </p:cNvPr>
          <p:cNvSpPr txBox="1"/>
          <p:nvPr/>
        </p:nvSpPr>
        <p:spPr>
          <a:xfrm>
            <a:off x="590550" y="55245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研究定位：已有研究与本研究作用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C27FA7-A4C3-93FF-0739-C97F5A276CC6}"/>
              </a:ext>
            </a:extLst>
          </p:cNvPr>
          <p:cNvSpPr txBox="1"/>
          <p:nvPr/>
        </p:nvSpPr>
        <p:spPr>
          <a:xfrm>
            <a:off x="889000" y="1168400"/>
            <a:ext cx="10414000" cy="2385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从文旅融合评价、旅游空间大数据与遗产活化研究出发，本研究把问题收束到南海区内部的文化</a:t>
            </a:r>
            <a:r>
              <a:rPr lang="en-US" altLang="zh-CN" sz="15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5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旅游错位识别。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DE4CF64-7C9B-841F-959B-976703289901}"/>
              </a:ext>
            </a:extLst>
          </p:cNvPr>
          <p:cNvSpPr/>
          <p:nvPr/>
        </p:nvSpPr>
        <p:spPr>
          <a:xfrm>
            <a:off x="889000" y="1905000"/>
            <a:ext cx="3111500" cy="2768600"/>
          </a:xfrm>
          <a:prstGeom prst="roundRect">
            <a:avLst>
              <a:gd name="adj" fmla="val 10000"/>
            </a:avLst>
          </a:prstGeom>
          <a:solidFill>
            <a:srgbClr val="F9FAFC"/>
          </a:solidFill>
          <a:ln w="15240">
            <a:solidFill>
              <a:srgbClr val="D9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5A33A31-F8C0-08FA-C84F-C820BC720818}"/>
              </a:ext>
            </a:extLst>
          </p:cNvPr>
          <p:cNvSpPr/>
          <p:nvPr/>
        </p:nvSpPr>
        <p:spPr>
          <a:xfrm>
            <a:off x="1117600" y="2146300"/>
            <a:ext cx="558800" cy="558800"/>
          </a:xfrm>
          <a:prstGeom prst="ellipse">
            <a:avLst/>
          </a:prstGeom>
          <a:solidFill>
            <a:srgbClr val="5C3D85"/>
          </a:solidFill>
          <a:ln>
            <a:solidFill>
              <a:srgbClr val="5C3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DDB0C4-0D13-86B9-9E89-7B5812806C2C}"/>
              </a:ext>
            </a:extLst>
          </p:cNvPr>
          <p:cNvSpPr txBox="1"/>
          <p:nvPr/>
        </p:nvSpPr>
        <p:spPr>
          <a:xfrm>
            <a:off x="1219200" y="22860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464522-E603-BF13-0703-4E67448FDD74}"/>
              </a:ext>
            </a:extLst>
          </p:cNvPr>
          <p:cNvSpPr txBox="1"/>
          <p:nvPr/>
        </p:nvSpPr>
        <p:spPr>
          <a:xfrm>
            <a:off x="1879600" y="2159000"/>
            <a:ext cx="1651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5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已有研究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F32541-AB4D-2599-0282-DB8C52F0D1F6}"/>
              </a:ext>
            </a:extLst>
          </p:cNvPr>
          <p:cNvSpPr txBox="1"/>
          <p:nvPr/>
        </p:nvSpPr>
        <p:spPr>
          <a:xfrm>
            <a:off x="1168400" y="2844800"/>
            <a:ext cx="2552700" cy="113877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文旅融合研究多从区域协调度、产业耦合和资源开发效率展开。</a:t>
            </a:r>
            <a:r>
              <a:rPr lang="en-US" altLang="zh-CN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、网络评论与知识图谱方法，为识别旅游供给和文化线索提供了数据基础。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9683C74-5D4D-F4AE-50BB-0F76B1F62E0F}"/>
              </a:ext>
            </a:extLst>
          </p:cNvPr>
          <p:cNvSpPr/>
          <p:nvPr/>
        </p:nvSpPr>
        <p:spPr>
          <a:xfrm>
            <a:off x="4508500" y="1905000"/>
            <a:ext cx="3111500" cy="2768600"/>
          </a:xfrm>
          <a:prstGeom prst="roundRect">
            <a:avLst>
              <a:gd name="adj" fmla="val 10000"/>
            </a:avLst>
          </a:prstGeom>
          <a:solidFill>
            <a:srgbClr val="F9FAFC"/>
          </a:solidFill>
          <a:ln w="15240">
            <a:solidFill>
              <a:srgbClr val="D9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2110F6C-61F6-4BAE-7EAF-2ED44F5DE831}"/>
              </a:ext>
            </a:extLst>
          </p:cNvPr>
          <p:cNvSpPr/>
          <p:nvPr/>
        </p:nvSpPr>
        <p:spPr>
          <a:xfrm>
            <a:off x="4737100" y="2146300"/>
            <a:ext cx="558800" cy="558800"/>
          </a:xfrm>
          <a:prstGeom prst="ellipse">
            <a:avLst/>
          </a:prstGeom>
          <a:solidFill>
            <a:srgbClr val="BC8328"/>
          </a:solidFill>
          <a:ln>
            <a:solidFill>
              <a:srgbClr val="BC83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F3EC78-E48E-29E4-85A4-9691FC7CF2DD}"/>
              </a:ext>
            </a:extLst>
          </p:cNvPr>
          <p:cNvSpPr txBox="1"/>
          <p:nvPr/>
        </p:nvSpPr>
        <p:spPr>
          <a:xfrm>
            <a:off x="4838700" y="22860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E21C71C-9776-CE71-104C-D095EEE75A17}"/>
              </a:ext>
            </a:extLst>
          </p:cNvPr>
          <p:cNvSpPr txBox="1"/>
          <p:nvPr/>
        </p:nvSpPr>
        <p:spPr>
          <a:xfrm>
            <a:off x="5499100" y="2159000"/>
            <a:ext cx="1651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5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主要不足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294C76-2552-8E2E-1918-6031FD9A635F}"/>
              </a:ext>
            </a:extLst>
          </p:cNvPr>
          <p:cNvSpPr txBox="1"/>
          <p:nvPr/>
        </p:nvSpPr>
        <p:spPr>
          <a:xfrm>
            <a:off x="4787900" y="2844800"/>
            <a:ext cx="2552700" cy="113877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现有研究常停留在省域、城市群或宏观评价层面，难以解释区县内部哪些文化资源被游客感知、哪些仍停留在文本或名录中。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5E316D3-1187-2222-EE51-E16F9E87A7E8}"/>
              </a:ext>
            </a:extLst>
          </p:cNvPr>
          <p:cNvSpPr/>
          <p:nvPr/>
        </p:nvSpPr>
        <p:spPr>
          <a:xfrm>
            <a:off x="8128000" y="1905000"/>
            <a:ext cx="3111500" cy="2768600"/>
          </a:xfrm>
          <a:prstGeom prst="roundRect">
            <a:avLst>
              <a:gd name="adj" fmla="val 10000"/>
            </a:avLst>
          </a:prstGeom>
          <a:solidFill>
            <a:srgbClr val="F9FAFC"/>
          </a:solidFill>
          <a:ln w="15240">
            <a:solidFill>
              <a:srgbClr val="D9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3A6E14-5515-2F99-0BDD-7A993C8B5B4F}"/>
              </a:ext>
            </a:extLst>
          </p:cNvPr>
          <p:cNvSpPr/>
          <p:nvPr/>
        </p:nvSpPr>
        <p:spPr>
          <a:xfrm>
            <a:off x="8356600" y="2146300"/>
            <a:ext cx="558800" cy="558800"/>
          </a:xfrm>
          <a:prstGeom prst="ellipse">
            <a:avLst/>
          </a:prstGeom>
          <a:solidFill>
            <a:srgbClr val="228F78"/>
          </a:solidFill>
          <a:ln>
            <a:solidFill>
              <a:srgbClr val="228F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50B4DA7-C952-2C29-F330-8B411D9FF8EB}"/>
              </a:ext>
            </a:extLst>
          </p:cNvPr>
          <p:cNvSpPr txBox="1"/>
          <p:nvPr/>
        </p:nvSpPr>
        <p:spPr>
          <a:xfrm>
            <a:off x="8458200" y="22860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98F0498-578F-58C5-EEF4-F9F34973DC2C}"/>
              </a:ext>
            </a:extLst>
          </p:cNvPr>
          <p:cNvSpPr txBox="1"/>
          <p:nvPr/>
        </p:nvSpPr>
        <p:spPr>
          <a:xfrm>
            <a:off x="9118600" y="2159000"/>
            <a:ext cx="1651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5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本研究切入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9E5D542-2C73-E375-956F-581F0509788F}"/>
              </a:ext>
            </a:extLst>
          </p:cNvPr>
          <p:cNvSpPr txBox="1"/>
          <p:nvPr/>
        </p:nvSpPr>
        <p:spPr>
          <a:xfrm>
            <a:off x="8407400" y="2844800"/>
            <a:ext cx="2552700" cy="113877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以佛山市南海区七镇街为对象，将典籍文献中的文化记忆、景区</a:t>
            </a:r>
            <a:r>
              <a:rPr lang="en-US" altLang="zh-CN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/POI</a:t>
            </a:r>
            <a:r>
              <a:rPr lang="zh-CN" altLang="en-US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与评论热度放到同一空间口径，识别错位类型和转化重点。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6B93A67-6209-0ACE-5189-543D43B12523}"/>
              </a:ext>
            </a:extLst>
          </p:cNvPr>
          <p:cNvCxnSpPr/>
          <p:nvPr/>
        </p:nvCxnSpPr>
        <p:spPr>
          <a:xfrm>
            <a:off x="4013200" y="3263900"/>
            <a:ext cx="457200" cy="0"/>
          </a:xfrm>
          <a:prstGeom prst="line">
            <a:avLst/>
          </a:prstGeom>
          <a:ln w="19050">
            <a:solidFill>
              <a:srgbClr val="D9DD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901AC91-C545-AB44-0984-D2C2A853E13D}"/>
              </a:ext>
            </a:extLst>
          </p:cNvPr>
          <p:cNvCxnSpPr/>
          <p:nvPr/>
        </p:nvCxnSpPr>
        <p:spPr>
          <a:xfrm>
            <a:off x="7632700" y="3263900"/>
            <a:ext cx="457200" cy="0"/>
          </a:xfrm>
          <a:prstGeom prst="line">
            <a:avLst/>
          </a:prstGeom>
          <a:ln w="19050">
            <a:solidFill>
              <a:srgbClr val="D9DD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3AEF8E0-129E-218F-2DCF-A61B6EE42410}"/>
              </a:ext>
            </a:extLst>
          </p:cNvPr>
          <p:cNvSpPr/>
          <p:nvPr/>
        </p:nvSpPr>
        <p:spPr>
          <a:xfrm>
            <a:off x="1117600" y="5016500"/>
            <a:ext cx="9956800" cy="889000"/>
          </a:xfrm>
          <a:prstGeom prst="roundRect">
            <a:avLst>
              <a:gd name="adj" fmla="val 10000"/>
            </a:avLst>
          </a:prstGeom>
          <a:solidFill>
            <a:srgbClr val="FAF8FD"/>
          </a:solidFill>
          <a:ln w="15240">
            <a:solidFill>
              <a:srgbClr val="E3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3F9F3EA-99C3-DE77-FF88-7AEA1B97E4E6}"/>
              </a:ext>
            </a:extLst>
          </p:cNvPr>
          <p:cNvSpPr txBox="1"/>
          <p:nvPr/>
        </p:nvSpPr>
        <p:spPr>
          <a:xfrm>
            <a:off x="1422400" y="5245100"/>
            <a:ext cx="12700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研究作用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591FDE9-1867-7AA2-0271-CE2AB42A2AAF}"/>
              </a:ext>
            </a:extLst>
          </p:cNvPr>
          <p:cNvSpPr txBox="1"/>
          <p:nvPr/>
        </p:nvSpPr>
        <p:spPr>
          <a:xfrm>
            <a:off x="2743200" y="5194300"/>
            <a:ext cx="7874000" cy="4678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2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不是再做一个泛泛的文旅融合排名，而是回答：文化资源在哪里、游客实际到哪里、两者在哪些载体上耦合或错位，从而为景区更新、村落活化和游线组织提供依据。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BA8C29D-6364-9DB5-1158-1EA5A687DB5A}"/>
              </a:ext>
            </a:extLst>
          </p:cNvPr>
          <p:cNvSpPr txBox="1"/>
          <p:nvPr/>
        </p:nvSpPr>
        <p:spPr>
          <a:xfrm>
            <a:off x="889000" y="6451600"/>
            <a:ext cx="5461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论文依据：第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 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2.1—2.5 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文献综述与研究述评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02AB8DF-2935-388C-C99D-056DDD982F88}"/>
              </a:ext>
            </a:extLst>
          </p:cNvPr>
          <p:cNvSpPr txBox="1"/>
          <p:nvPr/>
        </p:nvSpPr>
        <p:spPr>
          <a:xfrm>
            <a:off x="8667750" y="6496050"/>
            <a:ext cx="24765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孟帅 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本科毕业设计答辩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7484715-A711-E57B-A05C-3978FC72AAA2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7421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自定义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2026-06-03T12:34:08Z</dcterms:created>
  <dcterms:modified xsi:type="dcterms:W3CDTF">2026-06-03T12:34:08Z</dcterms:modified>
</cp:coreProperties>
</file>