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03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章、第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章；开题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/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中期问题收束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三者关系与指标</a:t>
            </a:r>
            <a:endParaRPr sz="3000" b="1" dirty="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研究问题与逻辑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033EBB-1FBB-9467-1ADB-98699178DF93}"/>
              </a:ext>
            </a:extLst>
          </p:cNvPr>
          <p:cNvSpPr txBox="1"/>
          <p:nvPr/>
        </p:nvSpPr>
        <p:spPr>
          <a:xfrm>
            <a:off x="889000" y="11938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本页回答封面副标题：把文化记忆、空间载体与游客体验转为可计算、可比较的错位关系。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A431F1F-A388-A4EC-44E1-0D9401791DEC}"/>
              </a:ext>
            </a:extLst>
          </p:cNvPr>
          <p:cNvCxnSpPr/>
          <p:nvPr/>
        </p:nvCxnSpPr>
        <p:spPr>
          <a:xfrm>
            <a:off x="889000" y="16764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3A8655F-9AC0-547D-DAA6-C4E540E4EE32}"/>
              </a:ext>
            </a:extLst>
          </p:cNvPr>
          <p:cNvSpPr/>
          <p:nvPr/>
        </p:nvSpPr>
        <p:spPr>
          <a:xfrm>
            <a:off x="8890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95059CA-CA0D-BD14-DB60-1D24ED1DFFD1}"/>
              </a:ext>
            </a:extLst>
          </p:cNvPr>
          <p:cNvSpPr/>
          <p:nvPr/>
        </p:nvSpPr>
        <p:spPr>
          <a:xfrm>
            <a:off x="889000" y="1955800"/>
            <a:ext cx="2921000" cy="63500"/>
          </a:xfrm>
          <a:prstGeom prst="rect">
            <a:avLst/>
          </a:prstGeom>
          <a:solidFill>
            <a:srgbClr val="663D87"/>
          </a:solidFill>
          <a:ln w="12700" cap="flat" cmpd="sng" algn="ctr">
            <a:solidFill>
              <a:srgbClr val="663D87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BEDE26D-5D5C-0242-B2DA-BB509A8F9643}"/>
              </a:ext>
            </a:extLst>
          </p:cNvPr>
          <p:cNvSpPr txBox="1"/>
          <p:nvPr/>
        </p:nvSpPr>
        <p:spPr>
          <a:xfrm>
            <a:off x="10414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D7DFDD3-A94A-8BA7-DD35-C85626D26ED3}"/>
              </a:ext>
            </a:extLst>
          </p:cNvPr>
          <p:cNvSpPr txBox="1"/>
          <p:nvPr/>
        </p:nvSpPr>
        <p:spPr>
          <a:xfrm>
            <a:off x="1041400" y="2590800"/>
            <a:ext cx="26162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典籍文献、地方志、非遗与历史人物关系，形成文化厚度。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1A4289E-9B29-6318-6BD4-20C21836482D}"/>
              </a:ext>
            </a:extLst>
          </p:cNvPr>
          <p:cNvSpPr/>
          <p:nvPr/>
        </p:nvSpPr>
        <p:spPr>
          <a:xfrm>
            <a:off x="46355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B88571-F21F-A420-385D-7489B6EBE21B}"/>
              </a:ext>
            </a:extLst>
          </p:cNvPr>
          <p:cNvSpPr/>
          <p:nvPr/>
        </p:nvSpPr>
        <p:spPr>
          <a:xfrm>
            <a:off x="4635500" y="1955800"/>
            <a:ext cx="2921000" cy="63500"/>
          </a:xfrm>
          <a:prstGeom prst="rect">
            <a:avLst/>
          </a:prstGeom>
          <a:solidFill>
            <a:srgbClr val="227E8E"/>
          </a:solidFill>
          <a:ln w="12700" cap="flat" cmpd="sng" algn="ctr">
            <a:solidFill>
              <a:srgbClr val="227E8E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3EEAD0F-AF6C-5896-34DA-9BA34A289FDD}"/>
              </a:ext>
            </a:extLst>
          </p:cNvPr>
          <p:cNvSpPr txBox="1"/>
          <p:nvPr/>
        </p:nvSpPr>
        <p:spPr>
          <a:xfrm>
            <a:off x="47879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空间载体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4F05D7F-8382-AD2C-24E1-6B77EC1B2C95}"/>
              </a:ext>
            </a:extLst>
          </p:cNvPr>
          <p:cNvSpPr txBox="1"/>
          <p:nvPr/>
        </p:nvSpPr>
        <p:spPr>
          <a:xfrm>
            <a:off x="4787900" y="2590800"/>
            <a:ext cx="2616200" cy="72584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条核心文化载体作为中间锚点，统一坐标并进入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网格。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5E4FD1C-01D5-A465-2EAC-879710B49807}"/>
              </a:ext>
            </a:extLst>
          </p:cNvPr>
          <p:cNvSpPr/>
          <p:nvPr/>
        </p:nvSpPr>
        <p:spPr>
          <a:xfrm>
            <a:off x="83820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8A397B7-23EF-1835-FA6F-1A874BC9D133}"/>
              </a:ext>
            </a:extLst>
          </p:cNvPr>
          <p:cNvSpPr/>
          <p:nvPr/>
        </p:nvSpPr>
        <p:spPr>
          <a:xfrm>
            <a:off x="8382000" y="1955800"/>
            <a:ext cx="2921000" cy="63500"/>
          </a:xfrm>
          <a:prstGeom prst="rect">
            <a:avLst/>
          </a:prstGeom>
          <a:solidFill>
            <a:srgbClr val="BE892C"/>
          </a:solidFill>
          <a:ln w="12700" cap="flat" cmpd="sng" algn="ctr">
            <a:solidFill>
              <a:srgbClr val="BE892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B5EC327-B710-12FF-EC96-563BBD9BD21E}"/>
              </a:ext>
            </a:extLst>
          </p:cNvPr>
          <p:cNvSpPr txBox="1"/>
          <p:nvPr/>
        </p:nvSpPr>
        <p:spPr>
          <a:xfrm>
            <a:off x="85344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游客体验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6F366D4-3384-5158-6D30-ADCEF9F9A89F}"/>
              </a:ext>
            </a:extLst>
          </p:cNvPr>
          <p:cNvSpPr txBox="1"/>
          <p:nvPr/>
        </p:nvSpPr>
        <p:spPr>
          <a:xfrm>
            <a:off x="8534400" y="2590800"/>
            <a:ext cx="26162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、评分、评论量与评论语义，反映游客可感知的旅游热度。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FD838CA-A3CE-4C9A-3EE1-1874E2188841}"/>
              </a:ext>
            </a:extLst>
          </p:cNvPr>
          <p:cNvCxnSpPr/>
          <p:nvPr/>
        </p:nvCxnSpPr>
        <p:spPr>
          <a:xfrm>
            <a:off x="3835400" y="2921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11DE41B-5849-845D-E130-CF7331E59CEA}"/>
              </a:ext>
            </a:extLst>
          </p:cNvPr>
          <p:cNvCxnSpPr/>
          <p:nvPr/>
        </p:nvCxnSpPr>
        <p:spPr>
          <a:xfrm>
            <a:off x="7581900" y="2921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FF1AE22-406A-53C1-A96D-438D42CC5FF5}"/>
              </a:ext>
            </a:extLst>
          </p:cNvPr>
          <p:cNvSpPr/>
          <p:nvPr/>
        </p:nvSpPr>
        <p:spPr>
          <a:xfrm>
            <a:off x="889000" y="4279900"/>
            <a:ext cx="10414000" cy="1143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7CFDA52-14BE-D1C0-839C-25C82E70523C}"/>
              </a:ext>
            </a:extLst>
          </p:cNvPr>
          <p:cNvSpPr txBox="1"/>
          <p:nvPr/>
        </p:nvSpPr>
        <p:spPr>
          <a:xfrm>
            <a:off x="1168400" y="4521200"/>
            <a:ext cx="1905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四个指标承接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2A319E5-BD16-3AD0-5897-E50DD711AE42}"/>
              </a:ext>
            </a:extLst>
          </p:cNvPr>
          <p:cNvSpPr txBox="1"/>
          <p:nvPr/>
        </p:nvSpPr>
        <p:spPr>
          <a:xfrm>
            <a:off x="31115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A266695-F912-DF7B-0F4C-B77A29DD0EB1}"/>
              </a:ext>
            </a:extLst>
          </p:cNvPr>
          <p:cNvSpPr txBox="1"/>
          <p:nvPr/>
        </p:nvSpPr>
        <p:spPr>
          <a:xfrm>
            <a:off x="52070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92F02D7-E72F-C21D-023B-057403272FFD}"/>
              </a:ext>
            </a:extLst>
          </p:cNvPr>
          <p:cNvSpPr txBox="1"/>
          <p:nvPr/>
        </p:nvSpPr>
        <p:spPr>
          <a:xfrm>
            <a:off x="73025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4A420A3-3499-1F2C-EFBD-5010627B19A2}"/>
              </a:ext>
            </a:extLst>
          </p:cNvPr>
          <p:cNvSpPr txBox="1"/>
          <p:nvPr/>
        </p:nvSpPr>
        <p:spPr>
          <a:xfrm>
            <a:off x="9398000" y="4495800"/>
            <a:ext cx="1524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4F850BB-D83D-9698-0588-E6B98B652426}"/>
              </a:ext>
            </a:extLst>
          </p:cNvPr>
          <p:cNvSpPr txBox="1"/>
          <p:nvPr/>
        </p:nvSpPr>
        <p:spPr>
          <a:xfrm>
            <a:off x="1168400" y="5029200"/>
            <a:ext cx="96520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研究重点不是简单比较哪里热，而是判断文化基础能否经由空间载体转化为游客体验。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162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2026-06-03T09:17:25Z</dcterms:modified>
</cp:coreProperties>
</file>