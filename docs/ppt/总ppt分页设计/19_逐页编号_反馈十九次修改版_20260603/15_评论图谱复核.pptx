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1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CB7A394-5719-41DA-A5E4-0E287BF8CA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399197-8E39-4A30-ADA0-6A834689D0A8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6A4246D-0CED-413C-A743-135DA0FE2DA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6.6.2 </a:t>
            </a: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6.10</a:t>
            </a: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、表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6.10</a:t>
            </a:r>
            <a:endParaRPr sz="700">
              <a:solidFill>
                <a:srgbClr val="524C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08B182-88EE-4E58-9467-1F56278D158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评论图谱复核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015896-5A81-4782-B65A-B149E8645EA1}"/>
              </a:ext>
            </a:extLst>
          </p:cNvPr>
          <p:cNvSpPr>
            <a:spLocks noGrp="1"/>
          </p:cNvSpPr>
          <p:nvPr/>
        </p:nvSpPr>
        <p:spPr>
          <a:xfrm>
            <a:off x="9010650" y="21717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9D931F8-98DE-4E84-BB10-ABF076D51571}"/>
              </a:ext>
            </a:extLst>
          </p:cNvPr>
          <p:cNvSpPr>
            <a:spLocks noGrp="1"/>
          </p:cNvSpPr>
          <p:nvPr/>
        </p:nvSpPr>
        <p:spPr>
          <a:xfrm>
            <a:off x="9010650" y="255270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327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02DD86E-249A-4640-B4D6-F17743CF25F3}"/>
              </a:ext>
            </a:extLst>
          </p:cNvPr>
          <p:cNvSpPr>
            <a:spLocks noGrp="1"/>
          </p:cNvSpPr>
          <p:nvPr/>
        </p:nvSpPr>
        <p:spPr>
          <a:xfrm>
            <a:off x="9010650" y="299085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评论实体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262E5DC-F874-4608-A8CA-55BC8E9390C8}"/>
              </a:ext>
            </a:extLst>
          </p:cNvPr>
          <p:cNvSpPr>
            <a:spLocks noGrp="1"/>
          </p:cNvSpPr>
          <p:nvPr/>
        </p:nvSpPr>
        <p:spPr>
          <a:xfrm>
            <a:off x="9010650" y="36576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C21B621-788B-4F18-8236-BDD9566EA49A}"/>
              </a:ext>
            </a:extLst>
          </p:cNvPr>
          <p:cNvSpPr>
            <a:spLocks noGrp="1"/>
          </p:cNvSpPr>
          <p:nvPr/>
        </p:nvSpPr>
        <p:spPr>
          <a:xfrm>
            <a:off x="9010650" y="403860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9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0EA6F80-753F-4D3A-BE63-F4543CC7863A}"/>
              </a:ext>
            </a:extLst>
          </p:cNvPr>
          <p:cNvSpPr>
            <a:spLocks noGrp="1"/>
          </p:cNvSpPr>
          <p:nvPr/>
        </p:nvSpPr>
        <p:spPr>
          <a:xfrm>
            <a:off x="9010650" y="447675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高识别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3A0B9EA-C76A-42EE-A20E-E7495036A8AB}"/>
              </a:ext>
            </a:extLst>
          </p:cNvPr>
          <p:cNvSpPr>
            <a:spLocks noGrp="1"/>
          </p:cNvSpPr>
          <p:nvPr/>
        </p:nvSpPr>
        <p:spPr>
          <a:xfrm>
            <a:off x="9010650" y="51435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CFC3DF36-C4B5-4EAE-94B4-6CD9C6733CFC}"/>
              </a:ext>
            </a:extLst>
          </p:cNvPr>
          <p:cNvSpPr>
            <a:spLocks noGrp="1"/>
          </p:cNvSpPr>
          <p:nvPr/>
        </p:nvSpPr>
        <p:spPr>
          <a:xfrm>
            <a:off x="9010650" y="5657850"/>
            <a:ext cx="24765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总图看整体结构，子图看具体景点的文化感知线索；评论量不能直接替代文化识别。</a:t>
            </a:r>
            <a:endParaRPr sz="1100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CAF7F5-D709-4855-53B7-34344B0C1BF0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错位识别与空间结果</a:t>
            </a:r>
          </a:p>
        </p:txBody>
      </p:sp>
      <p:sp>
        <p:nvSpPr>
          <p:cNvPr id="4" name="Round9 Slide16 CoreClaim">
            <a:extLst>
              <a:ext uri="{FF2B5EF4-FFF2-40B4-BE49-F238E27FC236}">
                <a16:creationId xmlns:a16="http://schemas.microsoft.com/office/drawing/2014/main" id="{87159F43-43EB-BA83-CC5F-A7B7B5DEA23F}"/>
              </a:ext>
            </a:extLst>
          </p:cNvPr>
          <p:cNvSpPr txBox="1"/>
          <p:nvPr/>
        </p:nvSpPr>
        <p:spPr>
          <a:xfrm>
            <a:off x="889000" y="1147836"/>
            <a:ext cx="10160000" cy="4370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评论图谱回答游客实际感知到了什么。</a:t>
            </a:r>
          </a:p>
          <a:p>
            <a:r>
              <a:rPr lang="en-US" altLang="zh-CN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20" dirty="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子图进一步呈现文化关键词如何落到具体景点。</a:t>
            </a:r>
          </a:p>
        </p:txBody>
      </p:sp>
      <p:cxnSp>
        <p:nvCxnSpPr>
          <p:cNvPr id="32" name="Round9 Slide16 CoreClaim Rule">
            <a:extLst>
              <a:ext uri="{FF2B5EF4-FFF2-40B4-BE49-F238E27FC236}">
                <a16:creationId xmlns:a16="http://schemas.microsoft.com/office/drawing/2014/main" id="{295EF48F-6002-8751-4722-8124496D462C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FA72B32C-85CF-4BCE-9FB4-267D091E76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E3C04A3-08AF-4EC1-9DEE-74D60038856A}"/>
              </a:ext>
            </a:extLst>
          </p:cNvPr>
          <p:cNvSpPr>
            <a:spLocks noGrp="1"/>
          </p:cNvSpPr>
          <p:nvPr/>
        </p:nvSpPr>
        <p:spPr>
          <a:xfrm>
            <a:off x="9010650" y="22479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严格匹配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B5D3C7B-8410-4573-8087-6D2E19FE311F}"/>
              </a:ext>
            </a:extLst>
          </p:cNvPr>
          <p:cNvSpPr>
            <a:spLocks noGrp="1"/>
          </p:cNvSpPr>
          <p:nvPr/>
        </p:nvSpPr>
        <p:spPr>
          <a:xfrm>
            <a:off x="9010650" y="32956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481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454F34-149C-4866-B51D-DAC71871CEA1}"/>
              </a:ext>
            </a:extLst>
          </p:cNvPr>
          <p:cNvSpPr>
            <a:spLocks noGrp="1"/>
          </p:cNvSpPr>
          <p:nvPr/>
        </p:nvSpPr>
        <p:spPr>
          <a:xfrm>
            <a:off x="9010650" y="44005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97D6A471-00C4-43C5-AEF9-C936790BDDF1}"/>
              </a:ext>
            </a:extLst>
          </p:cNvPr>
          <p:cNvSpPr>
            <a:spLocks noGrp="1"/>
          </p:cNvSpPr>
          <p:nvPr/>
        </p:nvSpPr>
        <p:spPr>
          <a:xfrm>
            <a:off x="9010650" y="52197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未形成明确文化识别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CA0ADDE-2D23-42D5-82A7-A22D8369E5E7}"/>
              </a:ext>
            </a:extLst>
          </p:cNvPr>
          <p:cNvSpPr>
            <a:spLocks noGrp="1"/>
          </p:cNvSpPr>
          <p:nvPr/>
        </p:nvSpPr>
        <p:spPr>
          <a:xfrm>
            <a:off x="9010650" y="18097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117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1AC26FA-6D80-4913-89FD-E250F1E325BC}"/>
              </a:ext>
            </a:extLst>
          </p:cNvPr>
          <p:cNvSpPr>
            <a:spLocks noGrp="1"/>
          </p:cNvSpPr>
          <p:nvPr/>
        </p:nvSpPr>
        <p:spPr>
          <a:xfrm>
            <a:off x="9010650" y="37338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关系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DA6FF9-34C3-46C8-A8A4-6708229A14E5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15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571BABD-9DB8-47B0-8780-7D31C300F306}"/>
              </a:ext>
            </a:extLst>
          </p:cNvPr>
          <p:cNvSpPr>
            <a:spLocks noGrp="1"/>
          </p:cNvSpPr>
          <p:nvPr/>
        </p:nvSpPr>
        <p:spPr>
          <a:xfrm>
            <a:off x="9010650" y="47815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63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497F324-AD48-4D19-95A6-E3760DEEC921}"/>
              </a:ext>
            </a:extLst>
          </p:cNvPr>
          <p:cNvSpPr>
            <a:spLocks noGrp="1"/>
          </p:cNvSpPr>
          <p:nvPr/>
        </p:nvSpPr>
        <p:spPr>
          <a:xfrm>
            <a:off x="9010650" y="29146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ound11 Slide16 KG Shadow">
            <a:extLst>
              <a:ext uri="{FF2B5EF4-FFF2-40B4-BE49-F238E27FC236}">
                <a16:creationId xmlns:a16="http://schemas.microsoft.com/office/drawing/2014/main" id="{39D40DAD-6C12-6393-DE54-D807115BED44}"/>
              </a:ext>
            </a:extLst>
          </p:cNvPr>
          <p:cNvSpPr/>
          <p:nvPr/>
        </p:nvSpPr>
        <p:spPr>
          <a:xfrm>
            <a:off x="787400" y="1924050"/>
            <a:ext cx="7823200" cy="4368800"/>
          </a:xfrm>
          <a:prstGeom prst="roundRect">
            <a:avLst/>
          </a:prstGeom>
          <a:solidFill>
            <a:srgbClr val="ECE2F0">
              <a:alpha val="8500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ound11 Slide16 KG Frame">
            <a:extLst>
              <a:ext uri="{FF2B5EF4-FFF2-40B4-BE49-F238E27FC236}">
                <a16:creationId xmlns:a16="http://schemas.microsoft.com/office/drawing/2014/main" id="{F8E2F55A-D413-64C9-84FD-C330F07F0A9E}"/>
              </a:ext>
            </a:extLst>
          </p:cNvPr>
          <p:cNvSpPr/>
          <p:nvPr/>
        </p:nvSpPr>
        <p:spPr>
          <a:xfrm>
            <a:off x="711200" y="1847850"/>
            <a:ext cx="7823200" cy="436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Round11 Slide16 KG Label">
            <a:extLst>
              <a:ext uri="{FF2B5EF4-FFF2-40B4-BE49-F238E27FC236}">
                <a16:creationId xmlns:a16="http://schemas.microsoft.com/office/drawing/2014/main" id="{F1E20F4A-4E51-075D-C683-703F2784CB3B}"/>
              </a:ext>
            </a:extLst>
          </p:cNvPr>
          <p:cNvSpPr txBox="1"/>
          <p:nvPr/>
        </p:nvSpPr>
        <p:spPr>
          <a:xfrm>
            <a:off x="1244600" y="5664200"/>
            <a:ext cx="3302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评论知识图谱总图</a:t>
            </a:r>
          </a:p>
        </p:txBody>
      </p:sp>
      <p:sp>
        <p:nvSpPr>
          <p:cNvPr id="46" name="Round11 Slide16 KG Label">
            <a:extLst>
              <a:ext uri="{FF2B5EF4-FFF2-40B4-BE49-F238E27FC236}">
                <a16:creationId xmlns:a16="http://schemas.microsoft.com/office/drawing/2014/main" id="{1F54C150-D085-3939-16F8-25D31C1A056D}"/>
              </a:ext>
            </a:extLst>
          </p:cNvPr>
          <p:cNvSpPr txBox="1"/>
          <p:nvPr/>
        </p:nvSpPr>
        <p:spPr>
          <a:xfrm>
            <a:off x="5613400" y="3924300"/>
            <a:ext cx="2921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评论子图</a:t>
            </a:r>
            <a:r>
              <a:rPr lang="en-US" altLang="zh-CN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：西樵山风景名胜区</a:t>
            </a:r>
          </a:p>
        </p:txBody>
      </p:sp>
      <p:sp>
        <p:nvSpPr>
          <p:cNvPr id="47" name="Round11 Slide16 KG Label">
            <a:extLst>
              <a:ext uri="{FF2B5EF4-FFF2-40B4-BE49-F238E27FC236}">
                <a16:creationId xmlns:a16="http://schemas.microsoft.com/office/drawing/2014/main" id="{5B04C94F-B8F3-AD45-0FA4-2A5545D47D8D}"/>
              </a:ext>
            </a:extLst>
          </p:cNvPr>
          <p:cNvSpPr txBox="1"/>
          <p:nvPr/>
        </p:nvSpPr>
        <p:spPr>
          <a:xfrm>
            <a:off x="5613400" y="5930900"/>
            <a:ext cx="2921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评论子图</a:t>
            </a:r>
            <a:r>
              <a:rPr lang="en-US" altLang="zh-CN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：黄飞鸿狮艺武术馆</a:t>
            </a:r>
          </a:p>
        </p:txBody>
      </p:sp>
      <p:pic>
        <p:nvPicPr>
          <p:cNvPr id="13" name="WhiteBG Comment Graph">
            <a:extLst>
              <a:ext uri="{FF2B5EF4-FFF2-40B4-BE49-F238E27FC236}">
                <a16:creationId xmlns:a16="http://schemas.microsoft.com/office/drawing/2014/main" id="{44231890-E68F-B2DD-0B19-5239AAA3FB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100" y="2032000"/>
            <a:ext cx="3581400" cy="3581400"/>
          </a:xfrm>
          <a:prstGeom prst="rect">
            <a:avLst/>
          </a:prstGeom>
        </p:spPr>
      </p:pic>
      <p:pic>
        <p:nvPicPr>
          <p:cNvPr id="35" name="WhiteBG Comment Subgraph 1">
            <a:extLst>
              <a:ext uri="{FF2B5EF4-FFF2-40B4-BE49-F238E27FC236}">
                <a16:creationId xmlns:a16="http://schemas.microsoft.com/office/drawing/2014/main" id="{02142083-8DD4-807D-1DD4-3A7D2B1E6F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3300" y="2006600"/>
            <a:ext cx="1879600" cy="1879600"/>
          </a:xfrm>
          <a:prstGeom prst="rect">
            <a:avLst/>
          </a:prstGeom>
        </p:spPr>
      </p:pic>
      <p:pic>
        <p:nvPicPr>
          <p:cNvPr id="38" name="WhiteBG Comment Subgraph 2">
            <a:extLst>
              <a:ext uri="{FF2B5EF4-FFF2-40B4-BE49-F238E27FC236}">
                <a16:creationId xmlns:a16="http://schemas.microsoft.com/office/drawing/2014/main" id="{945E487C-8443-8E70-51F9-5541B8DD42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3300" y="4013200"/>
            <a:ext cx="1879600" cy="18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6426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111</Words>
  <Application>Microsoft Office PowerPoint</Application>
  <DocSecurity>0</DocSecurity>
  <PresentationFormat>宽屏</PresentationFormat>
  <Paragraphs>21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59</cp:revision>
  <dcterms:created xsi:type="dcterms:W3CDTF">2026-06-02T06:15:18Z</dcterms:created>
  <dcterms:modified xsi:type="dcterms:W3CDTF">2026-06-03T09:17:27Z</dcterms:modified>
</cp:coreProperties>
</file>