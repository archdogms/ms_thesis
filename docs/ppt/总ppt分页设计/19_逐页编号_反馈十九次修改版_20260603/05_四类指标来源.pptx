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四类指标来源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986B1-95EC-B37A-C414-6835F70AEA5B}"/>
              </a:ext>
            </a:extLst>
          </p:cNvPr>
          <p:cNvSpPr txBox="1"/>
          <p:nvPr/>
        </p:nvSpPr>
        <p:spPr>
          <a:xfrm>
            <a:off x="889000" y="1168400"/>
            <a:ext cx="10414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四类指标先归一化到同一分值口径，再比较文化基础与旅游承接之间的偏离。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5966770-E1DC-71E7-AE3A-BB4F5371403A}"/>
              </a:ext>
            </a:extLst>
          </p:cNvPr>
          <p:cNvCxnSpPr/>
          <p:nvPr/>
        </p:nvCxnSpPr>
        <p:spPr>
          <a:xfrm>
            <a:off x="889000" y="16510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17B54-895D-AFCA-5985-AFF9C05305E8}"/>
              </a:ext>
            </a:extLst>
          </p:cNvPr>
          <p:cNvSpPr/>
          <p:nvPr/>
        </p:nvSpPr>
        <p:spPr>
          <a:xfrm>
            <a:off x="88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91451-373D-9C68-9134-E1F46A1DBB9C}"/>
              </a:ext>
            </a:extLst>
          </p:cNvPr>
          <p:cNvSpPr txBox="1"/>
          <p:nvPr/>
        </p:nvSpPr>
        <p:spPr>
          <a:xfrm>
            <a:off x="111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FA5CA2-A29E-07D1-C462-64B83DFE3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2349500"/>
            <a:ext cx="1219200" cy="12192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BCF607-CB35-9062-133D-EB3B94AF70F0}"/>
              </a:ext>
            </a:extLst>
          </p:cNvPr>
          <p:cNvSpPr/>
          <p:nvPr/>
        </p:nvSpPr>
        <p:spPr>
          <a:xfrm>
            <a:off x="469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39A2A-C6AA-0679-4EB7-277C52C10B90}"/>
              </a:ext>
            </a:extLst>
          </p:cNvPr>
          <p:cNvSpPr txBox="1"/>
          <p:nvPr/>
        </p:nvSpPr>
        <p:spPr>
          <a:xfrm>
            <a:off x="492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936AF-CC1A-C1B1-067E-D787A21A6C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2349500"/>
            <a:ext cx="1219200" cy="12192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4AE10B-017A-33C6-0E32-4F176F0158A3}"/>
              </a:ext>
            </a:extLst>
          </p:cNvPr>
          <p:cNvSpPr/>
          <p:nvPr/>
        </p:nvSpPr>
        <p:spPr>
          <a:xfrm>
            <a:off x="88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4B27-B070-829F-1F45-593A4F6AED77}"/>
              </a:ext>
            </a:extLst>
          </p:cNvPr>
          <p:cNvSpPr txBox="1"/>
          <p:nvPr/>
        </p:nvSpPr>
        <p:spPr>
          <a:xfrm>
            <a:off x="111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7CF73ED-F3C8-A9DA-DEF4-DA55CD6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4508500"/>
            <a:ext cx="1219200" cy="121920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2801DF-7035-E8BF-C93A-EB2EF0730ECB}"/>
              </a:ext>
            </a:extLst>
          </p:cNvPr>
          <p:cNvSpPr/>
          <p:nvPr/>
        </p:nvSpPr>
        <p:spPr>
          <a:xfrm>
            <a:off x="469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6F86E8-79C6-037D-EC43-9C1ACAE1B82A}"/>
              </a:ext>
            </a:extLst>
          </p:cNvPr>
          <p:cNvSpPr txBox="1"/>
          <p:nvPr/>
        </p:nvSpPr>
        <p:spPr>
          <a:xfrm>
            <a:off x="492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922968-1A13-303C-BAC7-5014E761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4508500"/>
            <a:ext cx="1219200" cy="12192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0B49170-AD6D-F18C-DA6B-DD06F15CBB31}"/>
              </a:ext>
            </a:extLst>
          </p:cNvPr>
          <p:cNvSpPr/>
          <p:nvPr/>
        </p:nvSpPr>
        <p:spPr>
          <a:xfrm>
            <a:off x="8763000" y="1879600"/>
            <a:ext cx="2540000" cy="4064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75C902-79A8-A73C-C447-6CFC529707EB}"/>
              </a:ext>
            </a:extLst>
          </p:cNvPr>
          <p:cNvSpPr txBox="1"/>
          <p:nvPr/>
        </p:nvSpPr>
        <p:spPr>
          <a:xfrm>
            <a:off x="9017000" y="2159000"/>
            <a:ext cx="2032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指标计算口径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ED7BA9-43F5-911B-A66B-F739686E8B97}"/>
              </a:ext>
            </a:extLst>
          </p:cNvPr>
          <p:cNvSpPr txBox="1"/>
          <p:nvPr/>
        </p:nvSpPr>
        <p:spPr>
          <a:xfrm>
            <a:off x="9017000" y="2667000"/>
            <a:ext cx="2032000" cy="13213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）：典籍频次 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图谱中心性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）：官方认定等级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、评分与评论热度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BC9A90-F45B-F61C-587F-54B326E13A77}"/>
              </a:ext>
            </a:extLst>
          </p:cNvPr>
          <p:cNvCxnSpPr/>
          <p:nvPr/>
        </p:nvCxnSpPr>
        <p:spPr>
          <a:xfrm>
            <a:off x="9017000" y="4089400"/>
            <a:ext cx="2032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19CE85-A718-414C-F833-30A5C635AADC}"/>
              </a:ext>
            </a:extLst>
          </p:cNvPr>
          <p:cNvSpPr txBox="1"/>
          <p:nvPr/>
        </p:nvSpPr>
        <p:spPr>
          <a:xfrm>
            <a:off x="9017000" y="4318000"/>
            <a:ext cx="2032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4F60F1-2BCB-E5E6-A69C-C9B8DCE888F5}"/>
              </a:ext>
            </a:extLst>
          </p:cNvPr>
          <p:cNvSpPr txBox="1"/>
          <p:nvPr/>
        </p:nvSpPr>
        <p:spPr>
          <a:xfrm>
            <a:off x="9017000" y="4749800"/>
            <a:ext cx="203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= THI - 0.5 CMI - 0.5 OAI</a:t>
            </a:r>
            <a:endParaRPr lang="zh-CN" altLang="en-US" sz="16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1DEB9B-8B0D-105A-E06F-A1EB1A5CFD93}"/>
              </a:ext>
            </a:extLst>
          </p:cNvPr>
          <p:cNvSpPr txBox="1"/>
          <p:nvPr/>
        </p:nvSpPr>
        <p:spPr>
          <a:xfrm>
            <a:off x="9017000" y="5384800"/>
            <a:ext cx="20320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</a:t>
            </a:r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衡量旅游热度相对文化基础的偏离。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2026-06-03T09:17:25Z</dcterms:modified>
</cp:coreProperties>
</file>