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C:\Users\ms\Desktop\thesis\ms_thesis\output\figures\&#35770;&#25991;&#23450;&#31295;&#21487;&#29992;&#22270;&#32440;_20260602\&#22270;5-6_500m&#32593;&#26684;&#25991;&#21270;&#26053;&#28216;&#20998;&#24067;&#19982;&#38169;&#20301;&#20998;&#23618;.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10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5.3.5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节、表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5.6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错位分层结果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Slide10 Scatter Panel">
            <a:extLst>
              <a:ext uri="{FF2B5EF4-FFF2-40B4-BE49-F238E27FC236}">
                <a16:creationId xmlns:a16="http://schemas.microsoft.com/office/drawing/2014/main" id="{17AA0FF7-5E29-1940-27D9-24E9666DE5AF}"/>
              </a:ext>
            </a:extLst>
          </p:cNvPr>
          <p:cNvSpPr/>
          <p:nvPr/>
        </p:nvSpPr>
        <p:spPr>
          <a:xfrm>
            <a:off x="698500" y="1295400"/>
            <a:ext cx="76200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lide10 Scatter Accent">
            <a:extLst>
              <a:ext uri="{FF2B5EF4-FFF2-40B4-BE49-F238E27FC236}">
                <a16:creationId xmlns:a16="http://schemas.microsoft.com/office/drawing/2014/main" id="{59F819BA-1FCE-E800-20DC-B8442EDC5697}"/>
              </a:ext>
            </a:extLst>
          </p:cNvPr>
          <p:cNvSpPr/>
          <p:nvPr/>
        </p:nvSpPr>
        <p:spPr>
          <a:xfrm>
            <a:off x="952500" y="1524000"/>
            <a:ext cx="558800" cy="40640"/>
          </a:xfrm>
          <a:prstGeom prst="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lide10 Scatter Head">
            <a:extLst>
              <a:ext uri="{FF2B5EF4-FFF2-40B4-BE49-F238E27FC236}">
                <a16:creationId xmlns:a16="http://schemas.microsoft.com/office/drawing/2014/main" id="{96B3B573-6DDC-EBE4-1F4E-1967253AC1D9}"/>
              </a:ext>
            </a:extLst>
          </p:cNvPr>
          <p:cNvSpPr txBox="1"/>
          <p:nvPr/>
        </p:nvSpPr>
        <p:spPr>
          <a:xfrm>
            <a:off x="1651000" y="1447800"/>
            <a:ext cx="5334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网格文化</a:t>
            </a:r>
            <a:r>
              <a:rPr lang="en-US" altLang="zh-CN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旅游分布与错位分层</a:t>
            </a:r>
          </a:p>
        </p:txBody>
      </p:sp>
      <p:pic>
        <p:nvPicPr>
          <p:cNvPr id="15" name="Slide10 Scatter Figure">
            <a:extLst>
              <a:ext uri="{FF2B5EF4-FFF2-40B4-BE49-F238E27FC236}">
                <a16:creationId xmlns:a16="http://schemas.microsoft.com/office/drawing/2014/main" id="{E0C9438E-C3F4-225F-5878-B8B1DE9CC8CE}"/>
              </a:ext>
            </a:extLst>
          </p:cNvPr>
          <p:cNvPicPr>
            <a:picLocks noChangeAspect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1866900"/>
            <a:ext cx="3873500" cy="3873500"/>
          </a:xfrm>
          <a:prstGeom prst="rect">
            <a:avLst/>
          </a:prstGeom>
        </p:spPr>
      </p:pic>
      <p:sp>
        <p:nvSpPr>
          <p:cNvPr id="16" name="Slide10 Scatter Caption">
            <a:extLst>
              <a:ext uri="{FF2B5EF4-FFF2-40B4-BE49-F238E27FC236}">
                <a16:creationId xmlns:a16="http://schemas.microsoft.com/office/drawing/2014/main" id="{13A7D5D9-206F-58C1-CC6C-C03CF447D529}"/>
              </a:ext>
            </a:extLst>
          </p:cNvPr>
          <p:cNvSpPr txBox="1"/>
          <p:nvPr/>
        </p:nvSpPr>
        <p:spPr>
          <a:xfrm>
            <a:off x="1016000" y="5867400"/>
            <a:ext cx="6921500" cy="2031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横轴为文化厚度，纵轴为旅游热度；红点、蓝点与黄色星标分别对应主要错位与核心耦合类型。</a:t>
            </a:r>
          </a:p>
        </p:txBody>
      </p:sp>
      <p:sp>
        <p:nvSpPr>
          <p:cNvPr id="17" name="Slide10 Count Panel">
            <a:extLst>
              <a:ext uri="{FF2B5EF4-FFF2-40B4-BE49-F238E27FC236}">
                <a16:creationId xmlns:a16="http://schemas.microsoft.com/office/drawing/2014/main" id="{CEA67DFD-7614-8A8C-2AEB-C40F89A994A9}"/>
              </a:ext>
            </a:extLst>
          </p:cNvPr>
          <p:cNvSpPr/>
          <p:nvPr/>
        </p:nvSpPr>
        <p:spPr>
          <a:xfrm>
            <a:off x="8699500" y="1295400"/>
            <a:ext cx="31115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lide10 Count Accent">
            <a:extLst>
              <a:ext uri="{FF2B5EF4-FFF2-40B4-BE49-F238E27FC236}">
                <a16:creationId xmlns:a16="http://schemas.microsoft.com/office/drawing/2014/main" id="{C638E01F-ABA5-75BD-E24C-69850C2E8211}"/>
              </a:ext>
            </a:extLst>
          </p:cNvPr>
          <p:cNvSpPr/>
          <p:nvPr/>
        </p:nvSpPr>
        <p:spPr>
          <a:xfrm>
            <a:off x="8953500" y="1524000"/>
            <a:ext cx="508000" cy="40640"/>
          </a:xfrm>
          <a:prstGeom prst="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lide10 Count Head">
            <a:extLst>
              <a:ext uri="{FF2B5EF4-FFF2-40B4-BE49-F238E27FC236}">
                <a16:creationId xmlns:a16="http://schemas.microsoft.com/office/drawing/2014/main" id="{420B4A54-C833-F430-98D3-6C43C476FF44}"/>
              </a:ext>
            </a:extLst>
          </p:cNvPr>
          <p:cNvSpPr txBox="1"/>
          <p:nvPr/>
        </p:nvSpPr>
        <p:spPr>
          <a:xfrm>
            <a:off x="8953500" y="1739900"/>
            <a:ext cx="25654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7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条载体分层</a:t>
            </a:r>
          </a:p>
        </p:txBody>
      </p:sp>
      <p:sp>
        <p:nvSpPr>
          <p:cNvPr id="20" name="Slide10 Count Intro">
            <a:extLst>
              <a:ext uri="{FF2B5EF4-FFF2-40B4-BE49-F238E27FC236}">
                <a16:creationId xmlns:a16="http://schemas.microsoft.com/office/drawing/2014/main" id="{4EE38BE1-877E-3F45-EDFE-621C327C92A0}"/>
              </a:ext>
            </a:extLst>
          </p:cNvPr>
          <p:cNvSpPr txBox="1"/>
          <p:nvPr/>
        </p:nvSpPr>
        <p:spPr>
          <a:xfrm>
            <a:off x="8953500" y="2184400"/>
            <a:ext cx="2565400" cy="4678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沉睡潜力与空心景点合计 </a:t>
            </a:r>
            <a:r>
              <a:rPr lang="en-US" altLang="zh-CN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条，占 </a:t>
            </a:r>
            <a:r>
              <a:rPr lang="en-US" altLang="zh-CN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62.4%</a:t>
            </a:r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1" name="Slide10 Big Number">
            <a:extLst>
              <a:ext uri="{FF2B5EF4-FFF2-40B4-BE49-F238E27FC236}">
                <a16:creationId xmlns:a16="http://schemas.microsoft.com/office/drawing/2014/main" id="{0C56D6EC-9276-B826-4E11-52DC6339B542}"/>
              </a:ext>
            </a:extLst>
          </p:cNvPr>
          <p:cNvSpPr txBox="1"/>
          <p:nvPr/>
        </p:nvSpPr>
        <p:spPr>
          <a:xfrm>
            <a:off x="8953500" y="289560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62.4%</a:t>
            </a:r>
            <a:endParaRPr lang="zh-CN" altLang="en-US" sz="2200" b="1">
              <a:solidFill>
                <a:srgbClr val="664A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lide10 Count Rule">
            <a:extLst>
              <a:ext uri="{FF2B5EF4-FFF2-40B4-BE49-F238E27FC236}">
                <a16:creationId xmlns:a16="http://schemas.microsoft.com/office/drawing/2014/main" id="{D755F9EE-B57A-BEBF-2427-09F81C8E0C64}"/>
              </a:ext>
            </a:extLst>
          </p:cNvPr>
          <p:cNvSpPr/>
          <p:nvPr/>
        </p:nvSpPr>
        <p:spPr>
          <a:xfrm>
            <a:off x="8953500" y="3403600"/>
            <a:ext cx="2540000" cy="9525"/>
          </a:xfrm>
          <a:prstGeom prst="rect">
            <a:avLst/>
          </a:prstGeom>
          <a:solidFill>
            <a:srgbClr val="DBD8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Slide10 Bar1 Label">
            <a:extLst>
              <a:ext uri="{FF2B5EF4-FFF2-40B4-BE49-F238E27FC236}">
                <a16:creationId xmlns:a16="http://schemas.microsoft.com/office/drawing/2014/main" id="{8874AA43-41E3-CB6B-8FB2-A41C491D3188}"/>
              </a:ext>
            </a:extLst>
          </p:cNvPr>
          <p:cNvSpPr txBox="1"/>
          <p:nvPr/>
        </p:nvSpPr>
        <p:spPr>
          <a:xfrm>
            <a:off x="8953500" y="36703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一般耦合</a:t>
            </a:r>
          </a:p>
        </p:txBody>
      </p:sp>
      <p:sp>
        <p:nvSpPr>
          <p:cNvPr id="24" name="Slide10 Bar1 BG">
            <a:extLst>
              <a:ext uri="{FF2B5EF4-FFF2-40B4-BE49-F238E27FC236}">
                <a16:creationId xmlns:a16="http://schemas.microsoft.com/office/drawing/2014/main" id="{1EFA4C82-A38D-FDBB-F731-249C8AC2F4B5}"/>
              </a:ext>
            </a:extLst>
          </p:cNvPr>
          <p:cNvSpPr/>
          <p:nvPr/>
        </p:nvSpPr>
        <p:spPr>
          <a:xfrm>
            <a:off x="10071100" y="36957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lide10 Bar1 Fill">
            <a:extLst>
              <a:ext uri="{FF2B5EF4-FFF2-40B4-BE49-F238E27FC236}">
                <a16:creationId xmlns:a16="http://schemas.microsoft.com/office/drawing/2014/main" id="{B7ABF8CB-8AC4-4B14-4BF5-DDE6CCE4DBEC}"/>
              </a:ext>
            </a:extLst>
          </p:cNvPr>
          <p:cNvSpPr/>
          <p:nvPr/>
        </p:nvSpPr>
        <p:spPr>
          <a:xfrm>
            <a:off x="10071100" y="3695700"/>
            <a:ext cx="1041400" cy="228600"/>
          </a:xfrm>
          <a:prstGeom prst="round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10 Bar1 Value">
            <a:extLst>
              <a:ext uri="{FF2B5EF4-FFF2-40B4-BE49-F238E27FC236}">
                <a16:creationId xmlns:a16="http://schemas.microsoft.com/office/drawing/2014/main" id="{F154CFE6-2B34-4627-E8C7-B4A340FDA723}"/>
              </a:ext>
            </a:extLst>
          </p:cNvPr>
          <p:cNvSpPr txBox="1"/>
          <p:nvPr/>
        </p:nvSpPr>
        <p:spPr>
          <a:xfrm>
            <a:off x="11214100" y="36576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 / 34.5%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Slide10 Bar2 Label">
            <a:extLst>
              <a:ext uri="{FF2B5EF4-FFF2-40B4-BE49-F238E27FC236}">
                <a16:creationId xmlns:a16="http://schemas.microsoft.com/office/drawing/2014/main" id="{17EC9D52-B4C2-BB3F-C59B-4C9F24CEE2A0}"/>
              </a:ext>
            </a:extLst>
          </p:cNvPr>
          <p:cNvSpPr txBox="1"/>
          <p:nvPr/>
        </p:nvSpPr>
        <p:spPr>
          <a:xfrm>
            <a:off x="8953500" y="41529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</a:t>
            </a:r>
          </a:p>
        </p:txBody>
      </p:sp>
      <p:sp>
        <p:nvSpPr>
          <p:cNvPr id="28" name="Slide10 Bar2 BG">
            <a:extLst>
              <a:ext uri="{FF2B5EF4-FFF2-40B4-BE49-F238E27FC236}">
                <a16:creationId xmlns:a16="http://schemas.microsoft.com/office/drawing/2014/main" id="{369AAB08-7FAE-94CB-80BB-C8640BC82CD2}"/>
              </a:ext>
            </a:extLst>
          </p:cNvPr>
          <p:cNvSpPr/>
          <p:nvPr/>
        </p:nvSpPr>
        <p:spPr>
          <a:xfrm>
            <a:off x="10071100" y="41783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lide10 Bar2 Fill">
            <a:extLst>
              <a:ext uri="{FF2B5EF4-FFF2-40B4-BE49-F238E27FC236}">
                <a16:creationId xmlns:a16="http://schemas.microsoft.com/office/drawing/2014/main" id="{84DD67B3-8FA8-0C3F-12E2-31FD722521E4}"/>
              </a:ext>
            </a:extLst>
          </p:cNvPr>
          <p:cNvSpPr/>
          <p:nvPr/>
        </p:nvSpPr>
        <p:spPr>
          <a:xfrm>
            <a:off x="10071100" y="4178300"/>
            <a:ext cx="990600" cy="228600"/>
          </a:xfrm>
          <a:prstGeom prst="round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Slide10 Bar2 Value">
            <a:extLst>
              <a:ext uri="{FF2B5EF4-FFF2-40B4-BE49-F238E27FC236}">
                <a16:creationId xmlns:a16="http://schemas.microsoft.com/office/drawing/2014/main" id="{171ED78C-F126-B1E0-7353-4793A64B1FE2}"/>
              </a:ext>
            </a:extLst>
          </p:cNvPr>
          <p:cNvSpPr txBox="1"/>
          <p:nvPr/>
        </p:nvSpPr>
        <p:spPr>
          <a:xfrm>
            <a:off x="11214100" y="41402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 / 32.7%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Slide10 Bar3 Label">
            <a:extLst>
              <a:ext uri="{FF2B5EF4-FFF2-40B4-BE49-F238E27FC236}">
                <a16:creationId xmlns:a16="http://schemas.microsoft.com/office/drawing/2014/main" id="{ECBBE6BB-8B24-D7B1-6356-1F887543851B}"/>
              </a:ext>
            </a:extLst>
          </p:cNvPr>
          <p:cNvSpPr txBox="1"/>
          <p:nvPr/>
        </p:nvSpPr>
        <p:spPr>
          <a:xfrm>
            <a:off x="8953500" y="46355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空心景点</a:t>
            </a:r>
          </a:p>
        </p:txBody>
      </p:sp>
      <p:sp>
        <p:nvSpPr>
          <p:cNvPr id="32" name="Slide10 Bar3 BG">
            <a:extLst>
              <a:ext uri="{FF2B5EF4-FFF2-40B4-BE49-F238E27FC236}">
                <a16:creationId xmlns:a16="http://schemas.microsoft.com/office/drawing/2014/main" id="{8FF1145E-CE9D-68EA-8DFA-A1295E20F4A2}"/>
              </a:ext>
            </a:extLst>
          </p:cNvPr>
          <p:cNvSpPr/>
          <p:nvPr/>
        </p:nvSpPr>
        <p:spPr>
          <a:xfrm>
            <a:off x="10071100" y="46609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Slide10 Bar3 Fill">
            <a:extLst>
              <a:ext uri="{FF2B5EF4-FFF2-40B4-BE49-F238E27FC236}">
                <a16:creationId xmlns:a16="http://schemas.microsoft.com/office/drawing/2014/main" id="{B95651AE-658B-EF74-8485-674FDC483C0D}"/>
              </a:ext>
            </a:extLst>
          </p:cNvPr>
          <p:cNvSpPr/>
          <p:nvPr/>
        </p:nvSpPr>
        <p:spPr>
          <a:xfrm>
            <a:off x="10071100" y="4660900"/>
            <a:ext cx="889000" cy="228600"/>
          </a:xfrm>
          <a:prstGeom prst="roundRect">
            <a:avLst/>
          </a:prstGeom>
          <a:solidFill>
            <a:srgbClr val="5088C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Slide10 Bar3 Value">
            <a:extLst>
              <a:ext uri="{FF2B5EF4-FFF2-40B4-BE49-F238E27FC236}">
                <a16:creationId xmlns:a16="http://schemas.microsoft.com/office/drawing/2014/main" id="{0A1C2D6C-9656-040B-E487-398A662EA6A5}"/>
              </a:ext>
            </a:extLst>
          </p:cNvPr>
          <p:cNvSpPr txBox="1"/>
          <p:nvPr/>
        </p:nvSpPr>
        <p:spPr>
          <a:xfrm>
            <a:off x="11214100" y="46228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 / 29.7%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Slide10 Bar4 Label">
            <a:extLst>
              <a:ext uri="{FF2B5EF4-FFF2-40B4-BE49-F238E27FC236}">
                <a16:creationId xmlns:a16="http://schemas.microsoft.com/office/drawing/2014/main" id="{C3BBB66D-AE4D-25C7-1E04-C549A9F349E0}"/>
              </a:ext>
            </a:extLst>
          </p:cNvPr>
          <p:cNvSpPr txBox="1"/>
          <p:nvPr/>
        </p:nvSpPr>
        <p:spPr>
          <a:xfrm>
            <a:off x="8953500" y="51181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</a:t>
            </a:r>
          </a:p>
        </p:txBody>
      </p:sp>
      <p:sp>
        <p:nvSpPr>
          <p:cNvPr id="74" name="Slide10 Bar4 BG">
            <a:extLst>
              <a:ext uri="{FF2B5EF4-FFF2-40B4-BE49-F238E27FC236}">
                <a16:creationId xmlns:a16="http://schemas.microsoft.com/office/drawing/2014/main" id="{7086F0ED-A3B9-EC25-BA46-278CAB0319A1}"/>
              </a:ext>
            </a:extLst>
          </p:cNvPr>
          <p:cNvSpPr/>
          <p:nvPr/>
        </p:nvSpPr>
        <p:spPr>
          <a:xfrm>
            <a:off x="10071100" y="51435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lide10 Bar4 Fill">
            <a:extLst>
              <a:ext uri="{FF2B5EF4-FFF2-40B4-BE49-F238E27FC236}">
                <a16:creationId xmlns:a16="http://schemas.microsoft.com/office/drawing/2014/main" id="{2E56CA77-A6F8-1655-A192-B348E168B0DF}"/>
              </a:ext>
            </a:extLst>
          </p:cNvPr>
          <p:cNvSpPr/>
          <p:nvPr/>
        </p:nvSpPr>
        <p:spPr>
          <a:xfrm>
            <a:off x="10071100" y="5143500"/>
            <a:ext cx="127000" cy="228600"/>
          </a:xfrm>
          <a:prstGeom prst="roundRect">
            <a:avLst/>
          </a:prstGeom>
          <a:solidFill>
            <a:srgbClr val="439B91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Slide10 Bar4 Value">
            <a:extLst>
              <a:ext uri="{FF2B5EF4-FFF2-40B4-BE49-F238E27FC236}">
                <a16:creationId xmlns:a16="http://schemas.microsoft.com/office/drawing/2014/main" id="{13F31EE4-B4BA-1909-7DF9-C7FF342BB47A}"/>
              </a:ext>
            </a:extLst>
          </p:cNvPr>
          <p:cNvSpPr txBox="1"/>
          <p:nvPr/>
        </p:nvSpPr>
        <p:spPr>
          <a:xfrm>
            <a:off x="11214100" y="51054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/ 3.0%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Slide10 Count Note">
            <a:extLst>
              <a:ext uri="{FF2B5EF4-FFF2-40B4-BE49-F238E27FC236}">
                <a16:creationId xmlns:a16="http://schemas.microsoft.com/office/drawing/2014/main" id="{2395809A-A9DF-96CC-5894-998BDBB545EF}"/>
              </a:ext>
            </a:extLst>
          </p:cNvPr>
          <p:cNvSpPr txBox="1"/>
          <p:nvPr/>
        </p:nvSpPr>
        <p:spPr>
          <a:xfrm>
            <a:off x="8953500" y="5651500"/>
            <a:ext cx="2565400" cy="406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分类结果说明主要矛盾集中在文化基础与旅游承接之间的对应关系。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126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2026-06-03T08:31:31Z</dcterms:modified>
</cp:coreProperties>
</file>