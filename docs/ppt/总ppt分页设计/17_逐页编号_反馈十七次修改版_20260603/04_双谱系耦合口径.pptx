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9" r:id="rId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53" d="100"/>
          <a:sy n="153" d="100"/>
        </p:scale>
        <p:origin x="37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593F64C-D4B0-4673-9B19-44FECE7BB29F}"/>
              </a:ext>
            </a:extLst>
          </p:cNvPr>
          <p:cNvSpPr>
            <a:spLocks noGrp="1"/>
          </p:cNvSpPr>
          <p:nvPr/>
        </p:nvSpPr>
        <p:spPr>
          <a:xfrm>
            <a:off x="0" y="0"/>
            <a:ext cx="12192000" cy="6858000"/>
          </a:xfrm>
          <a:prstGeom prst="rect">
            <a:avLst/>
          </a:prstGeom>
          <a:solidFill>
            <a:srgbClr val="FFFFFF">
              <a:alpha val="33333"/>
            </a:srgbClr>
          </a:solidFill>
          <a:ln w="0">
            <a:solidFill>
              <a:srgbClr val="000000">
                <a:alpha val="0"/>
              </a:srgbClr>
            </a:solidFill>
            <a:prstDash val="solid"/>
          </a:ln>
        </p:spPr>
      </p:sp>
      <p:sp>
        <p:nvSpPr>
          <p:cNvPr id="3" name="矩形 2">
            <a:extLst>
              <a:ext uri="{FF2B5EF4-FFF2-40B4-BE49-F238E27FC236}">
                <a16:creationId xmlns:a16="http://schemas.microsoft.com/office/drawing/2014/main" id="{3C568859-9C40-4846-9766-D6617142292F}"/>
              </a:ext>
            </a:extLst>
          </p:cNvPr>
          <p:cNvSpPr>
            <a:spLocks noGrp="1"/>
          </p:cNvSpPr>
          <p:nvPr/>
        </p:nvSpPr>
        <p:spPr>
          <a:xfrm>
            <a:off x="419100" y="400050"/>
            <a:ext cx="66675" cy="552450"/>
          </a:xfrm>
          <a:prstGeom prst="rect">
            <a:avLst/>
          </a:prstGeom>
          <a:solidFill>
            <a:srgbClr val="600070"/>
          </a:solidFill>
          <a:ln w="0">
            <a:solidFill>
              <a:srgbClr val="000000">
                <a:alpha val="0"/>
              </a:srgbClr>
            </a:solidFill>
            <a:prstDash val="solid"/>
          </a:ln>
        </p:spPr>
      </p:sp>
      <p:sp>
        <p:nvSpPr>
          <p:cNvPr id="5" name="矩形 4">
            <a:extLst>
              <a:ext uri="{FF2B5EF4-FFF2-40B4-BE49-F238E27FC236}">
                <a16:creationId xmlns:a16="http://schemas.microsoft.com/office/drawing/2014/main" id="{A9662DB6-C003-4195-BC28-224D28200E80}"/>
              </a:ext>
            </a:extLst>
          </p:cNvPr>
          <p:cNvSpPr>
            <a:spLocks noGrp="1"/>
          </p:cNvSpPr>
          <p:nvPr/>
        </p:nvSpPr>
        <p:spPr>
          <a:xfrm>
            <a:off x="11353800" y="6457950"/>
            <a:ext cx="533400" cy="203200"/>
          </a:xfrm>
          <a:prstGeom prst="rect">
            <a:avLst/>
          </a:prstGeom>
          <a:solidFill>
            <a:srgbClr val="000000">
              <a:alpha val="0"/>
            </a:srgbClr>
          </a:solidFill>
          <a:ln w="0">
            <a:solidFill>
              <a:srgbClr val="000000">
                <a:alpha val="0"/>
              </a:srgbClr>
            </a:solidFill>
            <a:prstDash val="solid"/>
          </a:ln>
        </p:spPr>
        <p:txBody>
          <a:bodyPr wrap="none" lIns="76200" tIns="50800" rIns="76200" bIns="50800" anchor="t"/>
          <a:lstStyle/>
          <a:p>
            <a:pPr algn="ctr">
              <a:defRPr sz="750" b="1">
                <a:solidFill>
                  <a:srgbClr val="600070"/>
                </a:solidFill>
                <a:latin typeface="Microsoft YaHei UI"/>
                <a:ea typeface="Microsoft YaHei UI"/>
                <a:cs typeface="Microsoft YaHei UI"/>
              </a:defRPr>
            </a:pPr>
            <a:r>
              <a:rPr lang="en-US" altLang="zh-CN" sz="1000" b="1">
                <a:solidFill>
                  <a:srgbClr val="222228"/>
                </a:solidFill>
                <a:latin typeface="微软雅黑" panose="020B0503020204020204" pitchFamily="34" charset="-122"/>
                <a:ea typeface="微软雅黑" panose="020B0503020204020204" pitchFamily="34" charset="-122"/>
                <a:cs typeface="Microsoft YaHei UI"/>
              </a:rPr>
              <a:t>04</a:t>
            </a:r>
            <a:endParaRPr sz="1000" b="1">
              <a:solidFill>
                <a:srgbClr val="222228"/>
              </a:solidFill>
              <a:latin typeface="微软雅黑" panose="020B0503020204020204" pitchFamily="34" charset="-122"/>
              <a:ea typeface="微软雅黑" panose="020B0503020204020204" pitchFamily="34" charset="-122"/>
              <a:cs typeface="Microsoft YaHei UI"/>
            </a:endParaRPr>
          </a:p>
        </p:txBody>
      </p:sp>
      <p:pic>
        <p:nvPicPr>
          <p:cNvPr id="6" name="图片 5"/>
          <p:cNvPicPr>
            <a:picLocks noChangeAspect="1"/>
          </p:cNvPicPr>
          <p:nvPr/>
        </p:nvPicPr>
        <p:blipFill>
          <a:blip r:embed="rId4"/>
          <a:stretch/>
        </p:blipFill>
        <p:spPr>
          <a:xfrm>
            <a:off x="10026361" y="266700"/>
            <a:ext cx="1149927" cy="457200"/>
          </a:xfrm>
          <a:prstGeom prst="rect">
            <a:avLst/>
          </a:prstGeom>
        </p:spPr>
      </p:pic>
      <p:sp>
        <p:nvSpPr>
          <p:cNvPr id="7" name="矩形 6">
            <a:extLst>
              <a:ext uri="{FF2B5EF4-FFF2-40B4-BE49-F238E27FC236}">
                <a16:creationId xmlns:a16="http://schemas.microsoft.com/office/drawing/2014/main" id="{235CE2BC-CD88-4F61-AA4D-D6EAAE08754C}"/>
              </a:ext>
            </a:extLst>
          </p:cNvPr>
          <p:cNvSpPr>
            <a:spLocks noGrp="1"/>
          </p:cNvSpPr>
          <p:nvPr/>
        </p:nvSpPr>
        <p:spPr>
          <a:xfrm>
            <a:off x="514350" y="6496050"/>
            <a:ext cx="7239000" cy="152400"/>
          </a:xfrm>
          <a:prstGeom prst="rect">
            <a:avLst/>
          </a:prstGeom>
          <a:solidFill>
            <a:srgbClr val="000000">
              <a:alpha val="0"/>
            </a:srgbClr>
          </a:solidFill>
          <a:ln w="0">
            <a:solidFill>
              <a:srgbClr val="000000">
                <a:alpha val="0"/>
              </a:srgbClr>
            </a:solidFill>
            <a:prstDash val="solid"/>
          </a:ln>
        </p:spPr>
        <p:txBody>
          <a:bodyPr wrap="square" lIns="76200" tIns="50800" rIns="76200" bIns="50800" anchor="t"/>
          <a:lstStyle/>
          <a:p>
            <a:pPr>
              <a:defRPr sz="638" b="0">
                <a:solidFill>
                  <a:srgbClr val="8A7C90"/>
                </a:solidFill>
                <a:latin typeface="Microsoft YaHei UI"/>
                <a:ea typeface="Microsoft YaHei UI"/>
                <a:cs typeface="Microsoft YaHei UI"/>
              </a:defRPr>
            </a:pPr>
            <a:r>
              <a:rPr lang="zh-CN" altLang="en-US" sz="850">
                <a:solidFill>
                  <a:srgbClr val="60606C"/>
                </a:solidFill>
                <a:latin typeface="微软雅黑" panose="020B0503020204020204" pitchFamily="34" charset="-122"/>
                <a:ea typeface="微软雅黑" panose="020B0503020204020204" pitchFamily="34" charset="-122"/>
                <a:cs typeface="Microsoft YaHei UI"/>
              </a:rPr>
              <a:t>论文第 </a:t>
            </a:r>
            <a:r>
              <a:rPr lang="en-US" altLang="zh-CN" sz="850">
                <a:solidFill>
                  <a:srgbClr val="60606C"/>
                </a:solidFill>
                <a:latin typeface="微软雅黑" panose="020B0503020204020204" pitchFamily="34" charset="-122"/>
                <a:ea typeface="微软雅黑" panose="020B0503020204020204" pitchFamily="34" charset="-122"/>
                <a:cs typeface="Microsoft YaHei UI"/>
              </a:rPr>
              <a:t>1.2</a:t>
            </a:r>
            <a:r>
              <a:rPr lang="zh-CN" altLang="en-US" sz="850">
                <a:solidFill>
                  <a:srgbClr val="60606C"/>
                </a:solidFill>
                <a:latin typeface="微软雅黑" panose="020B0503020204020204" pitchFamily="34" charset="-122"/>
                <a:ea typeface="微软雅黑" panose="020B0503020204020204" pitchFamily="34" charset="-122"/>
                <a:cs typeface="Microsoft YaHei UI"/>
              </a:rPr>
              <a:t>、</a:t>
            </a:r>
            <a:r>
              <a:rPr lang="en-US" altLang="zh-CN" sz="850">
                <a:solidFill>
                  <a:srgbClr val="60606C"/>
                </a:solidFill>
                <a:latin typeface="微软雅黑" panose="020B0503020204020204" pitchFamily="34" charset="-122"/>
                <a:ea typeface="微软雅黑" panose="020B0503020204020204" pitchFamily="34" charset="-122"/>
                <a:cs typeface="Microsoft YaHei UI"/>
              </a:rPr>
              <a:t>3.1</a:t>
            </a:r>
            <a:r>
              <a:rPr lang="zh-CN" altLang="en-US" sz="850">
                <a:solidFill>
                  <a:srgbClr val="60606C"/>
                </a:solidFill>
                <a:latin typeface="微软雅黑" panose="020B0503020204020204" pitchFamily="34" charset="-122"/>
                <a:ea typeface="微软雅黑" panose="020B0503020204020204" pitchFamily="34" charset="-122"/>
                <a:cs typeface="Microsoft YaHei UI"/>
              </a:rPr>
              <a:t>、</a:t>
            </a:r>
            <a:r>
              <a:rPr lang="en-US" altLang="zh-CN" sz="850">
                <a:solidFill>
                  <a:srgbClr val="60606C"/>
                </a:solidFill>
                <a:latin typeface="微软雅黑" panose="020B0503020204020204" pitchFamily="34" charset="-122"/>
                <a:ea typeface="微软雅黑" panose="020B0503020204020204" pitchFamily="34" charset="-122"/>
                <a:cs typeface="Microsoft YaHei UI"/>
              </a:rPr>
              <a:t>3.2</a:t>
            </a:r>
            <a:r>
              <a:rPr lang="zh-CN" altLang="en-US" sz="850">
                <a:solidFill>
                  <a:srgbClr val="60606C"/>
                </a:solidFill>
                <a:latin typeface="微软雅黑" panose="020B0503020204020204" pitchFamily="34" charset="-122"/>
                <a:ea typeface="微软雅黑" panose="020B0503020204020204" pitchFamily="34" charset="-122"/>
                <a:cs typeface="Microsoft YaHei UI"/>
              </a:rPr>
              <a:t>、</a:t>
            </a:r>
            <a:r>
              <a:rPr lang="en-US" altLang="zh-CN" sz="850">
                <a:solidFill>
                  <a:srgbClr val="60606C"/>
                </a:solidFill>
                <a:latin typeface="微软雅黑" panose="020B0503020204020204" pitchFamily="34" charset="-122"/>
                <a:ea typeface="微软雅黑" panose="020B0503020204020204" pitchFamily="34" charset="-122"/>
                <a:cs typeface="Microsoft YaHei UI"/>
              </a:rPr>
              <a:t>5.3 </a:t>
            </a:r>
            <a:r>
              <a:rPr lang="zh-CN" altLang="en-US" sz="850">
                <a:solidFill>
                  <a:srgbClr val="60606C"/>
                </a:solidFill>
                <a:latin typeface="微软雅黑" panose="020B0503020204020204" pitchFamily="34" charset="-122"/>
                <a:ea typeface="微软雅黑" panose="020B0503020204020204" pitchFamily="34" charset="-122"/>
                <a:cs typeface="Microsoft YaHei UI"/>
              </a:rPr>
              <a:t>节</a:t>
            </a:r>
            <a:endParaRPr sz="850">
              <a:solidFill>
                <a:srgbClr val="60606C"/>
              </a:solidFill>
              <a:latin typeface="微软雅黑" panose="020B0503020204020204" pitchFamily="34" charset="-122"/>
              <a:ea typeface="微软雅黑" panose="020B0503020204020204" pitchFamily="34" charset="-122"/>
              <a:cs typeface="Microsoft YaHei UI"/>
            </a:endParaRPr>
          </a:p>
        </p:txBody>
      </p:sp>
      <p:sp>
        <p:nvSpPr>
          <p:cNvPr id="8" name="矩形 7">
            <a:extLst>
              <a:ext uri="{FF2B5EF4-FFF2-40B4-BE49-F238E27FC236}">
                <a16:creationId xmlns:a16="http://schemas.microsoft.com/office/drawing/2014/main" id="{D851D5C9-BE06-41C0-8350-307BCA0ABC3F}"/>
              </a:ext>
            </a:extLst>
          </p:cNvPr>
          <p:cNvSpPr>
            <a:spLocks noGrp="1"/>
          </p:cNvSpPr>
          <p:nvPr/>
        </p:nvSpPr>
        <p:spPr>
          <a:xfrm>
            <a:off x="8667750" y="6496050"/>
            <a:ext cx="2476500" cy="152400"/>
          </a:xfrm>
          <a:prstGeom prst="rect">
            <a:avLst/>
          </a:prstGeom>
          <a:solidFill>
            <a:srgbClr val="000000">
              <a:alpha val="0"/>
            </a:srgbClr>
          </a:solidFill>
          <a:ln w="0">
            <a:solidFill>
              <a:srgbClr val="000000">
                <a:alpha val="0"/>
              </a:srgbClr>
            </a:solidFill>
            <a:prstDash val="solid"/>
          </a:ln>
        </p:spPr>
        <p:txBody>
          <a:bodyPr wrap="square" lIns="50800" tIns="25400" rIns="50800" bIns="25400" anchor="t"/>
          <a:lstStyle/>
          <a:p>
            <a:pPr algn="r">
              <a:defRPr sz="638" b="0">
                <a:solidFill>
                  <a:srgbClr val="8A7C90"/>
                </a:solidFill>
                <a:latin typeface="Microsoft YaHei UI"/>
                <a:ea typeface="Microsoft YaHei UI"/>
                <a:cs typeface="Microsoft YaHei UI"/>
              </a:defRPr>
            </a:pPr>
            <a:r>
              <a:rPr lang="zh-CN" altLang="en-US" sz="850">
                <a:solidFill>
                  <a:srgbClr val="665A5A"/>
                </a:solidFill>
                <a:latin typeface="Microsoft YaHei" panose="020B0503020204020204" pitchFamily="34" charset="-122"/>
                <a:ea typeface="Microsoft YaHei" panose="020B0503020204020204" pitchFamily="34" charset="-122"/>
                <a:cs typeface="Microsoft YaHei UI"/>
              </a:rPr>
              <a:t>孟帅 </a:t>
            </a:r>
            <a:r>
              <a:rPr lang="en-US" altLang="zh-CN" sz="850">
                <a:solidFill>
                  <a:srgbClr val="665A5A"/>
                </a:solidFill>
                <a:latin typeface="Microsoft YaHei" panose="020B0503020204020204" pitchFamily="34" charset="-122"/>
                <a:ea typeface="Microsoft YaHei" panose="020B0503020204020204" pitchFamily="34" charset="-122"/>
                <a:cs typeface="Microsoft YaHei UI"/>
              </a:rPr>
              <a:t>· </a:t>
            </a:r>
            <a:r>
              <a:rPr lang="zh-CN" altLang="en-US" sz="850">
                <a:solidFill>
                  <a:srgbClr val="665A5A"/>
                </a:solidFill>
                <a:latin typeface="Microsoft YaHei" panose="020B0503020204020204" pitchFamily="34" charset="-122"/>
                <a:ea typeface="Microsoft YaHei" panose="020B0503020204020204" pitchFamily="34" charset="-122"/>
                <a:cs typeface="Microsoft YaHei UI"/>
              </a:rPr>
              <a:t>本科毕业设计答辩</a:t>
            </a:r>
            <a:endParaRPr sz="850">
              <a:solidFill>
                <a:srgbClr val="665A5A"/>
              </a:solidFill>
              <a:latin typeface="Microsoft YaHei" panose="020B0503020204020204" pitchFamily="34" charset="-122"/>
              <a:ea typeface="Microsoft YaHei" panose="020B0503020204020204" pitchFamily="34" charset="-122"/>
              <a:cs typeface="Microsoft YaHei UI"/>
            </a:endParaRPr>
          </a:p>
        </p:txBody>
      </p:sp>
      <p:sp>
        <p:nvSpPr>
          <p:cNvPr id="9" name="矩形 8">
            <a:extLst>
              <a:ext uri="{FF2B5EF4-FFF2-40B4-BE49-F238E27FC236}">
                <a16:creationId xmlns:a16="http://schemas.microsoft.com/office/drawing/2014/main" id="{53FC521D-409C-4D5E-87BC-3D8C8A600A17}"/>
              </a:ext>
            </a:extLst>
          </p:cNvPr>
          <p:cNvSpPr>
            <a:spLocks noGrp="1"/>
          </p:cNvSpPr>
          <p:nvPr/>
        </p:nvSpPr>
        <p:spPr>
          <a:xfrm>
            <a:off x="590550" y="552450"/>
            <a:ext cx="9144000" cy="482600"/>
          </a:xfrm>
          <a:prstGeom prst="rect">
            <a:avLst/>
          </a:prstGeom>
          <a:solidFill>
            <a:srgbClr val="000000">
              <a:alpha val="0"/>
            </a:srgbClr>
          </a:solidFill>
          <a:ln w="0">
            <a:solidFill>
              <a:srgbClr val="000000">
                <a:alpha val="0"/>
              </a:srgbClr>
            </a:solidFill>
            <a:prstDash val="solid"/>
          </a:ln>
        </p:spPr>
        <p:txBody>
          <a:bodyPr wrap="square" lIns="76200" tIns="50800" rIns="76200" bIns="50800" anchor="t"/>
          <a:lstStyle/>
          <a:p>
            <a:pPr>
              <a:defRPr sz="2025" b="1">
                <a:solidFill>
                  <a:srgbClr val="24222A"/>
                </a:solidFill>
                <a:latin typeface="Microsoft YaHei UI"/>
                <a:ea typeface="Microsoft YaHei UI"/>
                <a:cs typeface="Microsoft YaHei UI"/>
              </a:defRPr>
            </a:pPr>
            <a:r>
              <a:rPr lang="zh-CN" altLang="en-US" sz="3000" b="1">
                <a:solidFill>
                  <a:srgbClr val="222228"/>
                </a:solidFill>
                <a:latin typeface="微软雅黑" panose="020B0503020204020204" pitchFamily="34" charset="-122"/>
                <a:ea typeface="微软雅黑" panose="020B0503020204020204" pitchFamily="34" charset="-122"/>
                <a:cs typeface="Microsoft YaHei UI"/>
              </a:rPr>
              <a:t>双谱系耦合口径</a:t>
            </a:r>
            <a:endParaRPr sz="3000" b="1" dirty="0">
              <a:solidFill>
                <a:srgbClr val="222228"/>
              </a:solidFill>
              <a:latin typeface="微软雅黑" panose="020B0503020204020204" pitchFamily="34" charset="-122"/>
              <a:ea typeface="微软雅黑" panose="020B0503020204020204" pitchFamily="34" charset="-122"/>
              <a:cs typeface="Microsoft YaHei UI"/>
            </a:endParaRPr>
          </a:p>
        </p:txBody>
      </p:sp>
      <p:sp>
        <p:nvSpPr>
          <p:cNvPr id="10" name="文本框 9">
            <a:extLst>
              <a:ext uri="{FF2B5EF4-FFF2-40B4-BE49-F238E27FC236}">
                <a16:creationId xmlns:a16="http://schemas.microsoft.com/office/drawing/2014/main" id="{36965B0F-B369-017E-98DE-527750705D55}"/>
              </a:ext>
            </a:extLst>
          </p:cNvPr>
          <p:cNvSpPr txBox="1"/>
          <p:nvPr/>
        </p:nvSpPr>
        <p:spPr>
          <a:xfrm>
            <a:off x="571500" y="177800"/>
            <a:ext cx="6858000" cy="333425"/>
          </a:xfrm>
          <a:prstGeom prst="rect">
            <a:avLst/>
          </a:prstGeom>
          <a:noFill/>
        </p:spPr>
        <p:txBody>
          <a:bodyPr vert="horz" wrap="square" lIns="76200" tIns="50800" rIns="76200" bIns="50800" rtlCol="0">
            <a:spAutoFit/>
          </a:bodyPr>
          <a:lstStyle/>
          <a:p>
            <a:r>
              <a:rPr lang="en-US" altLang="zh-CN" sz="1500" b="1">
                <a:solidFill>
                  <a:srgbClr val="663D87"/>
                </a:solidFill>
                <a:latin typeface="微软雅黑" panose="020B0503020204020204" pitchFamily="34" charset="-122"/>
                <a:ea typeface="微软雅黑" panose="020B0503020204020204" pitchFamily="34" charset="-122"/>
              </a:rPr>
              <a:t>01 | </a:t>
            </a:r>
            <a:r>
              <a:rPr lang="zh-CN" altLang="en-US" sz="1500" b="1">
                <a:solidFill>
                  <a:srgbClr val="663D87"/>
                </a:solidFill>
                <a:latin typeface="微软雅黑" panose="020B0503020204020204" pitchFamily="34" charset="-122"/>
                <a:ea typeface="微软雅黑" panose="020B0503020204020204" pitchFamily="34" charset="-122"/>
              </a:rPr>
              <a:t>研究问题与逻辑</a:t>
            </a:r>
          </a:p>
        </p:txBody>
      </p:sp>
      <p:sp>
        <p:nvSpPr>
          <p:cNvPr id="16" name="文本框 15">
            <a:extLst>
              <a:ext uri="{FF2B5EF4-FFF2-40B4-BE49-F238E27FC236}">
                <a16:creationId xmlns:a16="http://schemas.microsoft.com/office/drawing/2014/main" id="{645072DF-AEEB-EA18-C5F9-CFDB327965A5}"/>
              </a:ext>
            </a:extLst>
          </p:cNvPr>
          <p:cNvSpPr txBox="1"/>
          <p:nvPr/>
        </p:nvSpPr>
        <p:spPr>
          <a:xfrm>
            <a:off x="889000" y="1193800"/>
            <a:ext cx="10414000" cy="348813"/>
          </a:xfrm>
          <a:prstGeom prst="rect">
            <a:avLst/>
          </a:prstGeom>
          <a:noFill/>
        </p:spPr>
        <p:txBody>
          <a:bodyPr vert="horz" wrap="square" lIns="76200" tIns="50800" rIns="76200" bIns="50800" rtlCol="0">
            <a:spAutoFit/>
          </a:bodyPr>
          <a:lstStyle/>
          <a:p>
            <a:r>
              <a:rPr lang="zh-CN" altLang="en-US" sz="1600">
                <a:solidFill>
                  <a:srgbClr val="222228"/>
                </a:solidFill>
                <a:latin typeface="微软雅黑" panose="020B0503020204020204" pitchFamily="34" charset="-122"/>
                <a:ea typeface="微软雅黑" panose="020B0503020204020204" pitchFamily="34" charset="-122"/>
              </a:rPr>
              <a:t>研究对象不是单独给景点评分，而是把文化谱系和旅游谱系通过文化景点锚点放到同一空间对象上比较。</a:t>
            </a:r>
          </a:p>
        </p:txBody>
      </p:sp>
      <p:cxnSp>
        <p:nvCxnSpPr>
          <p:cNvPr id="19" name="直接连接符 18">
            <a:extLst>
              <a:ext uri="{FF2B5EF4-FFF2-40B4-BE49-F238E27FC236}">
                <a16:creationId xmlns:a16="http://schemas.microsoft.com/office/drawing/2014/main" id="{9C1F4A09-2641-E3F7-274D-922B65B0CD41}"/>
              </a:ext>
            </a:extLst>
          </p:cNvPr>
          <p:cNvCxnSpPr/>
          <p:nvPr/>
        </p:nvCxnSpPr>
        <p:spPr>
          <a:xfrm>
            <a:off x="889000" y="1714500"/>
            <a:ext cx="10414000" cy="0"/>
          </a:xfrm>
          <a:prstGeom prst="line">
            <a:avLst/>
          </a:prstGeom>
          <a:ln w="12700">
            <a:solidFill>
              <a:srgbClr val="DADDE4"/>
            </a:solidFill>
          </a:ln>
        </p:spPr>
        <p:style>
          <a:lnRef idx="1">
            <a:schemeClr val="accent1"/>
          </a:lnRef>
          <a:fillRef idx="0">
            <a:schemeClr val="accent1"/>
          </a:fillRef>
          <a:effectRef idx="0">
            <a:schemeClr val="accent1"/>
          </a:effectRef>
          <a:fontRef idx="minor">
            <a:schemeClr val="tx1"/>
          </a:fontRef>
        </p:style>
      </p:cxnSp>
      <p:sp>
        <p:nvSpPr>
          <p:cNvPr id="22" name="矩形: 圆角 21">
            <a:extLst>
              <a:ext uri="{FF2B5EF4-FFF2-40B4-BE49-F238E27FC236}">
                <a16:creationId xmlns:a16="http://schemas.microsoft.com/office/drawing/2014/main" id="{C5763557-2511-BE53-40E0-22F92C0DAC44}"/>
              </a:ext>
            </a:extLst>
          </p:cNvPr>
          <p:cNvSpPr/>
          <p:nvPr/>
        </p:nvSpPr>
        <p:spPr>
          <a:xfrm>
            <a:off x="889000" y="2006600"/>
            <a:ext cx="3111500" cy="2705100"/>
          </a:xfrm>
          <a:prstGeom prst="roundRect">
            <a:avLst/>
          </a:prstGeom>
          <a:solidFill>
            <a:srgbClr val="FFFFFF"/>
          </a:solidFill>
          <a:ln w="12700" cap="flat" cmpd="sng" algn="ctr">
            <a:solidFill>
              <a:srgbClr val="DADDE4">
                <a:alpha val="88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27CF3BEA-8AD9-2F1C-A6A5-EB1DCE7E5E3F}"/>
              </a:ext>
            </a:extLst>
          </p:cNvPr>
          <p:cNvSpPr/>
          <p:nvPr/>
        </p:nvSpPr>
        <p:spPr>
          <a:xfrm>
            <a:off x="889000" y="2006600"/>
            <a:ext cx="3111500" cy="63500"/>
          </a:xfrm>
          <a:prstGeom prst="rect">
            <a:avLst/>
          </a:prstGeom>
          <a:solidFill>
            <a:srgbClr val="663D87"/>
          </a:solidFill>
          <a:ln w="12700" cap="flat" cmpd="sng" algn="ctr">
            <a:solidFill>
              <a:srgbClr val="663D87">
                <a:alpha val="82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8FDB715A-5D99-F8AD-7C74-853E873F1814}"/>
              </a:ext>
            </a:extLst>
          </p:cNvPr>
          <p:cNvSpPr txBox="1"/>
          <p:nvPr/>
        </p:nvSpPr>
        <p:spPr>
          <a:xfrm>
            <a:off x="1041400" y="2235200"/>
            <a:ext cx="2806700" cy="348813"/>
          </a:xfrm>
          <a:prstGeom prst="rect">
            <a:avLst/>
          </a:prstGeom>
          <a:noFill/>
        </p:spPr>
        <p:txBody>
          <a:bodyPr vert="horz" wrap="square" lIns="76200" tIns="50800" rIns="76200" bIns="50800" rtlCol="0">
            <a:spAutoFit/>
          </a:bodyPr>
          <a:lstStyle/>
          <a:p>
            <a:r>
              <a:rPr lang="zh-CN" altLang="en-US" sz="1600" b="1">
                <a:solidFill>
                  <a:srgbClr val="222228"/>
                </a:solidFill>
                <a:latin typeface="微软雅黑" panose="020B0503020204020204" pitchFamily="34" charset="-122"/>
                <a:ea typeface="微软雅黑" panose="020B0503020204020204" pitchFamily="34" charset="-122"/>
              </a:rPr>
              <a:t>文化谱系</a:t>
            </a:r>
          </a:p>
        </p:txBody>
      </p:sp>
      <p:sp>
        <p:nvSpPr>
          <p:cNvPr id="32" name="文本框 31">
            <a:extLst>
              <a:ext uri="{FF2B5EF4-FFF2-40B4-BE49-F238E27FC236}">
                <a16:creationId xmlns:a16="http://schemas.microsoft.com/office/drawing/2014/main" id="{84530283-8C32-5CF9-A1EE-1287EDED2645}"/>
              </a:ext>
            </a:extLst>
          </p:cNvPr>
          <p:cNvSpPr txBox="1"/>
          <p:nvPr/>
        </p:nvSpPr>
        <p:spPr>
          <a:xfrm>
            <a:off x="1041400" y="2641600"/>
            <a:ext cx="2806700" cy="933589"/>
          </a:xfrm>
          <a:prstGeom prst="rect">
            <a:avLst/>
          </a:prstGeom>
          <a:noFill/>
        </p:spPr>
        <p:txBody>
          <a:bodyPr vert="horz" wrap="square" lIns="76200" tIns="50800" rIns="76200" bIns="50800" rtlCol="0">
            <a:spAutoFit/>
          </a:bodyPr>
          <a:lstStyle/>
          <a:p>
            <a:r>
              <a:rPr lang="zh-CN" altLang="en-US" sz="1350">
                <a:solidFill>
                  <a:srgbClr val="60606C"/>
                </a:solidFill>
                <a:latin typeface="微软雅黑" panose="020B0503020204020204" pitchFamily="34" charset="-122"/>
                <a:ea typeface="微软雅黑" panose="020B0503020204020204" pitchFamily="34" charset="-122"/>
              </a:rPr>
              <a:t>典籍语料与地方文献</a:t>
            </a:r>
          </a:p>
          <a:p>
            <a:r>
              <a:rPr lang="zh-CN" altLang="en-US" sz="1350">
                <a:solidFill>
                  <a:srgbClr val="60606C"/>
                </a:solidFill>
                <a:latin typeface="微软雅黑" panose="020B0503020204020204" pitchFamily="34" charset="-122"/>
                <a:ea typeface="微软雅黑" panose="020B0503020204020204" pitchFamily="34" charset="-122"/>
              </a:rPr>
              <a:t>知识图谱实体与关系</a:t>
            </a:r>
          </a:p>
          <a:p>
            <a:r>
              <a:rPr lang="zh-CN" altLang="en-US" sz="1350">
                <a:solidFill>
                  <a:srgbClr val="60606C"/>
                </a:solidFill>
                <a:latin typeface="微软雅黑" panose="020B0503020204020204" pitchFamily="34" charset="-122"/>
                <a:ea typeface="微软雅黑" panose="020B0503020204020204" pitchFamily="34" charset="-122"/>
              </a:rPr>
              <a:t>文化记忆指数（</a:t>
            </a:r>
            <a:r>
              <a:rPr lang="en-US" altLang="zh-CN" sz="1350">
                <a:solidFill>
                  <a:srgbClr val="60606C"/>
                </a:solidFill>
                <a:latin typeface="微软雅黑" panose="020B0503020204020204" pitchFamily="34" charset="-122"/>
                <a:ea typeface="微软雅黑" panose="020B0503020204020204" pitchFamily="34" charset="-122"/>
              </a:rPr>
              <a:t>CMI</a:t>
            </a:r>
            <a:r>
              <a:rPr lang="zh-CN" altLang="en-US" sz="1350">
                <a:solidFill>
                  <a:srgbClr val="60606C"/>
                </a:solidFill>
                <a:latin typeface="微软雅黑" panose="020B0503020204020204" pitchFamily="34" charset="-122"/>
                <a:ea typeface="微软雅黑" panose="020B0503020204020204" pitchFamily="34" charset="-122"/>
              </a:rPr>
              <a:t>）</a:t>
            </a:r>
          </a:p>
          <a:p>
            <a:r>
              <a:rPr lang="zh-CN" altLang="en-US" sz="1350">
                <a:solidFill>
                  <a:srgbClr val="60606C"/>
                </a:solidFill>
                <a:latin typeface="微软雅黑" panose="020B0503020204020204" pitchFamily="34" charset="-122"/>
                <a:ea typeface="微软雅黑" panose="020B0503020204020204" pitchFamily="34" charset="-122"/>
              </a:rPr>
              <a:t>官方认定指数（</a:t>
            </a:r>
            <a:r>
              <a:rPr lang="en-US" altLang="zh-CN" sz="1350">
                <a:solidFill>
                  <a:srgbClr val="60606C"/>
                </a:solidFill>
                <a:latin typeface="微软雅黑" panose="020B0503020204020204" pitchFamily="34" charset="-122"/>
                <a:ea typeface="微软雅黑" panose="020B0503020204020204" pitchFamily="34" charset="-122"/>
              </a:rPr>
              <a:t>OAI</a:t>
            </a:r>
            <a:r>
              <a:rPr lang="zh-CN" altLang="en-US" sz="1350">
                <a:solidFill>
                  <a:srgbClr val="60606C"/>
                </a:solidFill>
                <a:latin typeface="微软雅黑" panose="020B0503020204020204" pitchFamily="34" charset="-122"/>
                <a:ea typeface="微软雅黑" panose="020B0503020204020204" pitchFamily="34" charset="-122"/>
              </a:rPr>
              <a:t>）</a:t>
            </a:r>
          </a:p>
        </p:txBody>
      </p:sp>
      <p:sp>
        <p:nvSpPr>
          <p:cNvPr id="36" name="矩形: 圆角 35">
            <a:extLst>
              <a:ext uri="{FF2B5EF4-FFF2-40B4-BE49-F238E27FC236}">
                <a16:creationId xmlns:a16="http://schemas.microsoft.com/office/drawing/2014/main" id="{1DD6F53A-30C5-6D08-4182-BD3299C6C4F8}"/>
              </a:ext>
            </a:extLst>
          </p:cNvPr>
          <p:cNvSpPr/>
          <p:nvPr/>
        </p:nvSpPr>
        <p:spPr>
          <a:xfrm>
            <a:off x="4851400" y="1841500"/>
            <a:ext cx="3111500" cy="3048000"/>
          </a:xfrm>
          <a:prstGeom prst="roundRect">
            <a:avLst/>
          </a:prstGeom>
          <a:solidFill>
            <a:srgbClr val="FFFFFF"/>
          </a:solidFill>
          <a:ln w="12700" cap="flat" cmpd="sng" algn="ctr">
            <a:solidFill>
              <a:srgbClr val="DADDE4">
                <a:alpha val="88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FC025AD3-EEE0-963C-2ACC-F33140E09CAD}"/>
              </a:ext>
            </a:extLst>
          </p:cNvPr>
          <p:cNvSpPr/>
          <p:nvPr/>
        </p:nvSpPr>
        <p:spPr>
          <a:xfrm>
            <a:off x="4851400" y="1841500"/>
            <a:ext cx="3111500" cy="63500"/>
          </a:xfrm>
          <a:prstGeom prst="rect">
            <a:avLst/>
          </a:prstGeom>
          <a:solidFill>
            <a:srgbClr val="227E8E"/>
          </a:solidFill>
          <a:ln w="12700" cap="flat" cmpd="sng" algn="ctr">
            <a:solidFill>
              <a:srgbClr val="227E8E">
                <a:alpha val="82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F47D2A2A-B638-1D57-EAD8-EAD625D7FF27}"/>
              </a:ext>
            </a:extLst>
          </p:cNvPr>
          <p:cNvSpPr txBox="1"/>
          <p:nvPr/>
        </p:nvSpPr>
        <p:spPr>
          <a:xfrm>
            <a:off x="5003800" y="2070100"/>
            <a:ext cx="2806700" cy="348813"/>
          </a:xfrm>
          <a:prstGeom prst="rect">
            <a:avLst/>
          </a:prstGeom>
          <a:noFill/>
        </p:spPr>
        <p:txBody>
          <a:bodyPr vert="horz" wrap="square" lIns="76200" tIns="50800" rIns="76200" bIns="50800" rtlCol="0">
            <a:spAutoFit/>
          </a:bodyPr>
          <a:lstStyle/>
          <a:p>
            <a:r>
              <a:rPr lang="zh-CN" altLang="en-US" sz="1600" b="1">
                <a:solidFill>
                  <a:srgbClr val="222228"/>
                </a:solidFill>
                <a:latin typeface="微软雅黑" panose="020B0503020204020204" pitchFamily="34" charset="-122"/>
                <a:ea typeface="微软雅黑" panose="020B0503020204020204" pitchFamily="34" charset="-122"/>
              </a:rPr>
              <a:t>中间层：核心锚点</a:t>
            </a:r>
          </a:p>
        </p:txBody>
      </p:sp>
      <p:sp>
        <p:nvSpPr>
          <p:cNvPr id="39" name="文本框 38">
            <a:extLst>
              <a:ext uri="{FF2B5EF4-FFF2-40B4-BE49-F238E27FC236}">
                <a16:creationId xmlns:a16="http://schemas.microsoft.com/office/drawing/2014/main" id="{F126D486-A7B1-3F03-98AD-00217895E1C1}"/>
              </a:ext>
            </a:extLst>
          </p:cNvPr>
          <p:cNvSpPr txBox="1"/>
          <p:nvPr/>
        </p:nvSpPr>
        <p:spPr>
          <a:xfrm>
            <a:off x="5003800" y="2476500"/>
            <a:ext cx="2806700" cy="933589"/>
          </a:xfrm>
          <a:prstGeom prst="rect">
            <a:avLst/>
          </a:prstGeom>
          <a:noFill/>
        </p:spPr>
        <p:txBody>
          <a:bodyPr vert="horz" wrap="square" lIns="76200" tIns="50800" rIns="76200" bIns="50800" rtlCol="0">
            <a:spAutoFit/>
          </a:bodyPr>
          <a:lstStyle/>
          <a:p>
            <a:r>
              <a:rPr lang="en-US" altLang="zh-CN" sz="1350">
                <a:solidFill>
                  <a:srgbClr val="60606C"/>
                </a:solidFill>
                <a:latin typeface="微软雅黑" panose="020B0503020204020204" pitchFamily="34" charset="-122"/>
                <a:ea typeface="微软雅黑" panose="020B0503020204020204" pitchFamily="34" charset="-122"/>
              </a:rPr>
              <a:t>165 </a:t>
            </a:r>
            <a:r>
              <a:rPr lang="zh-CN" altLang="en-US" sz="1350">
                <a:solidFill>
                  <a:srgbClr val="60606C"/>
                </a:solidFill>
                <a:latin typeface="微软雅黑" panose="020B0503020204020204" pitchFamily="34" charset="-122"/>
                <a:ea typeface="微软雅黑" panose="020B0503020204020204" pitchFamily="34" charset="-122"/>
              </a:rPr>
              <a:t>条核心文化载体</a:t>
            </a:r>
          </a:p>
          <a:p>
            <a:r>
              <a:rPr lang="zh-CN" altLang="en-US" sz="1350">
                <a:solidFill>
                  <a:srgbClr val="60606C"/>
                </a:solidFill>
                <a:latin typeface="微软雅黑" panose="020B0503020204020204" pitchFamily="34" charset="-122"/>
                <a:ea typeface="微软雅黑" panose="020B0503020204020204" pitchFamily="34" charset="-122"/>
              </a:rPr>
              <a:t>坐标可稳定落位</a:t>
            </a:r>
          </a:p>
          <a:p>
            <a:r>
              <a:rPr lang="zh-CN" altLang="en-US" sz="1350">
                <a:solidFill>
                  <a:srgbClr val="60606C"/>
                </a:solidFill>
                <a:latin typeface="微软雅黑" panose="020B0503020204020204" pitchFamily="34" charset="-122"/>
                <a:ea typeface="微软雅黑" panose="020B0503020204020204" pitchFamily="34" charset="-122"/>
              </a:rPr>
              <a:t>可与 </a:t>
            </a:r>
            <a:r>
              <a:rPr lang="en-US" altLang="zh-CN" sz="1350">
                <a:solidFill>
                  <a:srgbClr val="60606C"/>
                </a:solidFill>
                <a:latin typeface="微软雅黑" panose="020B0503020204020204" pitchFamily="34" charset="-122"/>
                <a:ea typeface="微软雅黑" panose="020B0503020204020204" pitchFamily="34" charset="-122"/>
              </a:rPr>
              <a:t>POI </a:t>
            </a:r>
            <a:r>
              <a:rPr lang="zh-CN" altLang="en-US" sz="1350">
                <a:solidFill>
                  <a:srgbClr val="60606C"/>
                </a:solidFill>
                <a:latin typeface="微软雅黑" panose="020B0503020204020204" pitchFamily="34" charset="-122"/>
                <a:ea typeface="微软雅黑" panose="020B0503020204020204" pitchFamily="34" charset="-122"/>
              </a:rPr>
              <a:t>和评论匹配</a:t>
            </a:r>
          </a:p>
          <a:p>
            <a:r>
              <a:rPr lang="zh-CN" altLang="en-US" sz="1350">
                <a:solidFill>
                  <a:srgbClr val="60606C"/>
                </a:solidFill>
                <a:latin typeface="微软雅黑" panose="020B0503020204020204" pitchFamily="34" charset="-122"/>
                <a:ea typeface="微软雅黑" panose="020B0503020204020204" pitchFamily="34" charset="-122"/>
              </a:rPr>
              <a:t>进入 </a:t>
            </a:r>
            <a:r>
              <a:rPr lang="en-US" altLang="zh-CN" sz="1350">
                <a:solidFill>
                  <a:srgbClr val="60606C"/>
                </a:solidFill>
                <a:latin typeface="微软雅黑" panose="020B0503020204020204" pitchFamily="34" charset="-122"/>
                <a:ea typeface="微软雅黑" panose="020B0503020204020204" pitchFamily="34" charset="-122"/>
              </a:rPr>
              <a:t>500 m </a:t>
            </a:r>
            <a:r>
              <a:rPr lang="zh-CN" altLang="en-US" sz="1350">
                <a:solidFill>
                  <a:srgbClr val="60606C"/>
                </a:solidFill>
                <a:latin typeface="微软雅黑" panose="020B0503020204020204" pitchFamily="34" charset="-122"/>
                <a:ea typeface="微软雅黑" panose="020B0503020204020204" pitchFamily="34" charset="-122"/>
              </a:rPr>
              <a:t>网格口径</a:t>
            </a:r>
          </a:p>
        </p:txBody>
      </p:sp>
      <p:sp>
        <p:nvSpPr>
          <p:cNvPr id="40" name="矩形: 圆角 39">
            <a:extLst>
              <a:ext uri="{FF2B5EF4-FFF2-40B4-BE49-F238E27FC236}">
                <a16:creationId xmlns:a16="http://schemas.microsoft.com/office/drawing/2014/main" id="{26D96F12-1946-E3B5-7DDB-61ADB346B82F}"/>
              </a:ext>
            </a:extLst>
          </p:cNvPr>
          <p:cNvSpPr/>
          <p:nvPr/>
        </p:nvSpPr>
        <p:spPr>
          <a:xfrm>
            <a:off x="8826500" y="2006600"/>
            <a:ext cx="3111500" cy="2705100"/>
          </a:xfrm>
          <a:prstGeom prst="roundRect">
            <a:avLst/>
          </a:prstGeom>
          <a:solidFill>
            <a:srgbClr val="FFFFFF"/>
          </a:solidFill>
          <a:ln w="12700" cap="flat" cmpd="sng" algn="ctr">
            <a:solidFill>
              <a:srgbClr val="DADDE4">
                <a:alpha val="88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D778D115-02E6-BA0E-E143-8508B22F2655}"/>
              </a:ext>
            </a:extLst>
          </p:cNvPr>
          <p:cNvSpPr/>
          <p:nvPr/>
        </p:nvSpPr>
        <p:spPr>
          <a:xfrm>
            <a:off x="8826500" y="2006600"/>
            <a:ext cx="3111500" cy="63500"/>
          </a:xfrm>
          <a:prstGeom prst="rect">
            <a:avLst/>
          </a:prstGeom>
          <a:solidFill>
            <a:srgbClr val="BE892C"/>
          </a:solidFill>
          <a:ln w="12700" cap="flat" cmpd="sng" algn="ctr">
            <a:solidFill>
              <a:srgbClr val="BE892C">
                <a:alpha val="82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9745EFCC-3C93-2A55-4A88-9445B87D9411}"/>
              </a:ext>
            </a:extLst>
          </p:cNvPr>
          <p:cNvSpPr txBox="1"/>
          <p:nvPr/>
        </p:nvSpPr>
        <p:spPr>
          <a:xfrm>
            <a:off x="8978900" y="2235200"/>
            <a:ext cx="2806700" cy="348813"/>
          </a:xfrm>
          <a:prstGeom prst="rect">
            <a:avLst/>
          </a:prstGeom>
          <a:noFill/>
        </p:spPr>
        <p:txBody>
          <a:bodyPr vert="horz" wrap="square" lIns="76200" tIns="50800" rIns="76200" bIns="50800" rtlCol="0">
            <a:spAutoFit/>
          </a:bodyPr>
          <a:lstStyle/>
          <a:p>
            <a:r>
              <a:rPr lang="zh-CN" altLang="en-US" sz="1600" b="1">
                <a:solidFill>
                  <a:srgbClr val="222228"/>
                </a:solidFill>
                <a:latin typeface="微软雅黑" panose="020B0503020204020204" pitchFamily="34" charset="-122"/>
                <a:ea typeface="微软雅黑" panose="020B0503020204020204" pitchFamily="34" charset="-122"/>
              </a:rPr>
              <a:t>旅游谱系</a:t>
            </a:r>
          </a:p>
        </p:txBody>
      </p:sp>
      <p:sp>
        <p:nvSpPr>
          <p:cNvPr id="43" name="文本框 42">
            <a:extLst>
              <a:ext uri="{FF2B5EF4-FFF2-40B4-BE49-F238E27FC236}">
                <a16:creationId xmlns:a16="http://schemas.microsoft.com/office/drawing/2014/main" id="{3D1618CD-E608-9CE4-71CA-548CFC273E41}"/>
              </a:ext>
            </a:extLst>
          </p:cNvPr>
          <p:cNvSpPr txBox="1"/>
          <p:nvPr/>
        </p:nvSpPr>
        <p:spPr>
          <a:xfrm>
            <a:off x="8978900" y="2641600"/>
            <a:ext cx="2806700" cy="933589"/>
          </a:xfrm>
          <a:prstGeom prst="rect">
            <a:avLst/>
          </a:prstGeom>
          <a:noFill/>
        </p:spPr>
        <p:txBody>
          <a:bodyPr vert="horz" wrap="square" lIns="76200" tIns="50800" rIns="76200" bIns="50800" rtlCol="0">
            <a:spAutoFit/>
          </a:bodyPr>
          <a:lstStyle/>
          <a:p>
            <a:r>
              <a:rPr lang="en-US" altLang="zh-CN" sz="1350">
                <a:solidFill>
                  <a:srgbClr val="60606C"/>
                </a:solidFill>
                <a:latin typeface="微软雅黑" panose="020B0503020204020204" pitchFamily="34" charset="-122"/>
                <a:ea typeface="微软雅黑" panose="020B0503020204020204" pitchFamily="34" charset="-122"/>
              </a:rPr>
              <a:t>13,512 </a:t>
            </a:r>
            <a:r>
              <a:rPr lang="zh-CN" altLang="en-US" sz="1350">
                <a:solidFill>
                  <a:srgbClr val="60606C"/>
                </a:solidFill>
                <a:latin typeface="微软雅黑" panose="020B0503020204020204" pitchFamily="34" charset="-122"/>
                <a:ea typeface="微软雅黑" panose="020B0503020204020204" pitchFamily="34" charset="-122"/>
              </a:rPr>
              <a:t>条旅游 </a:t>
            </a:r>
            <a:r>
              <a:rPr lang="en-US" altLang="zh-CN" sz="1350">
                <a:solidFill>
                  <a:srgbClr val="60606C"/>
                </a:solidFill>
                <a:latin typeface="微软雅黑" panose="020B0503020204020204" pitchFamily="34" charset="-122"/>
                <a:ea typeface="微软雅黑" panose="020B0503020204020204" pitchFamily="34" charset="-122"/>
              </a:rPr>
              <a:t>POI</a:t>
            </a:r>
          </a:p>
          <a:p>
            <a:r>
              <a:rPr lang="zh-CN" altLang="en-US" sz="1350">
                <a:solidFill>
                  <a:srgbClr val="60606C"/>
                </a:solidFill>
                <a:latin typeface="微软雅黑" panose="020B0503020204020204" pitchFamily="34" charset="-122"/>
                <a:ea typeface="微软雅黑" panose="020B0503020204020204" pitchFamily="34" charset="-122"/>
              </a:rPr>
              <a:t>平台评分与评论量</a:t>
            </a:r>
          </a:p>
          <a:p>
            <a:r>
              <a:rPr lang="zh-CN" altLang="en-US" sz="1350">
                <a:solidFill>
                  <a:srgbClr val="60606C"/>
                </a:solidFill>
                <a:latin typeface="微软雅黑" panose="020B0503020204020204" pitchFamily="34" charset="-122"/>
                <a:ea typeface="微软雅黑" panose="020B0503020204020204" pitchFamily="34" charset="-122"/>
              </a:rPr>
              <a:t>旅游热度指数（</a:t>
            </a:r>
            <a:r>
              <a:rPr lang="en-US" altLang="zh-CN" sz="1350">
                <a:solidFill>
                  <a:srgbClr val="60606C"/>
                </a:solidFill>
                <a:latin typeface="微软雅黑" panose="020B0503020204020204" pitchFamily="34" charset="-122"/>
                <a:ea typeface="微软雅黑" panose="020B0503020204020204" pitchFamily="34" charset="-122"/>
              </a:rPr>
              <a:t>THI</a:t>
            </a:r>
            <a:r>
              <a:rPr lang="zh-CN" altLang="en-US" sz="1350">
                <a:solidFill>
                  <a:srgbClr val="60606C"/>
                </a:solidFill>
                <a:latin typeface="微软雅黑" panose="020B0503020204020204" pitchFamily="34" charset="-122"/>
                <a:ea typeface="微软雅黑" panose="020B0503020204020204" pitchFamily="34" charset="-122"/>
              </a:rPr>
              <a:t>）</a:t>
            </a:r>
          </a:p>
          <a:p>
            <a:r>
              <a:rPr lang="zh-CN" altLang="en-US" sz="1350">
                <a:solidFill>
                  <a:srgbClr val="60606C"/>
                </a:solidFill>
                <a:latin typeface="微软雅黑" panose="020B0503020204020204" pitchFamily="34" charset="-122"/>
                <a:ea typeface="微软雅黑" panose="020B0503020204020204" pitchFamily="34" charset="-122"/>
              </a:rPr>
              <a:t>评论知识图谱复核</a:t>
            </a:r>
          </a:p>
        </p:txBody>
      </p:sp>
      <p:sp>
        <p:nvSpPr>
          <p:cNvPr id="44" name="文本框 43">
            <a:extLst>
              <a:ext uri="{FF2B5EF4-FFF2-40B4-BE49-F238E27FC236}">
                <a16:creationId xmlns:a16="http://schemas.microsoft.com/office/drawing/2014/main" id="{6B950744-99F8-3C4F-1CA5-1040CDADDAC0}"/>
              </a:ext>
            </a:extLst>
          </p:cNvPr>
          <p:cNvSpPr txBox="1"/>
          <p:nvPr/>
        </p:nvSpPr>
        <p:spPr>
          <a:xfrm>
            <a:off x="1168400" y="4343400"/>
            <a:ext cx="1397000" cy="456535"/>
          </a:xfrm>
          <a:prstGeom prst="rect">
            <a:avLst/>
          </a:prstGeom>
          <a:noFill/>
        </p:spPr>
        <p:txBody>
          <a:bodyPr vert="horz" wrap="square" lIns="76200" tIns="50800" rIns="76200" bIns="50800" rtlCol="0">
            <a:spAutoFit/>
          </a:bodyPr>
          <a:lstStyle/>
          <a:p>
            <a:r>
              <a:rPr lang="en-US" altLang="zh-CN" sz="2300" b="1">
                <a:solidFill>
                  <a:srgbClr val="663D87"/>
                </a:solidFill>
                <a:latin typeface="微软雅黑" panose="020B0503020204020204" pitchFamily="34" charset="-122"/>
                <a:ea typeface="微软雅黑" panose="020B0503020204020204" pitchFamily="34" charset="-122"/>
              </a:rPr>
              <a:t>8,048</a:t>
            </a:r>
            <a:endParaRPr lang="zh-CN" altLang="en-US" sz="2300" b="1">
              <a:solidFill>
                <a:srgbClr val="663D87"/>
              </a:solidFill>
              <a:latin typeface="微软雅黑" panose="020B0503020204020204" pitchFamily="34" charset="-122"/>
              <a:ea typeface="微软雅黑" panose="020B0503020204020204" pitchFamily="34" charset="-122"/>
            </a:endParaRPr>
          </a:p>
        </p:txBody>
      </p:sp>
      <p:cxnSp>
        <p:nvCxnSpPr>
          <p:cNvPr id="45" name="直接连接符 44">
            <a:extLst>
              <a:ext uri="{FF2B5EF4-FFF2-40B4-BE49-F238E27FC236}">
                <a16:creationId xmlns:a16="http://schemas.microsoft.com/office/drawing/2014/main" id="{4F487D71-FCD8-B82C-7607-ED9A506D364B}"/>
              </a:ext>
            </a:extLst>
          </p:cNvPr>
          <p:cNvCxnSpPr/>
          <p:nvPr/>
        </p:nvCxnSpPr>
        <p:spPr>
          <a:xfrm>
            <a:off x="1168400" y="4737100"/>
            <a:ext cx="1168400" cy="0"/>
          </a:xfrm>
          <a:prstGeom prst="line">
            <a:avLst/>
          </a:prstGeom>
          <a:ln w="12700">
            <a:solidFill>
              <a:srgbClr val="663D87"/>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54B944F2-33EB-74AE-54E3-4BF663267A7F}"/>
              </a:ext>
            </a:extLst>
          </p:cNvPr>
          <p:cNvSpPr txBox="1"/>
          <p:nvPr/>
        </p:nvSpPr>
        <p:spPr>
          <a:xfrm>
            <a:off x="1168400" y="4787900"/>
            <a:ext cx="1524000" cy="279564"/>
          </a:xfrm>
          <a:prstGeom prst="rect">
            <a:avLst/>
          </a:prstGeom>
          <a:noFill/>
        </p:spPr>
        <p:txBody>
          <a:bodyPr vert="horz" wrap="square" lIns="76200" tIns="50800" rIns="76200" bIns="50800" rtlCol="0">
            <a:spAutoFit/>
          </a:bodyPr>
          <a:lstStyle/>
          <a:p>
            <a:r>
              <a:rPr lang="zh-CN" altLang="en-US" sz="1150">
                <a:solidFill>
                  <a:srgbClr val="60606C"/>
                </a:solidFill>
                <a:latin typeface="微软雅黑" panose="020B0503020204020204" pitchFamily="34" charset="-122"/>
                <a:ea typeface="微软雅黑" panose="020B0503020204020204" pitchFamily="34" charset="-122"/>
              </a:rPr>
              <a:t>图谱实体</a:t>
            </a:r>
          </a:p>
        </p:txBody>
      </p:sp>
      <p:sp>
        <p:nvSpPr>
          <p:cNvPr id="47" name="文本框 46">
            <a:extLst>
              <a:ext uri="{FF2B5EF4-FFF2-40B4-BE49-F238E27FC236}">
                <a16:creationId xmlns:a16="http://schemas.microsoft.com/office/drawing/2014/main" id="{7BC9703E-06FB-0075-6747-67322EB396D1}"/>
              </a:ext>
            </a:extLst>
          </p:cNvPr>
          <p:cNvSpPr txBox="1"/>
          <p:nvPr/>
        </p:nvSpPr>
        <p:spPr>
          <a:xfrm>
            <a:off x="5130800" y="4495800"/>
            <a:ext cx="1397000" cy="456535"/>
          </a:xfrm>
          <a:prstGeom prst="rect">
            <a:avLst/>
          </a:prstGeom>
          <a:noFill/>
        </p:spPr>
        <p:txBody>
          <a:bodyPr vert="horz" wrap="square" lIns="76200" tIns="50800" rIns="76200" bIns="50800" rtlCol="0">
            <a:spAutoFit/>
          </a:bodyPr>
          <a:lstStyle/>
          <a:p>
            <a:r>
              <a:rPr lang="en-US" altLang="zh-CN" sz="2300" b="1">
                <a:solidFill>
                  <a:srgbClr val="227E8E"/>
                </a:solidFill>
                <a:latin typeface="微软雅黑" panose="020B0503020204020204" pitchFamily="34" charset="-122"/>
                <a:ea typeface="微软雅黑" panose="020B0503020204020204" pitchFamily="34" charset="-122"/>
              </a:rPr>
              <a:t>165</a:t>
            </a:r>
            <a:endParaRPr lang="zh-CN" altLang="en-US" sz="2300" b="1">
              <a:solidFill>
                <a:srgbClr val="227E8E"/>
              </a:solidFill>
              <a:latin typeface="微软雅黑" panose="020B0503020204020204" pitchFamily="34" charset="-122"/>
              <a:ea typeface="微软雅黑" panose="020B0503020204020204" pitchFamily="34" charset="-122"/>
            </a:endParaRPr>
          </a:p>
        </p:txBody>
      </p:sp>
      <p:cxnSp>
        <p:nvCxnSpPr>
          <p:cNvPr id="48" name="直接连接符 47">
            <a:extLst>
              <a:ext uri="{FF2B5EF4-FFF2-40B4-BE49-F238E27FC236}">
                <a16:creationId xmlns:a16="http://schemas.microsoft.com/office/drawing/2014/main" id="{071DDCE8-73B2-7240-15BF-819BB30925C1}"/>
              </a:ext>
            </a:extLst>
          </p:cNvPr>
          <p:cNvCxnSpPr/>
          <p:nvPr/>
        </p:nvCxnSpPr>
        <p:spPr>
          <a:xfrm>
            <a:off x="5130800" y="4889500"/>
            <a:ext cx="1168400" cy="0"/>
          </a:xfrm>
          <a:prstGeom prst="line">
            <a:avLst/>
          </a:prstGeom>
          <a:ln w="12700">
            <a:solidFill>
              <a:srgbClr val="227E8E"/>
            </a:solidFill>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945A5FE6-3F3D-3829-A680-5630CBD527B2}"/>
              </a:ext>
            </a:extLst>
          </p:cNvPr>
          <p:cNvSpPr txBox="1"/>
          <p:nvPr/>
        </p:nvSpPr>
        <p:spPr>
          <a:xfrm>
            <a:off x="5130800" y="4940300"/>
            <a:ext cx="1524000" cy="279564"/>
          </a:xfrm>
          <a:prstGeom prst="rect">
            <a:avLst/>
          </a:prstGeom>
          <a:noFill/>
        </p:spPr>
        <p:txBody>
          <a:bodyPr vert="horz" wrap="square" lIns="76200" tIns="50800" rIns="76200" bIns="50800" rtlCol="0">
            <a:spAutoFit/>
          </a:bodyPr>
          <a:lstStyle/>
          <a:p>
            <a:r>
              <a:rPr lang="zh-CN" altLang="en-US" sz="1150">
                <a:solidFill>
                  <a:srgbClr val="60606C"/>
                </a:solidFill>
                <a:latin typeface="微软雅黑" panose="020B0503020204020204" pitchFamily="34" charset="-122"/>
                <a:ea typeface="微软雅黑" panose="020B0503020204020204" pitchFamily="34" charset="-122"/>
              </a:rPr>
              <a:t>核心载体</a:t>
            </a:r>
          </a:p>
        </p:txBody>
      </p:sp>
      <p:sp>
        <p:nvSpPr>
          <p:cNvPr id="50" name="文本框 49">
            <a:extLst>
              <a:ext uri="{FF2B5EF4-FFF2-40B4-BE49-F238E27FC236}">
                <a16:creationId xmlns:a16="http://schemas.microsoft.com/office/drawing/2014/main" id="{7D6F4CD3-553C-CACF-FD00-E8363D693D94}"/>
              </a:ext>
            </a:extLst>
          </p:cNvPr>
          <p:cNvSpPr txBox="1"/>
          <p:nvPr/>
        </p:nvSpPr>
        <p:spPr>
          <a:xfrm>
            <a:off x="6731000" y="4495800"/>
            <a:ext cx="1397000" cy="456535"/>
          </a:xfrm>
          <a:prstGeom prst="rect">
            <a:avLst/>
          </a:prstGeom>
          <a:noFill/>
        </p:spPr>
        <p:txBody>
          <a:bodyPr vert="horz" wrap="square" lIns="76200" tIns="50800" rIns="76200" bIns="50800" rtlCol="0">
            <a:spAutoFit/>
          </a:bodyPr>
          <a:lstStyle/>
          <a:p>
            <a:r>
              <a:rPr lang="en-US" altLang="zh-CN" sz="2300" b="1">
                <a:solidFill>
                  <a:srgbClr val="227E8E"/>
                </a:solidFill>
                <a:latin typeface="微软雅黑" panose="020B0503020204020204" pitchFamily="34" charset="-122"/>
                <a:ea typeface="微软雅黑" panose="020B0503020204020204" pitchFamily="34" charset="-122"/>
              </a:rPr>
              <a:t>500 m</a:t>
            </a:r>
            <a:endParaRPr lang="zh-CN" altLang="en-US" sz="2300" b="1">
              <a:solidFill>
                <a:srgbClr val="227E8E"/>
              </a:solidFill>
              <a:latin typeface="微软雅黑" panose="020B0503020204020204" pitchFamily="34" charset="-122"/>
              <a:ea typeface="微软雅黑" panose="020B0503020204020204" pitchFamily="34" charset="-122"/>
            </a:endParaRPr>
          </a:p>
        </p:txBody>
      </p:sp>
      <p:cxnSp>
        <p:nvCxnSpPr>
          <p:cNvPr id="51" name="直接连接符 50">
            <a:extLst>
              <a:ext uri="{FF2B5EF4-FFF2-40B4-BE49-F238E27FC236}">
                <a16:creationId xmlns:a16="http://schemas.microsoft.com/office/drawing/2014/main" id="{5802F462-10D6-F567-73CA-F5942D84D782}"/>
              </a:ext>
            </a:extLst>
          </p:cNvPr>
          <p:cNvCxnSpPr/>
          <p:nvPr/>
        </p:nvCxnSpPr>
        <p:spPr>
          <a:xfrm>
            <a:off x="6731000" y="4889500"/>
            <a:ext cx="1168400" cy="0"/>
          </a:xfrm>
          <a:prstGeom prst="line">
            <a:avLst/>
          </a:prstGeom>
          <a:ln w="12700">
            <a:solidFill>
              <a:srgbClr val="227E8E"/>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2C26BA6F-D285-76ED-162C-B9D0DD751977}"/>
              </a:ext>
            </a:extLst>
          </p:cNvPr>
          <p:cNvSpPr txBox="1"/>
          <p:nvPr/>
        </p:nvSpPr>
        <p:spPr>
          <a:xfrm>
            <a:off x="6731000" y="4940300"/>
            <a:ext cx="1524000" cy="279564"/>
          </a:xfrm>
          <a:prstGeom prst="rect">
            <a:avLst/>
          </a:prstGeom>
          <a:noFill/>
        </p:spPr>
        <p:txBody>
          <a:bodyPr vert="horz" wrap="square" lIns="76200" tIns="50800" rIns="76200" bIns="50800" rtlCol="0">
            <a:spAutoFit/>
          </a:bodyPr>
          <a:lstStyle/>
          <a:p>
            <a:r>
              <a:rPr lang="zh-CN" altLang="en-US" sz="1150">
                <a:solidFill>
                  <a:srgbClr val="60606C"/>
                </a:solidFill>
                <a:latin typeface="微软雅黑" panose="020B0503020204020204" pitchFamily="34" charset="-122"/>
                <a:ea typeface="微软雅黑" panose="020B0503020204020204" pitchFamily="34" charset="-122"/>
              </a:rPr>
              <a:t>网格口径</a:t>
            </a:r>
          </a:p>
        </p:txBody>
      </p:sp>
      <p:sp>
        <p:nvSpPr>
          <p:cNvPr id="53" name="文本框 52">
            <a:extLst>
              <a:ext uri="{FF2B5EF4-FFF2-40B4-BE49-F238E27FC236}">
                <a16:creationId xmlns:a16="http://schemas.microsoft.com/office/drawing/2014/main" id="{6C05EF00-46AF-BFE1-D57A-CA7E2B90F38C}"/>
              </a:ext>
            </a:extLst>
          </p:cNvPr>
          <p:cNvSpPr txBox="1"/>
          <p:nvPr/>
        </p:nvSpPr>
        <p:spPr>
          <a:xfrm>
            <a:off x="9105900" y="4343400"/>
            <a:ext cx="1397000" cy="456535"/>
          </a:xfrm>
          <a:prstGeom prst="rect">
            <a:avLst/>
          </a:prstGeom>
          <a:noFill/>
        </p:spPr>
        <p:txBody>
          <a:bodyPr vert="horz" wrap="square" lIns="76200" tIns="50800" rIns="76200" bIns="50800" rtlCol="0">
            <a:spAutoFit/>
          </a:bodyPr>
          <a:lstStyle/>
          <a:p>
            <a:r>
              <a:rPr lang="en-US" altLang="zh-CN" sz="2300" b="1">
                <a:solidFill>
                  <a:srgbClr val="BE892C"/>
                </a:solidFill>
                <a:latin typeface="微软雅黑" panose="020B0503020204020204" pitchFamily="34" charset="-122"/>
                <a:ea typeface="微软雅黑" panose="020B0503020204020204" pitchFamily="34" charset="-122"/>
              </a:rPr>
              <a:t>13,512</a:t>
            </a:r>
            <a:endParaRPr lang="zh-CN" altLang="en-US" sz="2300" b="1">
              <a:solidFill>
                <a:srgbClr val="BE892C"/>
              </a:solidFill>
              <a:latin typeface="微软雅黑" panose="020B0503020204020204" pitchFamily="34" charset="-122"/>
              <a:ea typeface="微软雅黑" panose="020B0503020204020204" pitchFamily="34" charset="-122"/>
            </a:endParaRPr>
          </a:p>
        </p:txBody>
      </p:sp>
      <p:cxnSp>
        <p:nvCxnSpPr>
          <p:cNvPr id="54" name="直接连接符 53">
            <a:extLst>
              <a:ext uri="{FF2B5EF4-FFF2-40B4-BE49-F238E27FC236}">
                <a16:creationId xmlns:a16="http://schemas.microsoft.com/office/drawing/2014/main" id="{1BFED1AA-D49B-E4CD-D9E5-AE2531702B47}"/>
              </a:ext>
            </a:extLst>
          </p:cNvPr>
          <p:cNvCxnSpPr/>
          <p:nvPr/>
        </p:nvCxnSpPr>
        <p:spPr>
          <a:xfrm>
            <a:off x="9105900" y="4737100"/>
            <a:ext cx="1168400" cy="0"/>
          </a:xfrm>
          <a:prstGeom prst="line">
            <a:avLst/>
          </a:prstGeom>
          <a:ln w="12700">
            <a:solidFill>
              <a:srgbClr val="BE892C"/>
            </a:solidFill>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5D9B593F-1382-DD39-898B-BAA91176EC97}"/>
              </a:ext>
            </a:extLst>
          </p:cNvPr>
          <p:cNvSpPr txBox="1"/>
          <p:nvPr/>
        </p:nvSpPr>
        <p:spPr>
          <a:xfrm>
            <a:off x="9105900" y="4787900"/>
            <a:ext cx="1524000" cy="279564"/>
          </a:xfrm>
          <a:prstGeom prst="rect">
            <a:avLst/>
          </a:prstGeom>
          <a:noFill/>
        </p:spPr>
        <p:txBody>
          <a:bodyPr vert="horz" wrap="square" lIns="76200" tIns="50800" rIns="76200" bIns="50800" rtlCol="0">
            <a:spAutoFit/>
          </a:bodyPr>
          <a:lstStyle/>
          <a:p>
            <a:r>
              <a:rPr lang="zh-CN" altLang="en-US" sz="1150">
                <a:solidFill>
                  <a:srgbClr val="60606C"/>
                </a:solidFill>
                <a:latin typeface="微软雅黑" panose="020B0503020204020204" pitchFamily="34" charset="-122"/>
                <a:ea typeface="微软雅黑" panose="020B0503020204020204" pitchFamily="34" charset="-122"/>
              </a:rPr>
              <a:t>旅游 </a:t>
            </a:r>
            <a:r>
              <a:rPr lang="en-US" altLang="zh-CN" sz="1150">
                <a:solidFill>
                  <a:srgbClr val="60606C"/>
                </a:solidFill>
                <a:latin typeface="微软雅黑" panose="020B0503020204020204" pitchFamily="34" charset="-122"/>
                <a:ea typeface="微软雅黑" panose="020B0503020204020204" pitchFamily="34" charset="-122"/>
              </a:rPr>
              <a:t>POI</a:t>
            </a:r>
            <a:endParaRPr lang="zh-CN" altLang="en-US" sz="1150">
              <a:solidFill>
                <a:srgbClr val="60606C"/>
              </a:solidFill>
              <a:latin typeface="微软雅黑" panose="020B0503020204020204" pitchFamily="34" charset="-122"/>
              <a:ea typeface="微软雅黑" panose="020B0503020204020204" pitchFamily="34" charset="-122"/>
            </a:endParaRPr>
          </a:p>
        </p:txBody>
      </p:sp>
      <p:cxnSp>
        <p:nvCxnSpPr>
          <p:cNvPr id="57" name="直接连接符 56">
            <a:extLst>
              <a:ext uri="{FF2B5EF4-FFF2-40B4-BE49-F238E27FC236}">
                <a16:creationId xmlns:a16="http://schemas.microsoft.com/office/drawing/2014/main" id="{DEAC13F0-09D9-8F9F-CF8E-3434F705D0A3}"/>
              </a:ext>
            </a:extLst>
          </p:cNvPr>
          <p:cNvCxnSpPr/>
          <p:nvPr/>
        </p:nvCxnSpPr>
        <p:spPr>
          <a:xfrm>
            <a:off x="4038600" y="3302000"/>
            <a:ext cx="736600" cy="0"/>
          </a:xfrm>
          <a:prstGeom prst="line">
            <a:avLst/>
          </a:prstGeom>
          <a:ln w="17780">
            <a:solidFill>
              <a:srgbClr val="60606C"/>
            </a:solidFill>
            <a:tailEnd type="arrow"/>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CCA25D39-075B-E444-EE1C-0F0E1094F793}"/>
              </a:ext>
            </a:extLst>
          </p:cNvPr>
          <p:cNvCxnSpPr/>
          <p:nvPr/>
        </p:nvCxnSpPr>
        <p:spPr>
          <a:xfrm>
            <a:off x="8001000" y="3302000"/>
            <a:ext cx="762000" cy="0"/>
          </a:xfrm>
          <a:prstGeom prst="line">
            <a:avLst/>
          </a:prstGeom>
          <a:ln w="17780">
            <a:solidFill>
              <a:srgbClr val="60606C"/>
            </a:solidFill>
            <a:tailEnd type="arrow"/>
          </a:ln>
        </p:spPr>
        <p:style>
          <a:lnRef idx="1">
            <a:schemeClr val="accent1"/>
          </a:lnRef>
          <a:fillRef idx="0">
            <a:schemeClr val="accent1"/>
          </a:fillRef>
          <a:effectRef idx="0">
            <a:schemeClr val="accent1"/>
          </a:effectRef>
          <a:fontRef idx="minor">
            <a:schemeClr val="tx1"/>
          </a:fontRef>
        </p:style>
      </p:cxnSp>
      <p:sp>
        <p:nvSpPr>
          <p:cNvPr id="71" name="矩形: 圆角 70">
            <a:extLst>
              <a:ext uri="{FF2B5EF4-FFF2-40B4-BE49-F238E27FC236}">
                <a16:creationId xmlns:a16="http://schemas.microsoft.com/office/drawing/2014/main" id="{9D113FB6-A06D-EC89-64C1-92A562DA9F59}"/>
              </a:ext>
            </a:extLst>
          </p:cNvPr>
          <p:cNvSpPr/>
          <p:nvPr/>
        </p:nvSpPr>
        <p:spPr>
          <a:xfrm>
            <a:off x="2387600" y="5435600"/>
            <a:ext cx="7416800" cy="711200"/>
          </a:xfrm>
          <a:prstGeom prst="roundRect">
            <a:avLst/>
          </a:prstGeom>
          <a:solidFill>
            <a:srgbClr val="FFFFFF"/>
          </a:solidFill>
          <a:ln w="12700" cap="flat" cmpd="sng" algn="ctr">
            <a:solidFill>
              <a:srgbClr val="DADDE4">
                <a:alpha val="88000"/>
              </a:srgbClr>
            </a:solidFill>
            <a:prstDash val="solid"/>
            <a:round/>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956FCE73-CC02-C577-53DA-6D771A05BF93}"/>
              </a:ext>
            </a:extLst>
          </p:cNvPr>
          <p:cNvSpPr txBox="1"/>
          <p:nvPr/>
        </p:nvSpPr>
        <p:spPr>
          <a:xfrm>
            <a:off x="2717800" y="5626100"/>
            <a:ext cx="6858000" cy="564257"/>
          </a:xfrm>
          <a:prstGeom prst="rect">
            <a:avLst/>
          </a:prstGeom>
          <a:noFill/>
        </p:spPr>
        <p:txBody>
          <a:bodyPr vert="horz" wrap="square" lIns="76200" tIns="50800" rIns="76200" bIns="50800" rtlCol="0">
            <a:spAutoFit/>
          </a:bodyPr>
          <a:lstStyle/>
          <a:p>
            <a:pPr algn="ctr"/>
            <a:r>
              <a:rPr lang="zh-CN" altLang="en-US" sz="1500" b="1">
                <a:solidFill>
                  <a:srgbClr val="663D87"/>
                </a:solidFill>
                <a:latin typeface="微软雅黑" panose="020B0503020204020204" pitchFamily="34" charset="-122"/>
                <a:ea typeface="微软雅黑" panose="020B0503020204020204" pitchFamily="34" charset="-122"/>
              </a:rPr>
              <a:t>输出：文化记忆指数（</a:t>
            </a:r>
            <a:r>
              <a:rPr lang="en-US" altLang="zh-CN" sz="1500" b="1">
                <a:solidFill>
                  <a:srgbClr val="663D87"/>
                </a:solidFill>
                <a:latin typeface="微软雅黑" panose="020B0503020204020204" pitchFamily="34" charset="-122"/>
                <a:ea typeface="微软雅黑" panose="020B0503020204020204" pitchFamily="34" charset="-122"/>
              </a:rPr>
              <a:t>CMI</a:t>
            </a:r>
            <a:r>
              <a:rPr lang="zh-CN" altLang="en-US" sz="1500" b="1">
                <a:solidFill>
                  <a:srgbClr val="663D87"/>
                </a:solidFill>
                <a:latin typeface="微软雅黑" panose="020B0503020204020204" pitchFamily="34" charset="-122"/>
                <a:ea typeface="微软雅黑" panose="020B0503020204020204" pitchFamily="34" charset="-122"/>
              </a:rPr>
              <a:t>） </a:t>
            </a:r>
            <a:r>
              <a:rPr lang="en-US" altLang="zh-CN" sz="1500" b="1">
                <a:solidFill>
                  <a:srgbClr val="663D87"/>
                </a:solidFill>
                <a:latin typeface="微软雅黑" panose="020B0503020204020204" pitchFamily="34" charset="-122"/>
                <a:ea typeface="微软雅黑" panose="020B0503020204020204" pitchFamily="34" charset="-122"/>
              </a:rPr>
              <a:t>/ </a:t>
            </a:r>
            <a:r>
              <a:rPr lang="zh-CN" altLang="en-US" sz="1500" b="1">
                <a:solidFill>
                  <a:srgbClr val="663D87"/>
                </a:solidFill>
                <a:latin typeface="微软雅黑" panose="020B0503020204020204" pitchFamily="34" charset="-122"/>
                <a:ea typeface="微软雅黑" panose="020B0503020204020204" pitchFamily="34" charset="-122"/>
              </a:rPr>
              <a:t>官方认定指数（</a:t>
            </a:r>
            <a:r>
              <a:rPr lang="en-US" altLang="zh-CN" sz="1500" b="1">
                <a:solidFill>
                  <a:srgbClr val="663D87"/>
                </a:solidFill>
                <a:latin typeface="微软雅黑" panose="020B0503020204020204" pitchFamily="34" charset="-122"/>
                <a:ea typeface="微软雅黑" panose="020B0503020204020204" pitchFamily="34" charset="-122"/>
              </a:rPr>
              <a:t>OAI</a:t>
            </a:r>
            <a:r>
              <a:rPr lang="zh-CN" altLang="en-US" sz="1500" b="1">
                <a:solidFill>
                  <a:srgbClr val="663D87"/>
                </a:solidFill>
                <a:latin typeface="微软雅黑" panose="020B0503020204020204" pitchFamily="34" charset="-122"/>
                <a:ea typeface="微软雅黑" panose="020B0503020204020204" pitchFamily="34" charset="-122"/>
              </a:rPr>
              <a:t>） </a:t>
            </a:r>
            <a:r>
              <a:rPr lang="en-US" altLang="zh-CN" sz="1500" b="1">
                <a:solidFill>
                  <a:srgbClr val="663D87"/>
                </a:solidFill>
                <a:latin typeface="微软雅黑" panose="020B0503020204020204" pitchFamily="34" charset="-122"/>
                <a:ea typeface="微软雅黑" panose="020B0503020204020204" pitchFamily="34" charset="-122"/>
              </a:rPr>
              <a:t>/ </a:t>
            </a:r>
            <a:r>
              <a:rPr lang="zh-CN" altLang="en-US" sz="1500" b="1">
                <a:solidFill>
                  <a:srgbClr val="663D87"/>
                </a:solidFill>
                <a:latin typeface="微软雅黑" panose="020B0503020204020204" pitchFamily="34" charset="-122"/>
                <a:ea typeface="微软雅黑" panose="020B0503020204020204" pitchFamily="34" charset="-122"/>
              </a:rPr>
              <a:t>旅游热度指数（</a:t>
            </a:r>
            <a:r>
              <a:rPr lang="en-US" altLang="zh-CN" sz="1500" b="1">
                <a:solidFill>
                  <a:srgbClr val="663D87"/>
                </a:solidFill>
                <a:latin typeface="微软雅黑" panose="020B0503020204020204" pitchFamily="34" charset="-122"/>
                <a:ea typeface="微软雅黑" panose="020B0503020204020204" pitchFamily="34" charset="-122"/>
              </a:rPr>
              <a:t>THI</a:t>
            </a:r>
            <a:r>
              <a:rPr lang="zh-CN" altLang="en-US" sz="1500" b="1">
                <a:solidFill>
                  <a:srgbClr val="663D87"/>
                </a:solidFill>
                <a:latin typeface="微软雅黑" panose="020B0503020204020204" pitchFamily="34" charset="-122"/>
                <a:ea typeface="微软雅黑" panose="020B0503020204020204" pitchFamily="34" charset="-122"/>
              </a:rPr>
              <a:t>） </a:t>
            </a:r>
            <a:r>
              <a:rPr lang="en-US" altLang="zh-CN" sz="1500" b="1">
                <a:solidFill>
                  <a:srgbClr val="663D87"/>
                </a:solidFill>
                <a:latin typeface="微软雅黑" panose="020B0503020204020204" pitchFamily="34" charset="-122"/>
                <a:ea typeface="微软雅黑" panose="020B0503020204020204" pitchFamily="34" charset="-122"/>
              </a:rPr>
              <a:t>/ </a:t>
            </a:r>
            <a:r>
              <a:rPr lang="zh-CN" altLang="en-US" sz="1500" b="1">
                <a:solidFill>
                  <a:srgbClr val="663D87"/>
                </a:solidFill>
                <a:latin typeface="微软雅黑" panose="020B0503020204020204" pitchFamily="34" charset="-122"/>
                <a:ea typeface="微软雅黑" panose="020B0503020204020204" pitchFamily="34" charset="-122"/>
              </a:rPr>
              <a:t>错位指数（</a:t>
            </a:r>
            <a:r>
              <a:rPr lang="en-US" altLang="zh-CN" sz="1500" b="1">
                <a:solidFill>
                  <a:srgbClr val="663D87"/>
                </a:solidFill>
                <a:latin typeface="微软雅黑" panose="020B0503020204020204" pitchFamily="34" charset="-122"/>
                <a:ea typeface="微软雅黑" panose="020B0503020204020204" pitchFamily="34" charset="-122"/>
              </a:rPr>
              <a:t>MI</a:t>
            </a:r>
            <a:r>
              <a:rPr lang="zh-CN" altLang="en-US" sz="1500" b="1">
                <a:solidFill>
                  <a:srgbClr val="663D87"/>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3062070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167</Words>
  <Application>Microsoft Office PowerPoint</Application>
  <DocSecurity>0</DocSecurity>
  <PresentationFormat>宽屏</PresentationFormat>
  <Paragraphs>30</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微软雅黑</vt:lpstr>
      <vt:lpstr>微软雅黑</vt:lpstr>
      <vt:lpstr>Calibri</vt:lpstr>
      <vt:lpstr>ChatGPT</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帅 孟</cp:lastModifiedBy>
  <cp:revision>55</cp:revision>
  <dcterms:created xsi:type="dcterms:W3CDTF">2026-06-02T06:15:18Z</dcterms:created>
  <dcterms:modified xsi:type="dcterms:W3CDTF">2026-06-03T08:31:30Z</dcterms:modified>
</cp:coreProperties>
</file>