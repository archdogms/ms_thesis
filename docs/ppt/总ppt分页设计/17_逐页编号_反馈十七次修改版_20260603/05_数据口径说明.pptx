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3.2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节；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indices_anchors.csv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official_resources_20260510.csv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数据口径说明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086256-5307-03EA-1F05-77904A1866D1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答辩中必须区分：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条是进入指数计算和错位分层的主样本；</a:t>
            </a:r>
            <a:r>
              <a:rPr lang="en-US" altLang="zh-CN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 </a:t>
            </a:r>
            <a:r>
              <a:rPr lang="zh-CN" altLang="en-US" sz="160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条是官方资源扩展层，只用于核查与储备。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9FBA084-1D58-9EED-64C3-D186945B256F}"/>
              </a:ext>
            </a:extLst>
          </p:cNvPr>
          <p:cNvCxnSpPr/>
          <p:nvPr/>
        </p:nvCxnSpPr>
        <p:spPr>
          <a:xfrm>
            <a:off x="889000" y="17145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AD9E873-BE6D-A160-3CC9-A5E2BA83F91C}"/>
              </a:ext>
            </a:extLst>
          </p:cNvPr>
          <p:cNvSpPr/>
          <p:nvPr/>
        </p:nvSpPr>
        <p:spPr>
          <a:xfrm>
            <a:off x="889000" y="1955800"/>
            <a:ext cx="5016500" cy="311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85354B-7255-371F-6662-1105667B0248}"/>
              </a:ext>
            </a:extLst>
          </p:cNvPr>
          <p:cNvSpPr/>
          <p:nvPr/>
        </p:nvSpPr>
        <p:spPr>
          <a:xfrm>
            <a:off x="889000" y="1955800"/>
            <a:ext cx="5016500" cy="88900"/>
          </a:xfrm>
          <a:prstGeom prst="rect">
            <a:avLst/>
          </a:prstGeom>
          <a:solidFill>
            <a:srgbClr val="227E8E"/>
          </a:solidFill>
          <a:ln w="12700" cap="flat" cmpd="sng" algn="ctr">
            <a:solidFill>
              <a:srgbClr val="227E8E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9158E9F-D980-4963-F5A4-7BB38023D0FA}"/>
              </a:ext>
            </a:extLst>
          </p:cNvPr>
          <p:cNvSpPr txBox="1"/>
          <p:nvPr/>
        </p:nvSpPr>
        <p:spPr>
          <a:xfrm>
            <a:off x="1193800" y="2235200"/>
            <a:ext cx="3175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0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2000" b="1">
                <a:solidFill>
                  <a:srgbClr val="227E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条核心文化载体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9B9ABE-81DA-69D6-3B51-D6F1FEFEFE73}"/>
              </a:ext>
            </a:extLst>
          </p:cNvPr>
          <p:cNvSpPr txBox="1"/>
          <p:nvPr/>
        </p:nvSpPr>
        <p:spPr>
          <a:xfrm>
            <a:off x="1193800" y="2730500"/>
            <a:ext cx="4191000" cy="119519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用途：进入文化记忆指数（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）、官方认定指数（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）、旅游热度指数（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）和错位指数（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）的统一计算。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筛选：坐标明确、类型口径稳定、可与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 m 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网格和周边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D86CE4-A391-AF5F-37AA-DECEDCF057DF}"/>
              </a:ext>
            </a:extLst>
          </p:cNvPr>
          <p:cNvSpPr txBox="1"/>
          <p:nvPr/>
        </p:nvSpPr>
        <p:spPr>
          <a:xfrm>
            <a:off x="1193800" y="4267200"/>
            <a:ext cx="4318000" cy="5396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构成：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不可移动文物 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36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非遗项目 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19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文化景观 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18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圩市街区 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12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历史文化名村。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AC799AC-76B5-56A9-1B6B-CCA11E08B4D7}"/>
              </a:ext>
            </a:extLst>
          </p:cNvPr>
          <p:cNvSpPr/>
          <p:nvPr/>
        </p:nvSpPr>
        <p:spPr>
          <a:xfrm>
            <a:off x="6413500" y="1955800"/>
            <a:ext cx="4889500" cy="3111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AA6A66-9254-613F-DCE2-6DB078C3F2CD}"/>
              </a:ext>
            </a:extLst>
          </p:cNvPr>
          <p:cNvSpPr/>
          <p:nvPr/>
        </p:nvSpPr>
        <p:spPr>
          <a:xfrm>
            <a:off x="6413500" y="1955800"/>
            <a:ext cx="4889500" cy="88900"/>
          </a:xfrm>
          <a:prstGeom prst="rect">
            <a:avLst/>
          </a:prstGeom>
          <a:solidFill>
            <a:srgbClr val="BE892C"/>
          </a:solidFill>
          <a:ln w="12700" cap="flat" cmpd="sng" algn="ctr">
            <a:solidFill>
              <a:srgbClr val="BE892C">
                <a:alpha val="82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756BCD-F5B8-BE60-A381-773AC3D0D7FF}"/>
              </a:ext>
            </a:extLst>
          </p:cNvPr>
          <p:cNvSpPr txBox="1"/>
          <p:nvPr/>
        </p:nvSpPr>
        <p:spPr>
          <a:xfrm>
            <a:off x="6718300" y="2235200"/>
            <a:ext cx="3175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20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 </a:t>
            </a:r>
            <a:r>
              <a:rPr lang="zh-CN" altLang="en-US" sz="2000" b="1">
                <a:solidFill>
                  <a:srgbClr val="BE89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条官方资源扩展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A6E88B-F4BE-F5D0-8479-E970C9C0EBB3}"/>
              </a:ext>
            </a:extLst>
          </p:cNvPr>
          <p:cNvSpPr txBox="1"/>
          <p:nvPr/>
        </p:nvSpPr>
        <p:spPr>
          <a:xfrm>
            <a:off x="6718300" y="2730500"/>
            <a:ext cx="4140200" cy="119519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用途：补充核查、识别规划储备与后续项目线索，不并入本轮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条指数分层。</a:t>
            </a:r>
          </a:p>
          <a:p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来源：官方名录补录，包括 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484 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不可移动文物、</a:t>
            </a:r>
            <a:r>
              <a:rPr lang="en-US" altLang="zh-CN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14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博物馆，以及历史建筑、传统村落、历史文化街区等。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DA5EF4-5DF5-FF35-E1E5-A96D04494953}"/>
              </a:ext>
            </a:extLst>
          </p:cNvPr>
          <p:cNvSpPr txBox="1"/>
          <p:nvPr/>
        </p:nvSpPr>
        <p:spPr>
          <a:xfrm>
            <a:off x="6718300" y="4267200"/>
            <a:ext cx="4140200" cy="5396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原因：扩展层存在精确坐标、</a:t>
            </a:r>
            <a:r>
              <a:rPr lang="en-US" altLang="zh-CN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 </a:t>
            </a:r>
            <a:r>
              <a:rPr lang="zh-CN" altLang="en-US" sz="142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匹配、地址质心、镇街代表点等多级落位，空间精度与主样本不同。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B02BD66-997F-B7A1-C2AE-561E69DA555E}"/>
              </a:ext>
            </a:extLst>
          </p:cNvPr>
          <p:cNvSpPr/>
          <p:nvPr/>
        </p:nvSpPr>
        <p:spPr>
          <a:xfrm>
            <a:off x="889000" y="5308600"/>
            <a:ext cx="10414000" cy="6858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5ADBB36-3889-51D2-07CC-DAA792B1C619}"/>
              </a:ext>
            </a:extLst>
          </p:cNvPr>
          <p:cNvSpPr txBox="1"/>
          <p:nvPr/>
        </p:nvSpPr>
        <p:spPr>
          <a:xfrm>
            <a:off x="1168400" y="5473700"/>
            <a:ext cx="965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答辩口径：</a:t>
            </a:r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 </a:t>
            </a:r>
            <a:r>
              <a:rPr lang="zh-CN" altLang="en-US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是主样本中可稳定参与指数的不可移动文物；</a:t>
            </a:r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484 </a:t>
            </a:r>
            <a:r>
              <a:rPr lang="zh-CN" altLang="en-US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是扩展核查层，不能和 </a:t>
            </a:r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165 </a:t>
            </a:r>
            <a:r>
              <a:rPr lang="zh-CN" altLang="en-US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条主样本混算。</a:t>
            </a: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2026-06-03T08:31:30Z</dcterms:modified>
</cp:coreProperties>
</file>