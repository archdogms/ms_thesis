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FF649B-0800-4F1E-AA62-932BD670F2B0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21196A-645A-4D4B-9F80-6E956B8708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3789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A74DB-F85E-E434-611F-156A4C3AE1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B4AB7A-B7A1-DDB0-5F05-725DE68E9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A1441-8148-22DE-7BE6-72D2002B4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24F837-12CB-1FC8-87A6-23C99CD49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2E253-F6BC-CEB1-F17D-098E0360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78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156FC-8C46-1977-22D6-47234BE1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85B6A-28A7-3F26-D5AB-52E4C6DB18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6A1FB0-86BF-C654-44B8-71CD4B839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A4BAE1-4B46-6C13-16A6-F0AF246C5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285F8-A17C-2AF8-69EF-48C5DD592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36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67F48D-587A-4857-F513-4E85D4CD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FEEC1E-F8AF-91EF-E581-3FB6BC8EE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E57904-8C57-CDB3-649F-A8910F25D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E66ED3-D339-7AF0-EC81-10C34EFAC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9B3B8B-92C6-C0B8-EFA1-D090A524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506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FA00DA-54D9-4425-836E-6C404A13F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5C91B4-DF8C-2932-C704-54E011CB2E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6DCCAD-A539-0A87-AEB8-2625B6627D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16A26A-3C56-AB21-FAD6-A5A836967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90F1A5-C9B8-0DA6-50B1-7884DF97F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57EDE7-1653-75C6-A637-A8E5AD365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7640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F638B-62CE-E085-AC4D-B914D717F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7CDFB0D-F0F5-7C4B-8BFA-908A19E53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AAE3409-9ABF-E82F-326B-6AF727FFE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64B1FF-CCD3-44B0-3033-09C1348B39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01D185B-C86D-B7FC-48FD-F5E228D557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83FB993-76A9-3843-A620-DDB608D13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78FF7D6-86DD-01FA-9AF5-2C5BF91E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7C654E-0BA6-23F7-E838-F6199707E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913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92DB86-952B-CAC6-04C3-B3048E9B2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EC60721-CA73-B264-8DAA-AD374A546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92E3F80-2DBD-E4EE-08CF-AE45AB0BB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1C1677-B079-58CB-4784-CEB1971BC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3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746B4C0-99AA-44AD-FFEB-063E3B08E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97D89C-053C-3575-CDD4-FF19B9D15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3F46AD-E19A-5B55-94FC-BD7B936B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777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BA09C-2D74-CDF9-AA86-B97D5C2E1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565094D-ECA3-B246-4751-A081F3685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90B6AA-5947-5D4C-2C8D-D7BA5DF40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A810A0-D89E-E19B-5588-69BD73058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4EE9E0-B0A7-3378-EE7A-FF1EDBE3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2C9C2A-817C-6A41-E11F-70728D91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2883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E03C81-1038-F9AB-AB38-4EF52E1B3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AB49806-777D-F76A-CC47-20CF96DB9C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2915BE-B1C1-AF2E-BB43-56C2CB15F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AA4224-FBAD-2122-E956-44C2806D3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A7CDA4-EE3F-CE37-C5E9-51B09F724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D0A27F-853B-D82D-F753-F489ED013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543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B8C82-1D8C-F6BE-2D7A-2D189973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384B09-BB1A-A2CE-5084-9EE42D766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59D92D-FAEB-A0E9-B523-DBEC33138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6DDA05-8FDB-CD0E-126B-17859D98D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8FB388-4A6A-C563-56D8-EB5057FA4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23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466775-E22F-E897-B756-28D7557E39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118341-37BB-3432-692B-D753235C1A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1F53E7-627D-6B4A-18A0-8879B1476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B7CC73-8DDD-A9A0-5D3C-84011F9C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5B2708-6491-5F96-BFDA-E9C7B8F95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680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0296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98F878E-2684-A936-83B8-442577ACC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BF7B4C-1F77-513A-B364-3120E30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0922D-55FC-24ED-D49A-1E4EC8FA25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379C6-D1BD-4192-A799-C9E2077BBD38}" type="datetimeFigureOut">
              <a:rPr lang="zh-CN" altLang="en-US" smtClean="0"/>
              <a:t>2026/6/3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140F3B-8846-694B-8BC0-D2ACA8461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474067-DAD9-363D-5533-D85839A556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D1372A-9DEF-4EEF-96B9-5141F9FCB1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883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132DDB1-7A26-406B-A31C-E2B7A58EC9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3584DC-1465-4FC8-943F-F607DBEA6169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1D2C03A-5D6A-458D-A8CC-4120A823F5B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D4C18070-636E-4B5A-9024-5935E78866E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终版论文第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章
              </a:t>
            </a:r>
            <a:endParaRPr sz="850" dirty="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993D70-DDB6-4989-893D-DDA22F99C794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6FE3D34-1F12-4BE1-B46B-3404F4C59604}"/>
              </a:ext>
            </a:extLst>
          </p:cNvPr>
          <p:cNvSpPr>
            <a:spLocks noGrp="1"/>
          </p:cNvSpPr>
          <p:nvPr/>
        </p:nvSpPr>
        <p:spPr>
          <a:xfrm>
            <a:off x="666750" y="1257300"/>
            <a:ext cx="3066006" cy="10600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58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目录</a:t>
            </a:r>
            <a:endParaRPr lang="en-US" altLang="zh-CN" sz="58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D1ADB1-2960-4A9B-B98F-EFBCFE7DDEEE}"/>
              </a:ext>
            </a:extLst>
          </p:cNvPr>
          <p:cNvSpPr>
            <a:spLocks noGrp="1"/>
          </p:cNvSpPr>
          <p:nvPr/>
        </p:nvSpPr>
        <p:spPr>
          <a:xfrm>
            <a:off x="708503" y="4267853"/>
            <a:ext cx="2583493" cy="5456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1050" b="0">
                <a:solidFill>
                  <a:srgbClr val="E9E1F7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从开题</a:t>
            </a:r>
            <a:r>
              <a:rPr lang="en-US" altLang="zh-CN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中期的双谱系问题出发，沿数据处理、结果诊断和规划转译逐步展开。
              </a:t>
            </a:r>
            <a:endParaRPr sz="105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1E3E44-7BBF-4037-A618-13369A1C21D7}"/>
              </a:ext>
            </a:extLst>
          </p:cNvPr>
          <p:cNvSpPr>
            <a:spLocks noGrp="1"/>
          </p:cNvSpPr>
          <p:nvPr/>
        </p:nvSpPr>
        <p:spPr>
          <a:xfrm>
            <a:off x="4602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研究回顾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A3BBF-C3F1-4263-9ED4-6B548E071B3A}"/>
              </a:ext>
            </a:extLst>
          </p:cNvPr>
          <p:cNvSpPr>
            <a:spLocks noGrp="1"/>
          </p:cNvSpPr>
          <p:nvPr/>
        </p:nvSpPr>
        <p:spPr>
          <a:xfrm>
            <a:off x="4602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开题背景与中期问题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FBFC87D-3BA6-4385-8230-4D4CB17A0C0E}"/>
              </a:ext>
            </a:extLst>
          </p:cNvPr>
          <p:cNvSpPr>
            <a:spLocks noGrp="1"/>
          </p:cNvSpPr>
          <p:nvPr/>
        </p:nvSpPr>
        <p:spPr>
          <a:xfrm>
            <a:off x="6126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数据方法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323C5C-4F73-4F9A-B92E-4921DD09F8AA}"/>
              </a:ext>
            </a:extLst>
          </p:cNvPr>
          <p:cNvSpPr>
            <a:spLocks noGrp="1"/>
          </p:cNvSpPr>
          <p:nvPr/>
        </p:nvSpPr>
        <p:spPr>
          <a:xfrm>
            <a:off x="6126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OCR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、评论与指数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6C46B8-CC2B-4F43-9990-11D990B487C4}"/>
              </a:ext>
            </a:extLst>
          </p:cNvPr>
          <p:cNvSpPr>
            <a:spLocks noGrp="1"/>
          </p:cNvSpPr>
          <p:nvPr/>
        </p:nvSpPr>
        <p:spPr>
          <a:xfrm>
            <a:off x="7650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AAE0EC-6D4E-4102-8103-8252F7D15B36}"/>
              </a:ext>
            </a:extLst>
          </p:cNvPr>
          <p:cNvSpPr>
            <a:spLocks noGrp="1"/>
          </p:cNvSpPr>
          <p:nvPr/>
        </p:nvSpPr>
        <p:spPr>
          <a:xfrm>
            <a:off x="7650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载体分层与空间格局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871438-59E7-4045-A027-0F9A6AF4971D}"/>
              </a:ext>
            </a:extLst>
          </p:cNvPr>
          <p:cNvSpPr>
            <a:spLocks noGrp="1"/>
          </p:cNvSpPr>
          <p:nvPr/>
        </p:nvSpPr>
        <p:spPr>
          <a:xfrm>
            <a:off x="9174153" y="5598258"/>
            <a:ext cx="9715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规划转译</a:t>
            </a:r>
            <a:endParaRPr sz="135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3D8258F-31C3-4276-95B7-2D630754A280}"/>
              </a:ext>
            </a:extLst>
          </p:cNvPr>
          <p:cNvSpPr>
            <a:spLocks noGrp="1"/>
          </p:cNvSpPr>
          <p:nvPr/>
        </p:nvSpPr>
        <p:spPr>
          <a:xfrm>
            <a:off x="9174153" y="5960208"/>
            <a:ext cx="9715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分区策略与研究边界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B62457C-4F7C-468F-83CB-C93D4B536474}"/>
              </a:ext>
            </a:extLst>
          </p:cNvPr>
          <p:cNvSpPr>
            <a:spLocks noGrp="1"/>
          </p:cNvSpPr>
          <p:nvPr/>
        </p:nvSpPr>
        <p:spPr>
          <a:xfrm>
            <a:off x="5030778" y="5941158"/>
            <a:ext cx="4667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6DAC28E-8B0D-4BD3-BEFC-05CF6F43FCA4}"/>
              </a:ext>
            </a:extLst>
          </p:cNvPr>
          <p:cNvSpPr>
            <a:spLocks noGrp="1"/>
          </p:cNvSpPr>
          <p:nvPr/>
        </p:nvSpPr>
        <p:spPr>
          <a:xfrm>
            <a:off x="4602153" y="4769583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35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• </a:t>
            </a:r>
            <a:r>
              <a:rPr lang="zh-CN" altLang="en-US" sz="150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不是证明南海「有文化」，而是判断文化资源如何被旅游空间看见、承接和转化。</a:t>
            </a:r>
            <a:endParaRPr sz="1500" dirty="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7104B45-0FCF-DFB4-3A4F-F386F459A2B2}"/>
              </a:ext>
            </a:extLst>
          </p:cNvPr>
          <p:cNvSpPr txBox="1"/>
          <p:nvPr/>
        </p:nvSpPr>
        <p:spPr>
          <a:xfrm>
            <a:off x="419100" y="2668280"/>
            <a:ext cx="3257289" cy="743793"/>
          </a:xfrm>
          <a:prstGeom prst="rect">
            <a:avLst/>
          </a:prstGeom>
          <a:noFill/>
        </p:spPr>
        <p:txBody>
          <a:bodyPr wrap="square" lIns="50800" tIns="25400" rIns="50800" bIns="25400">
            <a:spAutoFit/>
          </a:bodyPr>
          <a:lstStyle/>
          <a:p>
            <a:pPr algn="l">
              <a:defRPr sz="22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45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CONTENT</a:t>
            </a:r>
            <a:endParaRPr lang="zh-CN" altLang="en-US" sz="4500" b="1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47" name="Text 0">
            <a:extLst>
              <a:ext uri="{FF2B5EF4-FFF2-40B4-BE49-F238E27FC236}">
                <a16:creationId xmlns:a16="http://schemas.microsoft.com/office/drawing/2014/main" id="{B8BA803D-B542-98C7-AB43-17F107C0F834}"/>
              </a:ext>
            </a:extLst>
          </p:cNvPr>
          <p:cNvSpPr/>
          <p:nvPr/>
        </p:nvSpPr>
        <p:spPr>
          <a:xfrm>
            <a:off x="4569677" y="120674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01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8EAF7C4B-61B7-79B9-D92E-F2768BB0A864}"/>
              </a:ext>
            </a:extLst>
          </p:cNvPr>
          <p:cNvSpPr/>
          <p:nvPr/>
        </p:nvSpPr>
        <p:spPr>
          <a:xfrm>
            <a:off x="4569677" y="2046834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02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1319A0C2-A040-D354-411F-3B57B2D8B4CE}"/>
              </a:ext>
            </a:extLst>
          </p:cNvPr>
          <p:cNvSpPr/>
          <p:nvPr/>
        </p:nvSpPr>
        <p:spPr>
          <a:xfrm>
            <a:off x="4569677" y="2886929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03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4CB49BA7-8BD3-C877-04BD-89B11344607E}"/>
              </a:ext>
            </a:extLst>
          </p:cNvPr>
          <p:cNvSpPr/>
          <p:nvPr/>
        </p:nvSpPr>
        <p:spPr>
          <a:xfrm>
            <a:off x="4569677" y="3727022"/>
            <a:ext cx="378309" cy="3584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80"/>
              </a:lnSpc>
            </a:pPr>
            <a:r>
              <a:rPr lang="en-US" sz="24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04</a:t>
            </a:r>
            <a:endParaRPr 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8" name="Text 5">
            <a:extLst>
              <a:ext uri="{FF2B5EF4-FFF2-40B4-BE49-F238E27FC236}">
                <a16:creationId xmlns:a16="http://schemas.microsoft.com/office/drawing/2014/main" id="{5F561089-AE37-EDA3-DFC3-02F1FF9B9C93}"/>
              </a:ext>
            </a:extLst>
          </p:cNvPr>
          <p:cNvSpPr/>
          <p:nvPr/>
        </p:nvSpPr>
        <p:spPr>
          <a:xfrm>
            <a:off x="5150141" y="2067355"/>
            <a:ext cx="43774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第二部分：数据基础与处理方法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471FACF7-4FB8-36CC-BDE7-F072455C7EBD}"/>
              </a:ext>
            </a:extLst>
          </p:cNvPr>
          <p:cNvSpPr/>
          <p:nvPr/>
        </p:nvSpPr>
        <p:spPr>
          <a:xfrm>
            <a:off x="5140943" y="122726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微软雅黑"/>
              </a:rPr>
              <a:t>第一部分：研究回顾与问题收束</a:t>
            </a:r>
            <a:endParaRPr 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DE2442D3-1163-A3C3-01AA-885AEAA9332E}"/>
              </a:ext>
            </a:extLst>
          </p:cNvPr>
          <p:cNvSpPr/>
          <p:nvPr/>
        </p:nvSpPr>
        <p:spPr>
          <a:xfrm>
            <a:off x="5140943" y="2907447"/>
            <a:ext cx="4414210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第三部分：结果诊断与空间格局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EB2B1419-679A-98AA-1016-5B16FF8ECCB4}"/>
              </a:ext>
            </a:extLst>
          </p:cNvPr>
          <p:cNvSpPr/>
          <p:nvPr/>
        </p:nvSpPr>
        <p:spPr>
          <a:xfrm>
            <a:off x="5140943" y="3747540"/>
            <a:ext cx="4386613" cy="359073"/>
          </a:xfrm>
          <a:prstGeom prst="rect">
            <a:avLst/>
          </a:prstGeom>
          <a:noFill/>
        </p:spPr>
        <p:txBody>
          <a:bodyPr wrap="square" lIns="50800" tIns="25400" rIns="50800" bIns="25400" rtlCol="0" anchor="t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419"/>
              </a:lnSpc>
            </a:pPr>
            <a:r>
              <a:rPr lang="zh-CN" altLang="en-US" sz="23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第四部分：规划转译与结论边界</a:t>
            </a:r>
            <a:endParaRPr lang="zh-CN" altLang="en-US" sz="2300" b="1" dirty="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809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</Words>
  <Application>Microsoft Office PowerPoint</Application>
  <PresentationFormat>自定义</PresentationFormat>
  <Paragraphs>23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帅 孟</dc:creator>
  <cp:lastModifiedBy>帅 孟</cp:lastModifiedBy>
  <cp:revision>1</cp:revision>
  <dcterms:created xsi:type="dcterms:W3CDTF">2026-06-03T05:48:46Z</dcterms:created>
  <dcterms:modified xsi:type="dcterms:W3CDTF">2026-06-03T05:48:46Z</dcterms:modified>
</cp:coreProperties>
</file>