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8BDE7-0FAF-4F01-9D04-25CFBD0221F3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A6848-CBBD-4461-922E-3BE3BCDEC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353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25D09-D2F5-C63A-494C-F0AFC897E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3C1D2F-90CA-74A8-17EA-D7E0CF894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2E2631-334D-65FE-5B57-6047A4B9E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8BC0-D121-4DD5-BA8B-74B34D51461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29CE17-5AB4-7609-AF0C-60FED3C5C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E30653-FCCF-C128-1DAC-EC4EA5B1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2BFC-3696-4F74-8FC3-F4C2B40699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382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1FBBB-1F7D-14CB-DD58-AEAD0614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6E69D-45F1-F807-BBC1-A84D9C2A1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0087B0-B91C-ABA9-7B1A-2C99626FC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8BC0-D121-4DD5-BA8B-74B34D51461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9F7698-96B0-5638-808D-DF69AC5B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676A54-B861-2052-3F47-6ACEDF47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2BFC-3696-4F74-8FC3-F4C2B40699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40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1566A-AB60-7596-077E-94AA6BDCE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C87729-0853-2860-0B9C-7BE545656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14312A-3E44-79C0-FB21-C5645CF9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8BC0-D121-4DD5-BA8B-74B34D51461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5BFE6B-A63F-68EA-C003-44C7AF71A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CA70BC-45DF-C972-CF54-5BCE572E1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2BFC-3696-4F74-8FC3-F4C2B40699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486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996225-0808-6B2F-0CE4-08962F036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A479A7-5D41-F5ED-548D-1B3C6BD0C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FE7F71-F892-E16F-0C49-0F0FD2FE2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BDF772-99BD-52A8-F232-2C13098CF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8BC0-D121-4DD5-BA8B-74B34D51461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5DAB3D-8AFA-70EA-5320-F0F87D44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BCE5A-0294-87C9-2A84-D2C4D298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2BFC-3696-4F74-8FC3-F4C2B40699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067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2D7490-0B34-A885-AA49-DCA6EFF0A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7D079-66C0-602F-72E8-489316D78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8203E6-097C-8621-BDAB-E9C220811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23058F-776F-6E65-9B5C-A691E9AEFA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83C5AF-3B32-9110-6A87-8C663C51C2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E1BBFB-C6FC-657B-4559-521F6AED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8BC0-D121-4DD5-BA8B-74B34D51461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063101-940C-6A80-EE6D-0E7CC1BC7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EA4D27-6078-7695-DCF0-C1430F94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2BFC-3696-4F74-8FC3-F4C2B40699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733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D43AC-7F00-E1F4-5AC0-DC35CF579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8F5A38-20C9-4409-31B2-447934552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8BC0-D121-4DD5-BA8B-74B34D51461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A2C3E7-E143-06B7-3213-40F326169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841DB6-302D-B3BD-70D0-F662BE9AB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2BFC-3696-4F74-8FC3-F4C2B40699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161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5C8E5D-6DD7-DC34-07A5-A1274E412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8BC0-D121-4DD5-BA8B-74B34D51461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4D68C2-7DE9-7ED4-A815-8486F15D1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301257-BADA-BA9F-E60D-2D7428881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2BFC-3696-4F74-8FC3-F4C2B40699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23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40716-6F79-1747-019A-837333EC0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F6FF19-388C-F186-150B-BFC23D7BB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51AFCD-D14B-14F9-1F9C-FEC353D0C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F36DA1-25C4-E69D-01AE-BAEEE573F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8BC0-D121-4DD5-BA8B-74B34D51461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9F8235-9118-784E-A555-CAE348507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87E971-C92B-2EDD-A2F9-88893B96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2BFC-3696-4F74-8FC3-F4C2B40699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399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916777-8E77-942A-DFCE-0E72DAD35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E2B4599-66B7-B908-A5A0-47DCA55673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5B7026-042A-85EF-23C4-0DD79036A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2B2A31-AD22-E267-76C2-7B1A078D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8BC0-D121-4DD5-BA8B-74B34D51461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850D3F-6A3C-A049-0BB5-41750A93B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9DD33A-F9CD-C367-B239-0B959745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2BFC-3696-4F74-8FC3-F4C2B40699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55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2EF40-7E2C-9DFF-124D-8A49B01CB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F287DD-609B-0422-8B13-C4BAC749E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6F2320-6F5A-8E86-B8CB-36453BF59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8BC0-D121-4DD5-BA8B-74B34D51461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E14561-B00E-69E5-5FF1-AF3B3A03F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F6D07-146C-FF41-897C-5AB9B863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2BFC-3696-4F74-8FC3-F4C2B40699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98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D4FD24-9A03-40EE-66A0-B0C9B967B1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99EFEF-E81E-1C83-ABC2-8A286858D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974CF0-6EE2-01CF-8F6B-34F1F1577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8BC0-D121-4DD5-BA8B-74B34D51461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4CCC60-E9D4-64A9-82A8-88905BBC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A32B1A-47CB-5CF9-1FFC-821C653D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A2BFC-3696-4F74-8FC3-F4C2B40699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022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64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E6D8E1-5CAB-FF11-AD77-6BDC20A91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D5E845-12F1-08D4-9B94-5B1309D58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429864-EA4E-4632-B7CA-4D7C5C985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B8BC0-D121-4DD5-BA8B-74B34D51461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6467F5-9544-0CA6-895D-BCB3FDA82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A91172-9016-7FCF-B9F9-4A577D42F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A2BFC-3696-4F74-8FC3-F4C2B40699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31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file:///C:\Users\ms\Desktop\thesis\ms_thesis\output\figures\&#35770;&#25991;&#23450;&#31295;&#21487;&#29992;&#22270;&#32440;_20260602\&#22270;5-6_500m&#32593;&#26684;&#25991;&#21270;&#26053;&#28216;&#20998;&#24067;&#19982;&#38169;&#20301;&#20998;&#23618;.png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10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767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767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5.3.5 </a:t>
            </a:r>
            <a:r>
              <a:rPr lang="zh-CN" altLang="en-US" sz="850">
                <a:solidFill>
                  <a:srgbClr val="767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节、表 </a:t>
            </a:r>
            <a:r>
              <a:rPr lang="en-US" altLang="zh-CN" sz="850">
                <a:solidFill>
                  <a:srgbClr val="767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5.2</a:t>
            </a:r>
            <a:r>
              <a:rPr lang="zh-CN" altLang="en-US" sz="850">
                <a:solidFill>
                  <a:srgbClr val="767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767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5.6</a:t>
            </a:r>
            <a:endParaRPr sz="850">
              <a:solidFill>
                <a:srgbClr val="76718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四类错位与散点分层</a:t>
            </a:r>
            <a:endParaRPr sz="2400" b="1">
              <a:solidFill>
                <a:srgbClr val="2421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sz="16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结果诊断与空间格局</a:t>
            </a:r>
          </a:p>
        </p:txBody>
      </p:sp>
      <p:sp>
        <p:nvSpPr>
          <p:cNvPr id="4" name="Slide10 Scatter Panel">
            <a:extLst>
              <a:ext uri="{FF2B5EF4-FFF2-40B4-BE49-F238E27FC236}">
                <a16:creationId xmlns:a16="http://schemas.microsoft.com/office/drawing/2014/main" id="{17AA0FF7-5E29-1940-27D9-24E9666DE5AF}"/>
              </a:ext>
            </a:extLst>
          </p:cNvPr>
          <p:cNvSpPr/>
          <p:nvPr/>
        </p:nvSpPr>
        <p:spPr>
          <a:xfrm>
            <a:off x="698500" y="1295400"/>
            <a:ext cx="7620000" cy="5016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lide10 Scatter Accent">
            <a:extLst>
              <a:ext uri="{FF2B5EF4-FFF2-40B4-BE49-F238E27FC236}">
                <a16:creationId xmlns:a16="http://schemas.microsoft.com/office/drawing/2014/main" id="{59F819BA-1FCE-E800-20DC-B8442EDC5697}"/>
              </a:ext>
            </a:extLst>
          </p:cNvPr>
          <p:cNvSpPr/>
          <p:nvPr/>
        </p:nvSpPr>
        <p:spPr>
          <a:xfrm>
            <a:off x="952500" y="1524000"/>
            <a:ext cx="558800" cy="40640"/>
          </a:xfrm>
          <a:prstGeom prst="rect">
            <a:avLst/>
          </a:prstGeom>
          <a:solidFill>
            <a:srgbClr val="664AA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Slide10 Scatter Head">
            <a:extLst>
              <a:ext uri="{FF2B5EF4-FFF2-40B4-BE49-F238E27FC236}">
                <a16:creationId xmlns:a16="http://schemas.microsoft.com/office/drawing/2014/main" id="{96B3B573-6DDC-EBE4-1F4E-1967253AC1D9}"/>
              </a:ext>
            </a:extLst>
          </p:cNvPr>
          <p:cNvSpPr txBox="1"/>
          <p:nvPr/>
        </p:nvSpPr>
        <p:spPr>
          <a:xfrm>
            <a:off x="1651000" y="1447800"/>
            <a:ext cx="53340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 </a:t>
            </a:r>
            <a:r>
              <a:rPr lang="zh-CN" altLang="en-US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网格文化</a:t>
            </a:r>
            <a:r>
              <a:rPr lang="en-US" altLang="zh-CN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旅游分布与错位分层</a:t>
            </a:r>
          </a:p>
        </p:txBody>
      </p:sp>
      <p:pic>
        <p:nvPicPr>
          <p:cNvPr id="15" name="Slide10 Scatter Figure">
            <a:extLst>
              <a:ext uri="{FF2B5EF4-FFF2-40B4-BE49-F238E27FC236}">
                <a16:creationId xmlns:a16="http://schemas.microsoft.com/office/drawing/2014/main" id="{E0C9438E-C3F4-225F-5878-B8B1DE9CC8CE}"/>
              </a:ext>
            </a:extLst>
          </p:cNvPr>
          <p:cNvPicPr>
            <a:picLocks noChangeAspect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0" y="1866900"/>
            <a:ext cx="3873500" cy="3873500"/>
          </a:xfrm>
          <a:prstGeom prst="rect">
            <a:avLst/>
          </a:prstGeom>
        </p:spPr>
      </p:pic>
      <p:sp>
        <p:nvSpPr>
          <p:cNvPr id="16" name="Slide10 Scatter Caption">
            <a:extLst>
              <a:ext uri="{FF2B5EF4-FFF2-40B4-BE49-F238E27FC236}">
                <a16:creationId xmlns:a16="http://schemas.microsoft.com/office/drawing/2014/main" id="{13A7D5D9-206F-58C1-CC6C-C03CF447D529}"/>
              </a:ext>
            </a:extLst>
          </p:cNvPr>
          <p:cNvSpPr txBox="1"/>
          <p:nvPr/>
        </p:nvSpPr>
        <p:spPr>
          <a:xfrm>
            <a:off x="1016000" y="5867400"/>
            <a:ext cx="6921500" cy="2031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横轴为文化厚度，纵轴为旅游热度；红点、蓝点与黄色星标分别对应主要错位与核心耦合类型。</a:t>
            </a:r>
          </a:p>
        </p:txBody>
      </p:sp>
      <p:sp>
        <p:nvSpPr>
          <p:cNvPr id="17" name="Slide10 Count Panel">
            <a:extLst>
              <a:ext uri="{FF2B5EF4-FFF2-40B4-BE49-F238E27FC236}">
                <a16:creationId xmlns:a16="http://schemas.microsoft.com/office/drawing/2014/main" id="{CEA67DFD-7614-8A8C-2AEB-C40F89A994A9}"/>
              </a:ext>
            </a:extLst>
          </p:cNvPr>
          <p:cNvSpPr/>
          <p:nvPr/>
        </p:nvSpPr>
        <p:spPr>
          <a:xfrm>
            <a:off x="8699500" y="1295400"/>
            <a:ext cx="3111500" cy="5016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Slide10 Count Accent">
            <a:extLst>
              <a:ext uri="{FF2B5EF4-FFF2-40B4-BE49-F238E27FC236}">
                <a16:creationId xmlns:a16="http://schemas.microsoft.com/office/drawing/2014/main" id="{C638E01F-ABA5-75BD-E24C-69850C2E8211}"/>
              </a:ext>
            </a:extLst>
          </p:cNvPr>
          <p:cNvSpPr/>
          <p:nvPr/>
        </p:nvSpPr>
        <p:spPr>
          <a:xfrm>
            <a:off x="8953500" y="1524000"/>
            <a:ext cx="508000" cy="40640"/>
          </a:xfrm>
          <a:prstGeom prst="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Slide10 Count Head">
            <a:extLst>
              <a:ext uri="{FF2B5EF4-FFF2-40B4-BE49-F238E27FC236}">
                <a16:creationId xmlns:a16="http://schemas.microsoft.com/office/drawing/2014/main" id="{420B4A54-C833-F430-98D3-6C43C476FF44}"/>
              </a:ext>
            </a:extLst>
          </p:cNvPr>
          <p:cNvSpPr txBox="1"/>
          <p:nvPr/>
        </p:nvSpPr>
        <p:spPr>
          <a:xfrm>
            <a:off x="8953500" y="1739900"/>
            <a:ext cx="25654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70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条载体分层</a:t>
            </a:r>
          </a:p>
        </p:txBody>
      </p:sp>
      <p:sp>
        <p:nvSpPr>
          <p:cNvPr id="20" name="Slide10 Count Intro">
            <a:extLst>
              <a:ext uri="{FF2B5EF4-FFF2-40B4-BE49-F238E27FC236}">
                <a16:creationId xmlns:a16="http://schemas.microsoft.com/office/drawing/2014/main" id="{4EE38BE1-877E-3F45-EDFE-621C327C92A0}"/>
              </a:ext>
            </a:extLst>
          </p:cNvPr>
          <p:cNvSpPr txBox="1"/>
          <p:nvPr/>
        </p:nvSpPr>
        <p:spPr>
          <a:xfrm>
            <a:off x="8953500" y="2184400"/>
            <a:ext cx="2565400" cy="4678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沉睡潜力与空心景点合计 </a:t>
            </a:r>
            <a:r>
              <a:rPr lang="en-US" altLang="zh-CN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 </a:t>
            </a:r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条，占 </a:t>
            </a:r>
            <a:r>
              <a:rPr lang="en-US" altLang="zh-CN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62.4%</a:t>
            </a:r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1" name="Slide10 Big Number">
            <a:extLst>
              <a:ext uri="{FF2B5EF4-FFF2-40B4-BE49-F238E27FC236}">
                <a16:creationId xmlns:a16="http://schemas.microsoft.com/office/drawing/2014/main" id="{0C56D6EC-9276-B826-4E11-52DC6339B542}"/>
              </a:ext>
            </a:extLst>
          </p:cNvPr>
          <p:cNvSpPr txBox="1"/>
          <p:nvPr/>
        </p:nvSpPr>
        <p:spPr>
          <a:xfrm>
            <a:off x="8953500" y="2895600"/>
            <a:ext cx="2603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62.4%</a:t>
            </a:r>
            <a:endParaRPr lang="zh-CN" altLang="en-US" sz="2200" b="1">
              <a:solidFill>
                <a:srgbClr val="664A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lide10 Count Rule">
            <a:extLst>
              <a:ext uri="{FF2B5EF4-FFF2-40B4-BE49-F238E27FC236}">
                <a16:creationId xmlns:a16="http://schemas.microsoft.com/office/drawing/2014/main" id="{D755F9EE-B57A-BEBF-2427-09F81C8E0C64}"/>
              </a:ext>
            </a:extLst>
          </p:cNvPr>
          <p:cNvSpPr/>
          <p:nvPr/>
        </p:nvSpPr>
        <p:spPr>
          <a:xfrm>
            <a:off x="8953500" y="3403600"/>
            <a:ext cx="2540000" cy="9525"/>
          </a:xfrm>
          <a:prstGeom prst="rect">
            <a:avLst/>
          </a:prstGeom>
          <a:solidFill>
            <a:srgbClr val="DBD8E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Slide10 Bar1 Label">
            <a:extLst>
              <a:ext uri="{FF2B5EF4-FFF2-40B4-BE49-F238E27FC236}">
                <a16:creationId xmlns:a16="http://schemas.microsoft.com/office/drawing/2014/main" id="{8874AA43-41E3-CB6B-8FB2-A41C491D3188}"/>
              </a:ext>
            </a:extLst>
          </p:cNvPr>
          <p:cNvSpPr txBox="1"/>
          <p:nvPr/>
        </p:nvSpPr>
        <p:spPr>
          <a:xfrm>
            <a:off x="8953500" y="36703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一般耦合</a:t>
            </a:r>
          </a:p>
        </p:txBody>
      </p:sp>
      <p:sp>
        <p:nvSpPr>
          <p:cNvPr id="24" name="Slide10 Bar1 BG">
            <a:extLst>
              <a:ext uri="{FF2B5EF4-FFF2-40B4-BE49-F238E27FC236}">
                <a16:creationId xmlns:a16="http://schemas.microsoft.com/office/drawing/2014/main" id="{1EFA4C82-A38D-FDBB-F731-249C8AC2F4B5}"/>
              </a:ext>
            </a:extLst>
          </p:cNvPr>
          <p:cNvSpPr/>
          <p:nvPr/>
        </p:nvSpPr>
        <p:spPr>
          <a:xfrm>
            <a:off x="10071100" y="36957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Slide10 Bar1 Fill">
            <a:extLst>
              <a:ext uri="{FF2B5EF4-FFF2-40B4-BE49-F238E27FC236}">
                <a16:creationId xmlns:a16="http://schemas.microsoft.com/office/drawing/2014/main" id="{B7ABF8CB-8AC4-4B14-4BF5-DDE6CCE4DBEC}"/>
              </a:ext>
            </a:extLst>
          </p:cNvPr>
          <p:cNvSpPr/>
          <p:nvPr/>
        </p:nvSpPr>
        <p:spPr>
          <a:xfrm>
            <a:off x="10071100" y="3695700"/>
            <a:ext cx="1041400" cy="228600"/>
          </a:xfrm>
          <a:prstGeom prst="roundRect">
            <a:avLst/>
          </a:prstGeom>
          <a:solidFill>
            <a:srgbClr val="664AA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10 Bar1 Value">
            <a:extLst>
              <a:ext uri="{FF2B5EF4-FFF2-40B4-BE49-F238E27FC236}">
                <a16:creationId xmlns:a16="http://schemas.microsoft.com/office/drawing/2014/main" id="{F154CFE6-2B34-4627-E8C7-B4A340FDA723}"/>
              </a:ext>
            </a:extLst>
          </p:cNvPr>
          <p:cNvSpPr txBox="1"/>
          <p:nvPr/>
        </p:nvSpPr>
        <p:spPr>
          <a:xfrm>
            <a:off x="11214100" y="36576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 / 34.5%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Slide10 Bar2 Label">
            <a:extLst>
              <a:ext uri="{FF2B5EF4-FFF2-40B4-BE49-F238E27FC236}">
                <a16:creationId xmlns:a16="http://schemas.microsoft.com/office/drawing/2014/main" id="{17EC9D52-B4C2-BB3F-C59B-4C9F24CEE2A0}"/>
              </a:ext>
            </a:extLst>
          </p:cNvPr>
          <p:cNvSpPr txBox="1"/>
          <p:nvPr/>
        </p:nvSpPr>
        <p:spPr>
          <a:xfrm>
            <a:off x="8953500" y="41529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</a:t>
            </a:r>
          </a:p>
        </p:txBody>
      </p:sp>
      <p:sp>
        <p:nvSpPr>
          <p:cNvPr id="28" name="Slide10 Bar2 BG">
            <a:extLst>
              <a:ext uri="{FF2B5EF4-FFF2-40B4-BE49-F238E27FC236}">
                <a16:creationId xmlns:a16="http://schemas.microsoft.com/office/drawing/2014/main" id="{369AAB08-7FAE-94CB-80BB-C8640BC82CD2}"/>
              </a:ext>
            </a:extLst>
          </p:cNvPr>
          <p:cNvSpPr/>
          <p:nvPr/>
        </p:nvSpPr>
        <p:spPr>
          <a:xfrm>
            <a:off x="10071100" y="41783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Slide10 Bar2 Fill">
            <a:extLst>
              <a:ext uri="{FF2B5EF4-FFF2-40B4-BE49-F238E27FC236}">
                <a16:creationId xmlns:a16="http://schemas.microsoft.com/office/drawing/2014/main" id="{84DD67B3-8FA8-0C3F-12E2-31FD722521E4}"/>
              </a:ext>
            </a:extLst>
          </p:cNvPr>
          <p:cNvSpPr/>
          <p:nvPr/>
        </p:nvSpPr>
        <p:spPr>
          <a:xfrm>
            <a:off x="10071100" y="4178300"/>
            <a:ext cx="990600" cy="228600"/>
          </a:xfrm>
          <a:prstGeom prst="round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Slide10 Bar2 Value">
            <a:extLst>
              <a:ext uri="{FF2B5EF4-FFF2-40B4-BE49-F238E27FC236}">
                <a16:creationId xmlns:a16="http://schemas.microsoft.com/office/drawing/2014/main" id="{171ED78C-F126-B1E0-7353-4793A64B1FE2}"/>
              </a:ext>
            </a:extLst>
          </p:cNvPr>
          <p:cNvSpPr txBox="1"/>
          <p:nvPr/>
        </p:nvSpPr>
        <p:spPr>
          <a:xfrm>
            <a:off x="11214100" y="41402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 / 32.7%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Slide10 Bar3 Label">
            <a:extLst>
              <a:ext uri="{FF2B5EF4-FFF2-40B4-BE49-F238E27FC236}">
                <a16:creationId xmlns:a16="http://schemas.microsoft.com/office/drawing/2014/main" id="{ECBBE6BB-8B24-D7B1-6356-1F887543851B}"/>
              </a:ext>
            </a:extLst>
          </p:cNvPr>
          <p:cNvSpPr txBox="1"/>
          <p:nvPr/>
        </p:nvSpPr>
        <p:spPr>
          <a:xfrm>
            <a:off x="8953500" y="46355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空心景点</a:t>
            </a:r>
          </a:p>
        </p:txBody>
      </p:sp>
      <p:sp>
        <p:nvSpPr>
          <p:cNvPr id="32" name="Slide10 Bar3 BG">
            <a:extLst>
              <a:ext uri="{FF2B5EF4-FFF2-40B4-BE49-F238E27FC236}">
                <a16:creationId xmlns:a16="http://schemas.microsoft.com/office/drawing/2014/main" id="{8FF1145E-CE9D-68EA-8DFA-A1295E20F4A2}"/>
              </a:ext>
            </a:extLst>
          </p:cNvPr>
          <p:cNvSpPr/>
          <p:nvPr/>
        </p:nvSpPr>
        <p:spPr>
          <a:xfrm>
            <a:off x="10071100" y="46609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Slide10 Bar3 Fill">
            <a:extLst>
              <a:ext uri="{FF2B5EF4-FFF2-40B4-BE49-F238E27FC236}">
                <a16:creationId xmlns:a16="http://schemas.microsoft.com/office/drawing/2014/main" id="{B95651AE-658B-EF74-8485-674FDC483C0D}"/>
              </a:ext>
            </a:extLst>
          </p:cNvPr>
          <p:cNvSpPr/>
          <p:nvPr/>
        </p:nvSpPr>
        <p:spPr>
          <a:xfrm>
            <a:off x="10071100" y="4660900"/>
            <a:ext cx="889000" cy="228600"/>
          </a:xfrm>
          <a:prstGeom prst="roundRect">
            <a:avLst/>
          </a:prstGeom>
          <a:solidFill>
            <a:srgbClr val="5088C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Slide10 Bar3 Value">
            <a:extLst>
              <a:ext uri="{FF2B5EF4-FFF2-40B4-BE49-F238E27FC236}">
                <a16:creationId xmlns:a16="http://schemas.microsoft.com/office/drawing/2014/main" id="{0A1C2D6C-9656-040B-E487-398A662EA6A5}"/>
              </a:ext>
            </a:extLst>
          </p:cNvPr>
          <p:cNvSpPr txBox="1"/>
          <p:nvPr/>
        </p:nvSpPr>
        <p:spPr>
          <a:xfrm>
            <a:off x="11214100" y="46228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49 / 29.7%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Slide10 Bar4 Label">
            <a:extLst>
              <a:ext uri="{FF2B5EF4-FFF2-40B4-BE49-F238E27FC236}">
                <a16:creationId xmlns:a16="http://schemas.microsoft.com/office/drawing/2014/main" id="{C3BBB66D-AE4D-25C7-1E04-C549A9F349E0}"/>
              </a:ext>
            </a:extLst>
          </p:cNvPr>
          <p:cNvSpPr txBox="1"/>
          <p:nvPr/>
        </p:nvSpPr>
        <p:spPr>
          <a:xfrm>
            <a:off x="8953500" y="51181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核心耦合</a:t>
            </a:r>
          </a:p>
        </p:txBody>
      </p:sp>
      <p:sp>
        <p:nvSpPr>
          <p:cNvPr id="74" name="Slide10 Bar4 BG">
            <a:extLst>
              <a:ext uri="{FF2B5EF4-FFF2-40B4-BE49-F238E27FC236}">
                <a16:creationId xmlns:a16="http://schemas.microsoft.com/office/drawing/2014/main" id="{7086F0ED-A3B9-EC25-BA46-278CAB0319A1}"/>
              </a:ext>
            </a:extLst>
          </p:cNvPr>
          <p:cNvSpPr/>
          <p:nvPr/>
        </p:nvSpPr>
        <p:spPr>
          <a:xfrm>
            <a:off x="10071100" y="51435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Slide10 Bar4 Fill">
            <a:extLst>
              <a:ext uri="{FF2B5EF4-FFF2-40B4-BE49-F238E27FC236}">
                <a16:creationId xmlns:a16="http://schemas.microsoft.com/office/drawing/2014/main" id="{2E56CA77-A6F8-1655-A192-B348E168B0DF}"/>
              </a:ext>
            </a:extLst>
          </p:cNvPr>
          <p:cNvSpPr/>
          <p:nvPr/>
        </p:nvSpPr>
        <p:spPr>
          <a:xfrm>
            <a:off x="10071100" y="5143500"/>
            <a:ext cx="127000" cy="228600"/>
          </a:xfrm>
          <a:prstGeom prst="roundRect">
            <a:avLst/>
          </a:prstGeom>
          <a:solidFill>
            <a:srgbClr val="439B91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Slide10 Bar4 Value">
            <a:extLst>
              <a:ext uri="{FF2B5EF4-FFF2-40B4-BE49-F238E27FC236}">
                <a16:creationId xmlns:a16="http://schemas.microsoft.com/office/drawing/2014/main" id="{13F31EE4-B4BA-1909-7DF9-C7FF342BB47A}"/>
              </a:ext>
            </a:extLst>
          </p:cNvPr>
          <p:cNvSpPr txBox="1"/>
          <p:nvPr/>
        </p:nvSpPr>
        <p:spPr>
          <a:xfrm>
            <a:off x="11214100" y="51054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/ 3.0%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Slide10 Count Note">
            <a:extLst>
              <a:ext uri="{FF2B5EF4-FFF2-40B4-BE49-F238E27FC236}">
                <a16:creationId xmlns:a16="http://schemas.microsoft.com/office/drawing/2014/main" id="{2395809A-A9DF-96CC-5894-998BDBB545EF}"/>
              </a:ext>
            </a:extLst>
          </p:cNvPr>
          <p:cNvSpPr txBox="1"/>
          <p:nvPr/>
        </p:nvSpPr>
        <p:spPr>
          <a:xfrm>
            <a:off x="8953500" y="5651500"/>
            <a:ext cx="2565400" cy="406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分类结果说明主要矛盾集中在文化基础与旅游承接之间的对应关系。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自定义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2026-06-03T05:48:48Z</dcterms:created>
  <dcterms:modified xsi:type="dcterms:W3CDTF">2026-06-03T05:48:48Z</dcterms:modified>
</cp:coreProperties>
</file>