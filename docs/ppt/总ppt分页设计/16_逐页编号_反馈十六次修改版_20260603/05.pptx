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D0BD0-5969-49CA-96F3-20F8A3FA01A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6D3DA-7FB9-4D83-BF5A-9DC75CCAF0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243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C4C8E-4AF2-253F-9C97-64D101698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0D4261-0863-332B-1F3B-5CC9EFB13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A3F826-799D-807F-0BF4-F6173D0A0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0360-8648-4889-BA8D-9F5F6CE1FD5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77D955-9AAE-7E14-91FB-86601B4DA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79EDC-3F1D-8566-ED3E-5E6B257B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0CD1-F5B9-47C3-8705-2AFFE9E23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639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558CB-9D45-863D-9659-6EFC34CD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46E2AA-551E-188B-6960-AE3C470FD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CAF30E-ABCE-E626-D7A6-8A79DD9F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0360-8648-4889-BA8D-9F5F6CE1FD5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E83B72-E2B0-9EEA-DC83-4A9DF765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71DC61-0D93-83B0-1479-AD990159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0CD1-F5B9-47C3-8705-2AFFE9E23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748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2725C-038A-150B-D19C-A491BA81D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E64E54-90BD-3670-7EC9-B4C261394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EA3F0C-D21C-0ADE-6848-722B0B20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0360-8648-4889-BA8D-9F5F6CE1FD5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D051D0-49FA-131B-A5B5-0F2038398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50075B-FAE2-FC66-6331-92B9D37D0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0CD1-F5B9-47C3-8705-2AFFE9E23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135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BF84F9-7195-F70E-5BAE-F1FBE5FC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C34309-6CB1-E325-830F-DB675EA65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7D3B3A-0446-A0F3-CBFD-58B0929AC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DC67BD-C571-7B08-7443-37C8C160F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0360-8648-4889-BA8D-9F5F6CE1FD5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EE46B5-2324-A6D4-9539-894A38221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26CE37-E8D6-817A-FB4A-5A4DD8533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0CD1-F5B9-47C3-8705-2AFFE9E23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43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C8803-C9F6-BB56-3B78-3031732F8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2E9978-185B-E4FF-AB72-97CC5C0A1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14A51B-1DE2-EA27-6EDA-3C11B7EBB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3502DA-F965-BFE7-ADA5-725BB88918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FAF3F7-48E4-F137-0AED-7C5BE008C7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56C668-BE77-A299-8DA0-03A6CD58D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0360-8648-4889-BA8D-9F5F6CE1FD5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4DDF78-D40D-A0F1-4A1C-4EADC83C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627310-CDF6-28A2-B8A8-C9B169B3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0CD1-F5B9-47C3-8705-2AFFE9E23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31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C2ECC-5C2C-707F-AAD5-48ACB10C6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5076B5-05B3-009A-862F-5DB061439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0360-8648-4889-BA8D-9F5F6CE1FD5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180946-13EF-DD04-FE71-C4C7ED940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CD6C94-823B-AA67-AF9D-06A202DA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0CD1-F5B9-47C3-8705-2AFFE9E23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72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B89833-C9C9-0AC9-B1CE-CA7D7AF4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0360-8648-4889-BA8D-9F5F6CE1FD5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9DE598-D8DA-DBC0-C4EE-22EFF637D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C3724E-8A3C-EACF-D41F-179150421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0CD1-F5B9-47C3-8705-2AFFE9E23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75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C83BB-5B5E-15C5-9EA6-E3D37EA4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1EDCBD-83C2-F979-62B7-F2464AEAB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3FF346-27DA-83A7-0B69-CF17A89FB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C1562E-B168-06C0-68B8-600101214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0360-8648-4889-BA8D-9F5F6CE1FD5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46607E-5399-9B06-F693-FF38B9365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F71F68-E633-EBE4-30AD-FEE14A17A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0CD1-F5B9-47C3-8705-2AFFE9E23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98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89391C-CA5B-B731-AA14-BAB96ABC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31EC3D-C84A-FDE0-E8EE-3E1F8F409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3D3087-887B-6B9A-3210-8A6BE501A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256E9B-96AC-002F-64F9-58BC192EC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0360-8648-4889-BA8D-9F5F6CE1FD5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F7E7A6-2132-DE59-EEA2-20696B52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BE8A11-A77A-4EDC-2090-EEEB15723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0CD1-F5B9-47C3-8705-2AFFE9E23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67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2EEC3C-4F13-B82A-C92B-43CA0375D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FE39E5-E37E-F557-5905-C2F54FE4A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4841E4-D08F-0D53-1CA1-B4AC71251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0360-8648-4889-BA8D-9F5F6CE1FD5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12EBE5-1A4A-2BB7-C94D-AC4ED3F9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78A34-6F28-64C3-D414-75CBC163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0CD1-F5B9-47C3-8705-2AFFE9E23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545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9B21D7-914C-EC7E-2964-3373AE13E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125D65-0703-D650-390E-604D25F39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13B6EB-0CDA-938D-C3BE-62AF5766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0360-8648-4889-BA8D-9F5F6CE1FD5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6E7CC2-94FF-7263-40C2-2C50D0320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F5A633-4DEF-C422-3F52-C8D540FBB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0CD1-F5B9-47C3-8705-2AFFE9E23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13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A41602-DF66-EB25-6BEF-2883ED9A1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0963D1-3052-B134-D998-10B2723C6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5AABCE-CC05-01B8-437B-317E2B8899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90360-8648-4889-BA8D-9F5F6CE1FD5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6CCA09-D397-73BA-009B-ED46CB9CC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207BB5-A916-A7C9-C6D5-E87852AD6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60CD1-F5B9-47C3-8705-2AFFE9E23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56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05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3.1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400" b="1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5AD469-BC80-5402-A36F-A156DD6F7E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10" name="R15 S5 TopBullets">
            <a:extLst>
              <a:ext uri="{FF2B5EF4-FFF2-40B4-BE49-F238E27FC236}">
                <a16:creationId xmlns:a16="http://schemas.microsoft.com/office/drawing/2014/main" id="{5958F64A-8DFF-E164-BEDC-B11C45ACBA8A}"/>
              </a:ext>
            </a:extLst>
          </p:cNvPr>
          <p:cNvSpPr txBox="1"/>
          <p:nvPr/>
        </p:nvSpPr>
        <p:spPr>
          <a:xfrm>
            <a:off x="990600" y="1193800"/>
            <a:ext cx="10287000" cy="4401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数据处理先统一来源、坐标、名称，再进入载体锚点匹配。</a:t>
            </a:r>
          </a:p>
          <a:p>
            <a:r>
              <a:rPr lang="en-US" altLang="zh-CN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500 m </a:t>
            </a:r>
            <a:r>
              <a:rPr lang="zh-CN" altLang="en-US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网格把文化侧与旅游侧放到同一空间口径。</a:t>
            </a:r>
          </a:p>
        </p:txBody>
      </p:sp>
      <p:cxnSp>
        <p:nvCxnSpPr>
          <p:cNvPr id="35" name="R15 S5 Rule">
            <a:extLst>
              <a:ext uri="{FF2B5EF4-FFF2-40B4-BE49-F238E27FC236}">
                <a16:creationId xmlns:a16="http://schemas.microsoft.com/office/drawing/2014/main" id="{96D177D1-3EDF-7A86-2FAE-6E31E18252FA}"/>
              </a:ext>
            </a:extLst>
          </p:cNvPr>
          <p:cNvCxnSpPr/>
          <p:nvPr/>
        </p:nvCxnSpPr>
        <p:spPr>
          <a:xfrm>
            <a:off x="990600" y="1739900"/>
            <a:ext cx="10160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15 S5 Canvas">
            <a:extLst>
              <a:ext uri="{FF2B5EF4-FFF2-40B4-BE49-F238E27FC236}">
                <a16:creationId xmlns:a16="http://schemas.microsoft.com/office/drawing/2014/main" id="{722E60BD-31EA-9E0A-DA3C-CE3679ACEF03}"/>
              </a:ext>
            </a:extLst>
          </p:cNvPr>
          <p:cNvSpPr/>
          <p:nvPr/>
        </p:nvSpPr>
        <p:spPr>
          <a:xfrm>
            <a:off x="889000" y="1955800"/>
            <a:ext cx="7696200" cy="4114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R15 S5 FlowTitle">
            <a:extLst>
              <a:ext uri="{FF2B5EF4-FFF2-40B4-BE49-F238E27FC236}">
                <a16:creationId xmlns:a16="http://schemas.microsoft.com/office/drawing/2014/main" id="{8F483D83-EACB-7CC7-D4A9-D286B7E46501}"/>
              </a:ext>
            </a:extLst>
          </p:cNvPr>
          <p:cNvSpPr txBox="1"/>
          <p:nvPr/>
        </p:nvSpPr>
        <p:spPr>
          <a:xfrm>
            <a:off x="1193800" y="2247900"/>
            <a:ext cx="6858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统一流程：来源 → 清洗 → 锚点 → 网格 → 指数</a:t>
            </a:r>
          </a:p>
        </p:txBody>
      </p:sp>
      <p:sp>
        <p:nvSpPr>
          <p:cNvPr id="46" name="R15 S5 Flow Card">
            <a:extLst>
              <a:ext uri="{FF2B5EF4-FFF2-40B4-BE49-F238E27FC236}">
                <a16:creationId xmlns:a16="http://schemas.microsoft.com/office/drawing/2014/main" id="{0D1BB21F-54F6-62F3-A131-8CC9F3E7C5C5}"/>
              </a:ext>
            </a:extLst>
          </p:cNvPr>
          <p:cNvSpPr/>
          <p:nvPr/>
        </p:nvSpPr>
        <p:spPr>
          <a:xfrm>
            <a:off x="11938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15 S5 Flow Accent">
            <a:extLst>
              <a:ext uri="{FF2B5EF4-FFF2-40B4-BE49-F238E27FC236}">
                <a16:creationId xmlns:a16="http://schemas.microsoft.com/office/drawing/2014/main" id="{9FC561D7-792C-E106-7F3F-E1FE2EF9FFE1}"/>
              </a:ext>
            </a:extLst>
          </p:cNvPr>
          <p:cNvSpPr/>
          <p:nvPr/>
        </p:nvSpPr>
        <p:spPr>
          <a:xfrm>
            <a:off x="1193800" y="2806700"/>
            <a:ext cx="1320800" cy="508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15 S5 Flow Head">
            <a:extLst>
              <a:ext uri="{FF2B5EF4-FFF2-40B4-BE49-F238E27FC236}">
                <a16:creationId xmlns:a16="http://schemas.microsoft.com/office/drawing/2014/main" id="{1B1B7622-5B69-9F35-601C-BFB97DE118DC}"/>
              </a:ext>
            </a:extLst>
          </p:cNvPr>
          <p:cNvSpPr txBox="1"/>
          <p:nvPr/>
        </p:nvSpPr>
        <p:spPr>
          <a:xfrm>
            <a:off x="13081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文化数据</a:t>
            </a:r>
          </a:p>
        </p:txBody>
      </p:sp>
      <p:sp>
        <p:nvSpPr>
          <p:cNvPr id="56" name="R15 S5 Flow Body">
            <a:extLst>
              <a:ext uri="{FF2B5EF4-FFF2-40B4-BE49-F238E27FC236}">
                <a16:creationId xmlns:a16="http://schemas.microsoft.com/office/drawing/2014/main" id="{DF9B3CAE-081F-6519-6F4C-F2FC2D2246AC}"/>
              </a:ext>
            </a:extLst>
          </p:cNvPr>
          <p:cNvSpPr txBox="1"/>
          <p:nvPr/>
        </p:nvSpPr>
        <p:spPr>
          <a:xfrm>
            <a:off x="13081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典籍语料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官方名录</a:t>
            </a:r>
          </a:p>
        </p:txBody>
      </p:sp>
      <p:sp>
        <p:nvSpPr>
          <p:cNvPr id="57" name="R15 S5 Flow Card">
            <a:extLst>
              <a:ext uri="{FF2B5EF4-FFF2-40B4-BE49-F238E27FC236}">
                <a16:creationId xmlns:a16="http://schemas.microsoft.com/office/drawing/2014/main" id="{39FFEA8F-DBEB-3EF9-599D-1F551B3CE273}"/>
              </a:ext>
            </a:extLst>
          </p:cNvPr>
          <p:cNvSpPr/>
          <p:nvPr/>
        </p:nvSpPr>
        <p:spPr>
          <a:xfrm>
            <a:off x="27305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R15 S5 Flow Accent">
            <a:extLst>
              <a:ext uri="{FF2B5EF4-FFF2-40B4-BE49-F238E27FC236}">
                <a16:creationId xmlns:a16="http://schemas.microsoft.com/office/drawing/2014/main" id="{36CAAE09-D7B6-A393-DD38-37986A9679B1}"/>
              </a:ext>
            </a:extLst>
          </p:cNvPr>
          <p:cNvSpPr/>
          <p:nvPr/>
        </p:nvSpPr>
        <p:spPr>
          <a:xfrm>
            <a:off x="2730500" y="2806700"/>
            <a:ext cx="1320800" cy="50800"/>
          </a:xfrm>
          <a:prstGeom prst="rect">
            <a:avLst/>
          </a:prstGeom>
          <a:solidFill>
            <a:srgbClr val="4C80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15 S5 Flow Head">
            <a:extLst>
              <a:ext uri="{FF2B5EF4-FFF2-40B4-BE49-F238E27FC236}">
                <a16:creationId xmlns:a16="http://schemas.microsoft.com/office/drawing/2014/main" id="{E31520B2-B570-0F0C-9EDE-5366F13E359A}"/>
              </a:ext>
            </a:extLst>
          </p:cNvPr>
          <p:cNvSpPr txBox="1"/>
          <p:nvPr/>
        </p:nvSpPr>
        <p:spPr>
          <a:xfrm>
            <a:off x="28448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C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旅游数据</a:t>
            </a:r>
          </a:p>
        </p:txBody>
      </p:sp>
      <p:sp>
        <p:nvSpPr>
          <p:cNvPr id="60" name="R15 S5 Flow Body">
            <a:extLst>
              <a:ext uri="{FF2B5EF4-FFF2-40B4-BE49-F238E27FC236}">
                <a16:creationId xmlns:a16="http://schemas.microsoft.com/office/drawing/2014/main" id="{5525B89A-FE27-BE01-19D8-098837A597BD}"/>
              </a:ext>
            </a:extLst>
          </p:cNvPr>
          <p:cNvSpPr txBox="1"/>
          <p:nvPr/>
        </p:nvSpPr>
        <p:spPr>
          <a:xfrm>
            <a:off x="28448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主库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平台评论</a:t>
            </a:r>
          </a:p>
        </p:txBody>
      </p:sp>
      <p:sp>
        <p:nvSpPr>
          <p:cNvPr id="61" name="R15 S5 Flow Card">
            <a:extLst>
              <a:ext uri="{FF2B5EF4-FFF2-40B4-BE49-F238E27FC236}">
                <a16:creationId xmlns:a16="http://schemas.microsoft.com/office/drawing/2014/main" id="{4F48E5F5-4542-590E-8F2F-1E9541FFCE96}"/>
              </a:ext>
            </a:extLst>
          </p:cNvPr>
          <p:cNvSpPr/>
          <p:nvPr/>
        </p:nvSpPr>
        <p:spPr>
          <a:xfrm>
            <a:off x="42672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R15 S5 Flow Accent">
            <a:extLst>
              <a:ext uri="{FF2B5EF4-FFF2-40B4-BE49-F238E27FC236}">
                <a16:creationId xmlns:a16="http://schemas.microsoft.com/office/drawing/2014/main" id="{7B729836-AEC6-A5F5-7723-EEC643E2DE01}"/>
              </a:ext>
            </a:extLst>
          </p:cNvPr>
          <p:cNvSpPr/>
          <p:nvPr/>
        </p:nvSpPr>
        <p:spPr>
          <a:xfrm>
            <a:off x="4267200" y="2806700"/>
            <a:ext cx="1320800" cy="508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R15 S5 Flow Head">
            <a:extLst>
              <a:ext uri="{FF2B5EF4-FFF2-40B4-BE49-F238E27FC236}">
                <a16:creationId xmlns:a16="http://schemas.microsoft.com/office/drawing/2014/main" id="{E468DDE9-D4A3-298B-0ED1-CCCF68B1FF32}"/>
              </a:ext>
            </a:extLst>
          </p:cNvPr>
          <p:cNvSpPr txBox="1"/>
          <p:nvPr/>
        </p:nvSpPr>
        <p:spPr>
          <a:xfrm>
            <a:off x="43815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载体锚点</a:t>
            </a:r>
          </a:p>
        </p:txBody>
      </p:sp>
      <p:sp>
        <p:nvSpPr>
          <p:cNvPr id="64" name="R15 S5 Flow Body">
            <a:extLst>
              <a:ext uri="{FF2B5EF4-FFF2-40B4-BE49-F238E27FC236}">
                <a16:creationId xmlns:a16="http://schemas.microsoft.com/office/drawing/2014/main" id="{9319486D-8A4C-FEB6-8973-C24773E8BD72}"/>
              </a:ext>
            </a:extLst>
          </p:cNvPr>
          <p:cNvSpPr txBox="1"/>
          <p:nvPr/>
        </p:nvSpPr>
        <p:spPr>
          <a:xfrm>
            <a:off x="43815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</a:t>
            </a:r>
          </a:p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核心载体</a:t>
            </a:r>
          </a:p>
        </p:txBody>
      </p:sp>
      <p:sp>
        <p:nvSpPr>
          <p:cNvPr id="65" name="R15 S5 Flow Card">
            <a:extLst>
              <a:ext uri="{FF2B5EF4-FFF2-40B4-BE49-F238E27FC236}">
                <a16:creationId xmlns:a16="http://schemas.microsoft.com/office/drawing/2014/main" id="{6872A016-BB2D-B216-A847-C973857B473E}"/>
              </a:ext>
            </a:extLst>
          </p:cNvPr>
          <p:cNvSpPr/>
          <p:nvPr/>
        </p:nvSpPr>
        <p:spPr>
          <a:xfrm>
            <a:off x="58039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R15 S5 Flow Accent">
            <a:extLst>
              <a:ext uri="{FF2B5EF4-FFF2-40B4-BE49-F238E27FC236}">
                <a16:creationId xmlns:a16="http://schemas.microsoft.com/office/drawing/2014/main" id="{B8D09290-AD99-8E71-7376-AF5E8AD9B4AF}"/>
              </a:ext>
            </a:extLst>
          </p:cNvPr>
          <p:cNvSpPr/>
          <p:nvPr/>
        </p:nvSpPr>
        <p:spPr>
          <a:xfrm>
            <a:off x="5803900" y="2806700"/>
            <a:ext cx="1320800" cy="508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R15 S5 Flow Head">
            <a:extLst>
              <a:ext uri="{FF2B5EF4-FFF2-40B4-BE49-F238E27FC236}">
                <a16:creationId xmlns:a16="http://schemas.microsoft.com/office/drawing/2014/main" id="{CCF06B1A-DCF1-7875-8781-83E5084ED84A}"/>
              </a:ext>
            </a:extLst>
          </p:cNvPr>
          <p:cNvSpPr txBox="1"/>
          <p:nvPr/>
        </p:nvSpPr>
        <p:spPr>
          <a:xfrm>
            <a:off x="59182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</a:t>
            </a:r>
          </a:p>
        </p:txBody>
      </p:sp>
      <p:sp>
        <p:nvSpPr>
          <p:cNvPr id="68" name="R15 S5 Flow Body">
            <a:extLst>
              <a:ext uri="{FF2B5EF4-FFF2-40B4-BE49-F238E27FC236}">
                <a16:creationId xmlns:a16="http://schemas.microsoft.com/office/drawing/2014/main" id="{FBD60DA7-DAA2-BEF8-6DBA-7C85D606F0DC}"/>
              </a:ext>
            </a:extLst>
          </p:cNvPr>
          <p:cNvSpPr txBox="1"/>
          <p:nvPr/>
        </p:nvSpPr>
        <p:spPr>
          <a:xfrm>
            <a:off x="59182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坐标统一</a:t>
            </a:r>
          </a:p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</a:t>
            </a:r>
          </a:p>
        </p:txBody>
      </p:sp>
      <p:sp>
        <p:nvSpPr>
          <p:cNvPr id="69" name="R15 S5 Flow Card">
            <a:extLst>
              <a:ext uri="{FF2B5EF4-FFF2-40B4-BE49-F238E27FC236}">
                <a16:creationId xmlns:a16="http://schemas.microsoft.com/office/drawing/2014/main" id="{3AAB2DE8-EA31-D757-A439-C9F489981F0F}"/>
              </a:ext>
            </a:extLst>
          </p:cNvPr>
          <p:cNvSpPr/>
          <p:nvPr/>
        </p:nvSpPr>
        <p:spPr>
          <a:xfrm>
            <a:off x="73406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R15 S5 Flow Accent">
            <a:extLst>
              <a:ext uri="{FF2B5EF4-FFF2-40B4-BE49-F238E27FC236}">
                <a16:creationId xmlns:a16="http://schemas.microsoft.com/office/drawing/2014/main" id="{4417514C-1688-DC1A-BF77-2E6CAB1FCF5F}"/>
              </a:ext>
            </a:extLst>
          </p:cNvPr>
          <p:cNvSpPr/>
          <p:nvPr/>
        </p:nvSpPr>
        <p:spPr>
          <a:xfrm>
            <a:off x="7340600" y="2806700"/>
            <a:ext cx="1320800" cy="508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R15 S5 Flow Head">
            <a:extLst>
              <a:ext uri="{FF2B5EF4-FFF2-40B4-BE49-F238E27FC236}">
                <a16:creationId xmlns:a16="http://schemas.microsoft.com/office/drawing/2014/main" id="{50C4449F-A4DC-9D47-D48E-6EFA0038A115}"/>
              </a:ext>
            </a:extLst>
          </p:cNvPr>
          <p:cNvSpPr txBox="1"/>
          <p:nvPr/>
        </p:nvSpPr>
        <p:spPr>
          <a:xfrm>
            <a:off x="74549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指数输出</a:t>
            </a:r>
          </a:p>
        </p:txBody>
      </p:sp>
      <p:sp>
        <p:nvSpPr>
          <p:cNvPr id="72" name="R15 S5 Flow Body">
            <a:extLst>
              <a:ext uri="{FF2B5EF4-FFF2-40B4-BE49-F238E27FC236}">
                <a16:creationId xmlns:a16="http://schemas.microsoft.com/office/drawing/2014/main" id="{73A82F73-C635-5E73-DA5F-83DB423CD376}"/>
              </a:ext>
            </a:extLst>
          </p:cNvPr>
          <p:cNvSpPr txBox="1"/>
          <p:nvPr/>
        </p:nvSpPr>
        <p:spPr>
          <a:xfrm>
            <a:off x="74549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</a:t>
            </a:r>
          </a:p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/ MI</a:t>
            </a:r>
            <a:endParaRPr lang="zh-CN" altLang="en-US" sz="96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3" name="R15 Arrow">
            <a:extLst>
              <a:ext uri="{FF2B5EF4-FFF2-40B4-BE49-F238E27FC236}">
                <a16:creationId xmlns:a16="http://schemas.microsoft.com/office/drawing/2014/main" id="{B20B139A-88A1-4DFC-76A0-8E0E42A95338}"/>
              </a:ext>
            </a:extLst>
          </p:cNvPr>
          <p:cNvCxnSpPr/>
          <p:nvPr/>
        </p:nvCxnSpPr>
        <p:spPr>
          <a:xfrm>
            <a:off x="25400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R15 Arrow">
            <a:extLst>
              <a:ext uri="{FF2B5EF4-FFF2-40B4-BE49-F238E27FC236}">
                <a16:creationId xmlns:a16="http://schemas.microsoft.com/office/drawing/2014/main" id="{CDF74CA2-9DDB-9C4F-621E-C12DD5ECC9F9}"/>
              </a:ext>
            </a:extLst>
          </p:cNvPr>
          <p:cNvCxnSpPr/>
          <p:nvPr/>
        </p:nvCxnSpPr>
        <p:spPr>
          <a:xfrm>
            <a:off x="40767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R15 Arrow">
            <a:extLst>
              <a:ext uri="{FF2B5EF4-FFF2-40B4-BE49-F238E27FC236}">
                <a16:creationId xmlns:a16="http://schemas.microsoft.com/office/drawing/2014/main" id="{D86385CB-7D86-1BDA-31C7-ADBBF6D85E36}"/>
              </a:ext>
            </a:extLst>
          </p:cNvPr>
          <p:cNvCxnSpPr/>
          <p:nvPr/>
        </p:nvCxnSpPr>
        <p:spPr>
          <a:xfrm>
            <a:off x="56134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R15 Arrow">
            <a:extLst>
              <a:ext uri="{FF2B5EF4-FFF2-40B4-BE49-F238E27FC236}">
                <a16:creationId xmlns:a16="http://schemas.microsoft.com/office/drawing/2014/main" id="{98213BF5-B09E-9C44-D66E-E871230CB6D1}"/>
              </a:ext>
            </a:extLst>
          </p:cNvPr>
          <p:cNvCxnSpPr/>
          <p:nvPr/>
        </p:nvCxnSpPr>
        <p:spPr>
          <a:xfrm>
            <a:off x="71501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15 S5 Flow Card">
            <a:extLst>
              <a:ext uri="{FF2B5EF4-FFF2-40B4-BE49-F238E27FC236}">
                <a16:creationId xmlns:a16="http://schemas.microsoft.com/office/drawing/2014/main" id="{78C3A0EA-FAAF-7149-56EB-966426A28CBE}"/>
              </a:ext>
            </a:extLst>
          </p:cNvPr>
          <p:cNvSpPr/>
          <p:nvPr/>
        </p:nvSpPr>
        <p:spPr>
          <a:xfrm>
            <a:off x="1320800" y="4343400"/>
            <a:ext cx="1981200" cy="7366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R15 S5 Flow Accent">
            <a:extLst>
              <a:ext uri="{FF2B5EF4-FFF2-40B4-BE49-F238E27FC236}">
                <a16:creationId xmlns:a16="http://schemas.microsoft.com/office/drawing/2014/main" id="{E71DF795-595F-B643-003F-55156E479E7C}"/>
              </a:ext>
            </a:extLst>
          </p:cNvPr>
          <p:cNvSpPr/>
          <p:nvPr/>
        </p:nvSpPr>
        <p:spPr>
          <a:xfrm>
            <a:off x="1320800" y="4343400"/>
            <a:ext cx="1981200" cy="50800"/>
          </a:xfrm>
          <a:prstGeom prst="rect">
            <a:avLst/>
          </a:prstGeom>
          <a:solidFill>
            <a:srgbClr val="58525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R15 S5 Flow Head">
            <a:extLst>
              <a:ext uri="{FF2B5EF4-FFF2-40B4-BE49-F238E27FC236}">
                <a16:creationId xmlns:a16="http://schemas.microsoft.com/office/drawing/2014/main" id="{48A924E3-0DA2-E5F0-C12B-2121BAEA959A}"/>
              </a:ext>
            </a:extLst>
          </p:cNvPr>
          <p:cNvSpPr txBox="1"/>
          <p:nvPr/>
        </p:nvSpPr>
        <p:spPr>
          <a:xfrm>
            <a:off x="1435100" y="4483100"/>
            <a:ext cx="1752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数据清洗</a:t>
            </a:r>
          </a:p>
        </p:txBody>
      </p:sp>
      <p:sp>
        <p:nvSpPr>
          <p:cNvPr id="80" name="R15 S5 Flow Body">
            <a:extLst>
              <a:ext uri="{FF2B5EF4-FFF2-40B4-BE49-F238E27FC236}">
                <a16:creationId xmlns:a16="http://schemas.microsoft.com/office/drawing/2014/main" id="{A0F8CF9F-0A2C-237D-B3EB-3C03EF9192CF}"/>
              </a:ext>
            </a:extLst>
          </p:cNvPr>
          <p:cNvSpPr txBox="1"/>
          <p:nvPr/>
        </p:nvSpPr>
        <p:spPr>
          <a:xfrm>
            <a:off x="1435100" y="4762500"/>
            <a:ext cx="17526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OCR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校对、去重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名称与坐标统一</a:t>
            </a:r>
          </a:p>
        </p:txBody>
      </p:sp>
      <p:sp>
        <p:nvSpPr>
          <p:cNvPr id="81" name="R15 S5 Flow Card">
            <a:extLst>
              <a:ext uri="{FF2B5EF4-FFF2-40B4-BE49-F238E27FC236}">
                <a16:creationId xmlns:a16="http://schemas.microsoft.com/office/drawing/2014/main" id="{AC447215-B6E7-53C5-0BFE-873C367D3B2E}"/>
              </a:ext>
            </a:extLst>
          </p:cNvPr>
          <p:cNvSpPr/>
          <p:nvPr/>
        </p:nvSpPr>
        <p:spPr>
          <a:xfrm>
            <a:off x="4000500" y="4343400"/>
            <a:ext cx="1981200" cy="7366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R15 S5 Flow Accent">
            <a:extLst>
              <a:ext uri="{FF2B5EF4-FFF2-40B4-BE49-F238E27FC236}">
                <a16:creationId xmlns:a16="http://schemas.microsoft.com/office/drawing/2014/main" id="{1D2C1691-5BDC-AEAF-0255-6F381DC3566C}"/>
              </a:ext>
            </a:extLst>
          </p:cNvPr>
          <p:cNvSpPr/>
          <p:nvPr/>
        </p:nvSpPr>
        <p:spPr>
          <a:xfrm>
            <a:off x="4000500" y="4343400"/>
            <a:ext cx="1981200" cy="508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R15 S5 Flow Head">
            <a:extLst>
              <a:ext uri="{FF2B5EF4-FFF2-40B4-BE49-F238E27FC236}">
                <a16:creationId xmlns:a16="http://schemas.microsoft.com/office/drawing/2014/main" id="{8ED8625E-49ED-5A4B-5C6F-89380B474112}"/>
              </a:ext>
            </a:extLst>
          </p:cNvPr>
          <p:cNvSpPr txBox="1"/>
          <p:nvPr/>
        </p:nvSpPr>
        <p:spPr>
          <a:xfrm>
            <a:off x="4114800" y="4483100"/>
            <a:ext cx="1752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</p:txBody>
      </p:sp>
      <p:sp>
        <p:nvSpPr>
          <p:cNvPr id="84" name="R15 S5 Flow Body">
            <a:extLst>
              <a:ext uri="{FF2B5EF4-FFF2-40B4-BE49-F238E27FC236}">
                <a16:creationId xmlns:a16="http://schemas.microsoft.com/office/drawing/2014/main" id="{5E0866DD-0441-408E-2A51-DE3FEA067E9D}"/>
              </a:ext>
            </a:extLst>
          </p:cNvPr>
          <p:cNvSpPr txBox="1"/>
          <p:nvPr/>
        </p:nvSpPr>
        <p:spPr>
          <a:xfrm>
            <a:off x="4114800" y="4762500"/>
            <a:ext cx="17526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</a:t>
            </a:r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—POI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匹配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sp>
        <p:nvSpPr>
          <p:cNvPr id="85" name="R15 S5 Flow Card">
            <a:extLst>
              <a:ext uri="{FF2B5EF4-FFF2-40B4-BE49-F238E27FC236}">
                <a16:creationId xmlns:a16="http://schemas.microsoft.com/office/drawing/2014/main" id="{AC13214E-3937-6B7B-D286-C4ED9AE12828}"/>
              </a:ext>
            </a:extLst>
          </p:cNvPr>
          <p:cNvSpPr/>
          <p:nvPr/>
        </p:nvSpPr>
        <p:spPr>
          <a:xfrm>
            <a:off x="6680200" y="4343400"/>
            <a:ext cx="1600200" cy="7366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R15 S5 Flow Accent">
            <a:extLst>
              <a:ext uri="{FF2B5EF4-FFF2-40B4-BE49-F238E27FC236}">
                <a16:creationId xmlns:a16="http://schemas.microsoft.com/office/drawing/2014/main" id="{4B7D4A1F-00A4-87FE-E36D-2426A8B77430}"/>
              </a:ext>
            </a:extLst>
          </p:cNvPr>
          <p:cNvSpPr/>
          <p:nvPr/>
        </p:nvSpPr>
        <p:spPr>
          <a:xfrm>
            <a:off x="6680200" y="4343400"/>
            <a:ext cx="1600200" cy="50800"/>
          </a:xfrm>
          <a:prstGeom prst="rect">
            <a:avLst/>
          </a:prstGeom>
          <a:solidFill>
            <a:srgbClr val="4C80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R15 S5 Flow Head">
            <a:extLst>
              <a:ext uri="{FF2B5EF4-FFF2-40B4-BE49-F238E27FC236}">
                <a16:creationId xmlns:a16="http://schemas.microsoft.com/office/drawing/2014/main" id="{38B01822-B669-59E9-1C79-950BB8F8753A}"/>
              </a:ext>
            </a:extLst>
          </p:cNvPr>
          <p:cNvSpPr txBox="1"/>
          <p:nvPr/>
        </p:nvSpPr>
        <p:spPr>
          <a:xfrm>
            <a:off x="6794500" y="4483100"/>
            <a:ext cx="1371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C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成果输出</a:t>
            </a:r>
          </a:p>
        </p:txBody>
      </p:sp>
      <p:sp>
        <p:nvSpPr>
          <p:cNvPr id="88" name="R15 S5 Flow Body">
            <a:extLst>
              <a:ext uri="{FF2B5EF4-FFF2-40B4-BE49-F238E27FC236}">
                <a16:creationId xmlns:a16="http://schemas.microsoft.com/office/drawing/2014/main" id="{1837E3A3-E01E-A671-6434-F2C6199150A5}"/>
              </a:ext>
            </a:extLst>
          </p:cNvPr>
          <p:cNvSpPr txBox="1"/>
          <p:nvPr/>
        </p:nvSpPr>
        <p:spPr>
          <a:xfrm>
            <a:off x="6794500" y="4762500"/>
            <a:ext cx="13716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错位分类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专题图与建议</a:t>
            </a:r>
          </a:p>
        </p:txBody>
      </p:sp>
      <p:cxnSp>
        <p:nvCxnSpPr>
          <p:cNvPr id="89" name="R15 Arrow">
            <a:extLst>
              <a:ext uri="{FF2B5EF4-FFF2-40B4-BE49-F238E27FC236}">
                <a16:creationId xmlns:a16="http://schemas.microsoft.com/office/drawing/2014/main" id="{35A6A3AD-F1CF-2CC9-E63D-D6B7AB7BDC90}"/>
              </a:ext>
            </a:extLst>
          </p:cNvPr>
          <p:cNvCxnSpPr/>
          <p:nvPr/>
        </p:nvCxnSpPr>
        <p:spPr>
          <a:xfrm>
            <a:off x="5283200" y="3746500"/>
            <a:ext cx="0" cy="596900"/>
          </a:xfrm>
          <a:prstGeom prst="line">
            <a:avLst/>
          </a:prstGeom>
          <a:ln w="2032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R15 Arrow">
            <a:extLst>
              <a:ext uri="{FF2B5EF4-FFF2-40B4-BE49-F238E27FC236}">
                <a16:creationId xmlns:a16="http://schemas.microsoft.com/office/drawing/2014/main" id="{76958A37-07A7-3FAF-3A35-7FAAE110D321}"/>
              </a:ext>
            </a:extLst>
          </p:cNvPr>
          <p:cNvCxnSpPr/>
          <p:nvPr/>
        </p:nvCxnSpPr>
        <p:spPr>
          <a:xfrm>
            <a:off x="3302000" y="4711700"/>
            <a:ext cx="698500" cy="0"/>
          </a:xfrm>
          <a:prstGeom prst="line">
            <a:avLst/>
          </a:prstGeom>
          <a:ln w="1778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R15 Arrow">
            <a:extLst>
              <a:ext uri="{FF2B5EF4-FFF2-40B4-BE49-F238E27FC236}">
                <a16:creationId xmlns:a16="http://schemas.microsoft.com/office/drawing/2014/main" id="{5739C2A6-7907-0184-B6D4-620C0DBB3A53}"/>
              </a:ext>
            </a:extLst>
          </p:cNvPr>
          <p:cNvCxnSpPr/>
          <p:nvPr/>
        </p:nvCxnSpPr>
        <p:spPr>
          <a:xfrm>
            <a:off x="5981700" y="4711700"/>
            <a:ext cx="698500" cy="0"/>
          </a:xfrm>
          <a:prstGeom prst="line">
            <a:avLst/>
          </a:prstGeom>
          <a:ln w="1778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15 S5 Caption">
            <a:extLst>
              <a:ext uri="{FF2B5EF4-FFF2-40B4-BE49-F238E27FC236}">
                <a16:creationId xmlns:a16="http://schemas.microsoft.com/office/drawing/2014/main" id="{2B275703-3A27-C47D-3B1B-6861E3F9D457}"/>
              </a:ext>
            </a:extLst>
          </p:cNvPr>
          <p:cNvSpPr txBox="1"/>
          <p:nvPr/>
        </p:nvSpPr>
        <p:spPr>
          <a:xfrm>
            <a:off x="1193800" y="5461000"/>
            <a:ext cx="68580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3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数据处理链条：来源清洗、锚点匹配、网格归一与指数输出保持同一空间口径。</a:t>
            </a:r>
          </a:p>
        </p:txBody>
      </p:sp>
      <p:sp>
        <p:nvSpPr>
          <p:cNvPr id="93" name="R15 S5 MetricsTitle">
            <a:extLst>
              <a:ext uri="{FF2B5EF4-FFF2-40B4-BE49-F238E27FC236}">
                <a16:creationId xmlns:a16="http://schemas.microsoft.com/office/drawing/2014/main" id="{66DDC045-A7D6-7D4D-2A35-974963C0FF29}"/>
              </a:ext>
            </a:extLst>
          </p:cNvPr>
          <p:cNvSpPr txBox="1"/>
          <p:nvPr/>
        </p:nvSpPr>
        <p:spPr>
          <a:xfrm>
            <a:off x="9017000" y="1955800"/>
            <a:ext cx="1905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数据规模</a:t>
            </a:r>
          </a:p>
        </p:txBody>
      </p:sp>
      <p:sp>
        <p:nvSpPr>
          <p:cNvPr id="94" name="R15 S5 Metric Num">
            <a:extLst>
              <a:ext uri="{FF2B5EF4-FFF2-40B4-BE49-F238E27FC236}">
                <a16:creationId xmlns:a16="http://schemas.microsoft.com/office/drawing/2014/main" id="{7344A118-61EB-64D0-DF82-11595724F843}"/>
              </a:ext>
            </a:extLst>
          </p:cNvPr>
          <p:cNvSpPr txBox="1"/>
          <p:nvPr/>
        </p:nvSpPr>
        <p:spPr>
          <a:xfrm>
            <a:off x="9017000" y="23622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5" name="R15 S5 Metric Rule">
            <a:extLst>
              <a:ext uri="{FF2B5EF4-FFF2-40B4-BE49-F238E27FC236}">
                <a16:creationId xmlns:a16="http://schemas.microsoft.com/office/drawing/2014/main" id="{691234D3-D5BE-E33D-5A3C-BE0AAB98CAF4}"/>
              </a:ext>
            </a:extLst>
          </p:cNvPr>
          <p:cNvCxnSpPr/>
          <p:nvPr/>
        </p:nvCxnSpPr>
        <p:spPr>
          <a:xfrm>
            <a:off x="9017000" y="27432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15 S5 Metric Label">
            <a:extLst>
              <a:ext uri="{FF2B5EF4-FFF2-40B4-BE49-F238E27FC236}">
                <a16:creationId xmlns:a16="http://schemas.microsoft.com/office/drawing/2014/main" id="{5D41D327-BE6E-2096-C428-0F12D0976B9C}"/>
              </a:ext>
            </a:extLst>
          </p:cNvPr>
          <p:cNvSpPr txBox="1"/>
          <p:nvPr/>
        </p:nvSpPr>
        <p:spPr>
          <a:xfrm>
            <a:off x="9017000" y="28448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标准化典籍语料</a:t>
            </a:r>
          </a:p>
        </p:txBody>
      </p:sp>
      <p:sp>
        <p:nvSpPr>
          <p:cNvPr id="97" name="R15 S5 Metric Num">
            <a:extLst>
              <a:ext uri="{FF2B5EF4-FFF2-40B4-BE49-F238E27FC236}">
                <a16:creationId xmlns:a16="http://schemas.microsoft.com/office/drawing/2014/main" id="{91B52758-2DC0-E28A-003E-C25F500EF154}"/>
              </a:ext>
            </a:extLst>
          </p:cNvPr>
          <p:cNvSpPr txBox="1"/>
          <p:nvPr/>
        </p:nvSpPr>
        <p:spPr>
          <a:xfrm>
            <a:off x="9017000" y="32258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8" name="R15 S5 Metric Rule">
            <a:extLst>
              <a:ext uri="{FF2B5EF4-FFF2-40B4-BE49-F238E27FC236}">
                <a16:creationId xmlns:a16="http://schemas.microsoft.com/office/drawing/2014/main" id="{FB7B3989-A01D-D15D-FE4B-C9C77F998BB5}"/>
              </a:ext>
            </a:extLst>
          </p:cNvPr>
          <p:cNvCxnSpPr/>
          <p:nvPr/>
        </p:nvCxnSpPr>
        <p:spPr>
          <a:xfrm>
            <a:off x="9017000" y="36068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15 S5 Metric Label">
            <a:extLst>
              <a:ext uri="{FF2B5EF4-FFF2-40B4-BE49-F238E27FC236}">
                <a16:creationId xmlns:a16="http://schemas.microsoft.com/office/drawing/2014/main" id="{B5D38B1B-893F-D0F1-B8E0-AC67B11B655D}"/>
              </a:ext>
            </a:extLst>
          </p:cNvPr>
          <p:cNvSpPr txBox="1"/>
          <p:nvPr/>
        </p:nvSpPr>
        <p:spPr>
          <a:xfrm>
            <a:off x="9017000" y="37084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 </a:t>
            </a:r>
            <a:r>
              <a:rPr lang="en-US" altLang="zh-CN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endParaRPr lang="zh-CN" altLang="en-US" sz="114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0" name="R15 S5 Metric Num">
            <a:extLst>
              <a:ext uri="{FF2B5EF4-FFF2-40B4-BE49-F238E27FC236}">
                <a16:creationId xmlns:a16="http://schemas.microsoft.com/office/drawing/2014/main" id="{3E434595-23FE-E870-914D-23D86FA16FB1}"/>
              </a:ext>
            </a:extLst>
          </p:cNvPr>
          <p:cNvSpPr txBox="1"/>
          <p:nvPr/>
        </p:nvSpPr>
        <p:spPr>
          <a:xfrm>
            <a:off x="9017000" y="40894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16,391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1" name="R15 S5 Metric Rule">
            <a:extLst>
              <a:ext uri="{FF2B5EF4-FFF2-40B4-BE49-F238E27FC236}">
                <a16:creationId xmlns:a16="http://schemas.microsoft.com/office/drawing/2014/main" id="{E1E9E7B1-E36A-0064-27B6-55235675502C}"/>
              </a:ext>
            </a:extLst>
          </p:cNvPr>
          <p:cNvCxnSpPr/>
          <p:nvPr/>
        </p:nvCxnSpPr>
        <p:spPr>
          <a:xfrm>
            <a:off x="9017000" y="44704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15 S5 Metric Label">
            <a:extLst>
              <a:ext uri="{FF2B5EF4-FFF2-40B4-BE49-F238E27FC236}">
                <a16:creationId xmlns:a16="http://schemas.microsoft.com/office/drawing/2014/main" id="{0B3AE6D6-1F4C-F2AA-741E-601E26220F9F}"/>
              </a:ext>
            </a:extLst>
          </p:cNvPr>
          <p:cNvSpPr txBox="1"/>
          <p:nvPr/>
        </p:nvSpPr>
        <p:spPr>
          <a:xfrm>
            <a:off x="9017000" y="45720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平台评论</a:t>
            </a:r>
          </a:p>
        </p:txBody>
      </p:sp>
      <p:sp>
        <p:nvSpPr>
          <p:cNvPr id="103" name="R15 S5 Metric Num">
            <a:extLst>
              <a:ext uri="{FF2B5EF4-FFF2-40B4-BE49-F238E27FC236}">
                <a16:creationId xmlns:a16="http://schemas.microsoft.com/office/drawing/2014/main" id="{0471C50C-473C-010F-F4D9-DA75F88A5C4F}"/>
              </a:ext>
            </a:extLst>
          </p:cNvPr>
          <p:cNvSpPr txBox="1"/>
          <p:nvPr/>
        </p:nvSpPr>
        <p:spPr>
          <a:xfrm>
            <a:off x="9017000" y="49530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 / 165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4" name="R15 S5 Metric Rule">
            <a:extLst>
              <a:ext uri="{FF2B5EF4-FFF2-40B4-BE49-F238E27FC236}">
                <a16:creationId xmlns:a16="http://schemas.microsoft.com/office/drawing/2014/main" id="{28777764-96C8-FFCB-1E47-062AD586B201}"/>
              </a:ext>
            </a:extLst>
          </p:cNvPr>
          <p:cNvCxnSpPr/>
          <p:nvPr/>
        </p:nvCxnSpPr>
        <p:spPr>
          <a:xfrm>
            <a:off x="9017000" y="53340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15 S5 Metric Label">
            <a:extLst>
              <a:ext uri="{FF2B5EF4-FFF2-40B4-BE49-F238E27FC236}">
                <a16:creationId xmlns:a16="http://schemas.microsoft.com/office/drawing/2014/main" id="{7F66B908-0410-CB51-D07E-7D6C53A7A29C}"/>
              </a:ext>
            </a:extLst>
          </p:cNvPr>
          <p:cNvSpPr txBox="1"/>
          <p:nvPr/>
        </p:nvSpPr>
        <p:spPr>
          <a:xfrm>
            <a:off x="9017000" y="54356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非遗项目 </a:t>
            </a:r>
            <a:r>
              <a:rPr lang="en-US" altLang="zh-CN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核心载体</a:t>
            </a:r>
          </a:p>
        </p:txBody>
      </p: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自定义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2026-06-03T05:48:47Z</dcterms:created>
  <dcterms:modified xsi:type="dcterms:W3CDTF">2026-06-03T05:48:47Z</dcterms:modified>
</cp:coreProperties>
</file>