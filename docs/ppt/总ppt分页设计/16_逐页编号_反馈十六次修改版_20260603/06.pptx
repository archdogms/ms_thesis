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CA01C-81D7-4EA5-BE9C-CC3394D7AF5F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9673F-B71E-4347-A30F-AA7D205E1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273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2129A6-F64D-7739-6078-3BAA1B150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CE1A7C-4F89-C871-9D4A-AE28C217C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3921AB-0287-08CF-3080-DC55C5A76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090-D5A1-413D-B117-D5D530CBE12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9A139A-CDF6-FBFA-69DD-9D593F33B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13E254-2A2E-6837-3169-1AAC3463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8855C-9900-4B39-B2C3-5BE96A448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658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04B4E-0641-6E7C-7458-40349660D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0648F6-9A6F-4BD0-C8E4-E370C173D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84EA90-7381-7746-EA5C-9594C31E4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090-D5A1-413D-B117-D5D530CBE12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50E8C9-B0C3-1AD2-D030-1A13AB72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240A92-477F-A879-7C05-D29B1CB92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8855C-9900-4B39-B2C3-5BE96A448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739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F79B1-4BE2-D71C-944F-5D6F1E70B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A447B9-C996-FB6B-776D-6D4BB2513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BD4D1F-6A6B-7520-2857-170ADFB19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090-D5A1-413D-B117-D5D530CBE12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D80FE1-AB8E-2399-9421-613586279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1148C6-A529-8A0E-3365-5AEDEC4DA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8855C-9900-4B39-B2C3-5BE96A448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682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8A1F5-1104-165B-D231-E7160D52A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B69BB0-7356-B785-2F3F-1D3D29FCFC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65F017-2342-8054-379F-A4B0E489D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BDDAFE-95B7-C776-89E2-2A4FD032A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090-D5A1-413D-B117-D5D530CBE12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F785E3-409B-C3F1-6300-01A49E8B6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3D90FA-8527-9C13-5E74-24747AE0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8855C-9900-4B39-B2C3-5BE96A448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193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E23557-0057-0F4F-2F54-FC1DF9275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FAA690-D8AD-909B-7DC3-37EDFC8BF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B6E43F-7857-FFB6-3953-9574FB1FB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C5627CE-FF26-9D59-9C80-22AE2AC0A3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C3A07D-996C-309A-B918-B32A039AE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0306E89-BEE6-5579-1C24-0970E4586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090-D5A1-413D-B117-D5D530CBE12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BE1F08-C44A-8757-956D-3600348C2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FA1DA1-1525-2A02-6583-D7035036A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8855C-9900-4B39-B2C3-5BE96A448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235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EE449-B9FC-F066-8EB1-47F8505B6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0B7F401-46A0-FA4A-7E60-1323F3F4F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090-D5A1-413D-B117-D5D530CBE12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455F62-6A32-3CB6-3CB5-13049437C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C48068-F6F4-750B-78B3-5E913823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8855C-9900-4B39-B2C3-5BE96A448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851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F1A702-E6FA-1A51-2BDF-3EE2E9D3B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090-D5A1-413D-B117-D5D530CBE12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B0C45E6-7706-8DAE-88F3-E5D04104A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59B6E4-153D-E832-5BFF-0434C1692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8855C-9900-4B39-B2C3-5BE96A448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527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447F1C-0832-0B3E-AE57-2B72BE6B8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C9A263-0289-1F9C-C3B6-311643FA0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757D32-2EA4-FB72-5BB4-7C0AE53EA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173EE9-EACB-1B21-E34B-DD8F59C8C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090-D5A1-413D-B117-D5D530CBE12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65C3BE-30CE-3DAC-DC71-0C0C82EFD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BA85FD-7F1F-1F69-2911-B188EE68A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8855C-9900-4B39-B2C3-5BE96A448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97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099D8-40AE-45BC-C4F5-48686DD61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69C36DA-EE8E-22C5-C7CC-6C33A10D3C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C9409A-0DAC-3AD2-7F9D-FC74305B9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751130-63D1-9BDE-3428-F9FA47003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090-D5A1-413D-B117-D5D530CBE12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2379D3-0C86-21D9-968F-05D3D540B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DEA9FA-688B-1F50-1256-34D03EF23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8855C-9900-4B39-B2C3-5BE96A448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425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970541-58B4-576E-0EE6-4258DABA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A48B95-B1E6-0020-E2B6-7567B9D6F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896573-379C-CA97-405F-0077BDA04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090-D5A1-413D-B117-D5D530CBE12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00A3D9-8BC6-8611-B21B-3032DF0BE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447263-8302-581E-446E-E2D1EC1E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8855C-9900-4B39-B2C3-5BE96A448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943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F5FF4E-D5AB-9BE3-53C2-ACA0FE0593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6D76BC-E844-33BE-8AA8-1A61E1064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D43319-1EE8-D316-5E35-61C89BFC5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2F090-D5A1-413D-B117-D5D530CBE12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872922-84B2-0170-342C-79A1C755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876562-945E-6969-3D41-E98E40B9C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8855C-9900-4B39-B2C3-5BE96A448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246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94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F42DF9-3C14-DAD4-76E1-712A63E9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06909D-6CD6-73B8-8F9C-FB05C7F23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C698FC-EA82-D42F-BFE1-B15BB72D0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2F090-D5A1-413D-B117-D5D530CBE12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21A965-CC4A-491F-F905-F683DD499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837A11-DB88-A8FA-DBB2-EDAC0896B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8855C-9900-4B39-B2C3-5BE96A448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686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file:///C:\Users\ms\Desktop\thesis\ms_thesis\output\figures\&#35770;&#25991;&#23450;&#31295;&#21487;&#29992;&#22270;&#32440;_20260602\&#22270;5-3_OAI&#20998;&#20540;&#20998;&#24067;.png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file:///C:\Users\ms\Desktop\thesis\ms_thesis\output\figures\&#35770;&#25991;&#23450;&#31295;&#21487;&#29992;&#22270;&#32440;_20260602\&#22270;5-5_MI&#20998;&#24067;.p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file:///C:\Users\ms\Desktop\thesis\ms_thesis\output\figures\&#35770;&#25991;&#23450;&#31295;&#21487;&#29992;&#22270;&#32440;_20260602\&#22270;5-2_CMI_Top15_&#39057;&#27425;&#21402;&#24230;&#19982;&#20013;&#24515;&#24230;.png" TargetMode="Externa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image" Target="file:///C:\Users\ms\Desktop\thesis\ms_thesis\output\figures\&#35770;&#25991;&#23450;&#31295;&#21487;&#29992;&#22270;&#32440;_20260602\&#22270;5-4_THI_Top15.png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06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767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767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5.3 </a:t>
            </a:r>
            <a:r>
              <a:rPr lang="zh-CN" altLang="en-US" sz="850">
                <a:solidFill>
                  <a:srgbClr val="767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767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5.2—</a:t>
            </a:r>
            <a:r>
              <a:rPr lang="zh-CN" altLang="en-US" sz="850">
                <a:solidFill>
                  <a:srgbClr val="767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图 </a:t>
            </a:r>
            <a:r>
              <a:rPr lang="en-US" altLang="zh-CN" sz="850">
                <a:solidFill>
                  <a:srgbClr val="767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5.5</a:t>
            </a:r>
            <a:endParaRPr sz="850">
              <a:solidFill>
                <a:srgbClr val="76718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四类指标进入错位识别</a:t>
            </a:r>
            <a:endParaRPr sz="2400" b="1">
              <a:solidFill>
                <a:srgbClr val="24212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84D6BCE-5109-E5ED-F872-E2866DD336C5}"/>
              </a:ext>
            </a:extLst>
          </p:cNvPr>
          <p:cNvSpPr txBox="1"/>
          <p:nvPr/>
        </p:nvSpPr>
        <p:spPr>
          <a:xfrm>
            <a:off x="571500" y="177800"/>
            <a:ext cx="6858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| </a:t>
            </a:r>
            <a:r>
              <a:rPr lang="zh-CN" altLang="en-US" sz="160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数据基础与处理方法</a:t>
            </a:r>
          </a:p>
        </p:txBody>
      </p:sp>
      <p:sp>
        <p:nvSpPr>
          <p:cNvPr id="10" name="Slide06 CMI Panel">
            <a:extLst>
              <a:ext uri="{FF2B5EF4-FFF2-40B4-BE49-F238E27FC236}">
                <a16:creationId xmlns:a16="http://schemas.microsoft.com/office/drawing/2014/main" id="{5FFE5C0D-988A-5753-41FE-88AE5B56C837}"/>
              </a:ext>
            </a:extLst>
          </p:cNvPr>
          <p:cNvSpPr/>
          <p:nvPr/>
        </p:nvSpPr>
        <p:spPr>
          <a:xfrm>
            <a:off x="698500" y="1371600"/>
            <a:ext cx="3302000" cy="2235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06 CMI Accent">
            <a:extLst>
              <a:ext uri="{FF2B5EF4-FFF2-40B4-BE49-F238E27FC236}">
                <a16:creationId xmlns:a16="http://schemas.microsoft.com/office/drawing/2014/main" id="{10C62EBD-B9D4-F121-8039-4A0D70FB31E4}"/>
              </a:ext>
            </a:extLst>
          </p:cNvPr>
          <p:cNvSpPr/>
          <p:nvPr/>
        </p:nvSpPr>
        <p:spPr>
          <a:xfrm>
            <a:off x="863600" y="1524000"/>
            <a:ext cx="482600" cy="40640"/>
          </a:xfrm>
          <a:prstGeom prst="rect">
            <a:avLst/>
          </a:prstGeom>
          <a:solidFill>
            <a:srgbClr val="664AA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Slide06 CMI Label">
            <a:extLst>
              <a:ext uri="{FF2B5EF4-FFF2-40B4-BE49-F238E27FC236}">
                <a16:creationId xmlns:a16="http://schemas.microsoft.com/office/drawing/2014/main" id="{D2596C6D-929A-27B7-2ED7-8CE4DF0187C9}"/>
              </a:ext>
            </a:extLst>
          </p:cNvPr>
          <p:cNvSpPr txBox="1"/>
          <p:nvPr/>
        </p:nvSpPr>
        <p:spPr>
          <a:xfrm>
            <a:off x="1435100" y="1473200"/>
            <a:ext cx="2413000" cy="2277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4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 CMI </a:t>
            </a:r>
            <a:r>
              <a:rPr lang="zh-CN" altLang="en-US" sz="14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文化记忆指数</a:t>
            </a:r>
          </a:p>
        </p:txBody>
      </p:sp>
      <p:pic>
        <p:nvPicPr>
          <p:cNvPr id="62" name="Slide06 CMI Figure">
            <a:extLst>
              <a:ext uri="{FF2B5EF4-FFF2-40B4-BE49-F238E27FC236}">
                <a16:creationId xmlns:a16="http://schemas.microsoft.com/office/drawing/2014/main" id="{EBC558AA-B4ED-8FDB-D8DC-C253A28736C4}"/>
              </a:ext>
            </a:extLst>
          </p:cNvPr>
          <p:cNvPicPr>
            <a:picLocks noChangeAspect="1"/>
          </p:cNvPicPr>
          <p:nvPr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0" y="1790700"/>
            <a:ext cx="1689100" cy="1689100"/>
          </a:xfrm>
          <a:prstGeom prst="rect">
            <a:avLst/>
          </a:prstGeom>
        </p:spPr>
      </p:pic>
      <p:sp>
        <p:nvSpPr>
          <p:cNvPr id="63" name="Slide06 OAI Panel">
            <a:extLst>
              <a:ext uri="{FF2B5EF4-FFF2-40B4-BE49-F238E27FC236}">
                <a16:creationId xmlns:a16="http://schemas.microsoft.com/office/drawing/2014/main" id="{1ACD1E92-4C15-FD48-79FD-B2E7F44F04AB}"/>
              </a:ext>
            </a:extLst>
          </p:cNvPr>
          <p:cNvSpPr/>
          <p:nvPr/>
        </p:nvSpPr>
        <p:spPr>
          <a:xfrm>
            <a:off x="4191000" y="1371600"/>
            <a:ext cx="3302000" cy="2235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Slide06 OAI Accent">
            <a:extLst>
              <a:ext uri="{FF2B5EF4-FFF2-40B4-BE49-F238E27FC236}">
                <a16:creationId xmlns:a16="http://schemas.microsoft.com/office/drawing/2014/main" id="{72564910-D4D2-8238-BFE5-392752E26445}"/>
              </a:ext>
            </a:extLst>
          </p:cNvPr>
          <p:cNvSpPr/>
          <p:nvPr/>
        </p:nvSpPr>
        <p:spPr>
          <a:xfrm>
            <a:off x="4356100" y="1524000"/>
            <a:ext cx="482600" cy="40640"/>
          </a:xfrm>
          <a:prstGeom prst="rect">
            <a:avLst/>
          </a:prstGeom>
          <a:solidFill>
            <a:srgbClr val="5088C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Slide06 OAI Label">
            <a:extLst>
              <a:ext uri="{FF2B5EF4-FFF2-40B4-BE49-F238E27FC236}">
                <a16:creationId xmlns:a16="http://schemas.microsoft.com/office/drawing/2014/main" id="{DB623C91-CA7C-1950-BB05-44BA84A5AE95}"/>
              </a:ext>
            </a:extLst>
          </p:cNvPr>
          <p:cNvSpPr txBox="1"/>
          <p:nvPr/>
        </p:nvSpPr>
        <p:spPr>
          <a:xfrm>
            <a:off x="4927600" y="1473200"/>
            <a:ext cx="2413000" cy="2277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4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 OAI </a:t>
            </a:r>
            <a:r>
              <a:rPr lang="zh-CN" altLang="en-US" sz="14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</a:t>
            </a:r>
          </a:p>
        </p:txBody>
      </p:sp>
      <p:pic>
        <p:nvPicPr>
          <p:cNvPr id="67" name="Slide06 OAI Figure">
            <a:extLst>
              <a:ext uri="{FF2B5EF4-FFF2-40B4-BE49-F238E27FC236}">
                <a16:creationId xmlns:a16="http://schemas.microsoft.com/office/drawing/2014/main" id="{32858E11-9FA9-6DB4-4A39-D9B606A052CE}"/>
              </a:ext>
            </a:extLst>
          </p:cNvPr>
          <p:cNvPicPr>
            <a:picLocks noChangeAspect="1"/>
          </p:cNvPicPr>
          <p:nvPr/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450" y="1790700"/>
            <a:ext cx="1689100" cy="1689100"/>
          </a:xfrm>
          <a:prstGeom prst="rect">
            <a:avLst/>
          </a:prstGeom>
        </p:spPr>
      </p:pic>
      <p:sp>
        <p:nvSpPr>
          <p:cNvPr id="68" name="Slide06 THI Panel">
            <a:extLst>
              <a:ext uri="{FF2B5EF4-FFF2-40B4-BE49-F238E27FC236}">
                <a16:creationId xmlns:a16="http://schemas.microsoft.com/office/drawing/2014/main" id="{3E605131-6BE1-ABA8-88DE-9982B2E5F7E5}"/>
              </a:ext>
            </a:extLst>
          </p:cNvPr>
          <p:cNvSpPr/>
          <p:nvPr/>
        </p:nvSpPr>
        <p:spPr>
          <a:xfrm>
            <a:off x="698500" y="3835400"/>
            <a:ext cx="3302000" cy="2235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Slide06 THI Accent">
            <a:extLst>
              <a:ext uri="{FF2B5EF4-FFF2-40B4-BE49-F238E27FC236}">
                <a16:creationId xmlns:a16="http://schemas.microsoft.com/office/drawing/2014/main" id="{AB719F53-CBA8-D9A8-14EA-0B9A53983E57}"/>
              </a:ext>
            </a:extLst>
          </p:cNvPr>
          <p:cNvSpPr/>
          <p:nvPr/>
        </p:nvSpPr>
        <p:spPr>
          <a:xfrm>
            <a:off x="863600" y="3987800"/>
            <a:ext cx="482600" cy="40640"/>
          </a:xfrm>
          <a:prstGeom prst="rect">
            <a:avLst/>
          </a:prstGeom>
          <a:solidFill>
            <a:srgbClr val="439B91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Slide06 THI Label">
            <a:extLst>
              <a:ext uri="{FF2B5EF4-FFF2-40B4-BE49-F238E27FC236}">
                <a16:creationId xmlns:a16="http://schemas.microsoft.com/office/drawing/2014/main" id="{2FC07ADB-D9A7-9148-9CA0-0877377D03C3}"/>
              </a:ext>
            </a:extLst>
          </p:cNvPr>
          <p:cNvSpPr txBox="1"/>
          <p:nvPr/>
        </p:nvSpPr>
        <p:spPr>
          <a:xfrm>
            <a:off x="1435100" y="3937000"/>
            <a:ext cx="2413000" cy="2277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4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 THI </a:t>
            </a:r>
            <a:r>
              <a:rPr lang="zh-CN" altLang="en-US" sz="14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</a:t>
            </a:r>
          </a:p>
        </p:txBody>
      </p:sp>
      <p:pic>
        <p:nvPicPr>
          <p:cNvPr id="72" name="Slide06 THI Figure">
            <a:extLst>
              <a:ext uri="{FF2B5EF4-FFF2-40B4-BE49-F238E27FC236}">
                <a16:creationId xmlns:a16="http://schemas.microsoft.com/office/drawing/2014/main" id="{841BFB5E-9C90-5733-5518-3912A5925505}"/>
              </a:ext>
            </a:extLst>
          </p:cNvPr>
          <p:cNvPicPr>
            <a:picLocks noChangeAspect="1"/>
          </p:cNvPicPr>
          <p:nvPr/>
        </p:nvPicPr>
        <p:blipFill>
          <a:blip r:embed="rId9" r:link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0" y="4254500"/>
            <a:ext cx="1689100" cy="1689100"/>
          </a:xfrm>
          <a:prstGeom prst="rect">
            <a:avLst/>
          </a:prstGeom>
        </p:spPr>
      </p:pic>
      <p:sp>
        <p:nvSpPr>
          <p:cNvPr id="73" name="Slide06 MI Panel">
            <a:extLst>
              <a:ext uri="{FF2B5EF4-FFF2-40B4-BE49-F238E27FC236}">
                <a16:creationId xmlns:a16="http://schemas.microsoft.com/office/drawing/2014/main" id="{3685D939-151C-4AC9-3253-28FD844C1F8D}"/>
              </a:ext>
            </a:extLst>
          </p:cNvPr>
          <p:cNvSpPr/>
          <p:nvPr/>
        </p:nvSpPr>
        <p:spPr>
          <a:xfrm>
            <a:off x="4191000" y="3835400"/>
            <a:ext cx="3302000" cy="2235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Slide06 MI Accent">
            <a:extLst>
              <a:ext uri="{FF2B5EF4-FFF2-40B4-BE49-F238E27FC236}">
                <a16:creationId xmlns:a16="http://schemas.microsoft.com/office/drawing/2014/main" id="{0898156C-E184-7788-CCEA-295CEDD728A5}"/>
              </a:ext>
            </a:extLst>
          </p:cNvPr>
          <p:cNvSpPr/>
          <p:nvPr/>
        </p:nvSpPr>
        <p:spPr>
          <a:xfrm>
            <a:off x="4356100" y="3987800"/>
            <a:ext cx="482600" cy="40640"/>
          </a:xfrm>
          <a:prstGeom prst="rect">
            <a:avLst/>
          </a:prstGeom>
          <a:solidFill>
            <a:srgbClr val="CF596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Slide06 MI Label">
            <a:extLst>
              <a:ext uri="{FF2B5EF4-FFF2-40B4-BE49-F238E27FC236}">
                <a16:creationId xmlns:a16="http://schemas.microsoft.com/office/drawing/2014/main" id="{85B719E4-20FA-7E3D-7654-8271146B1D17}"/>
              </a:ext>
            </a:extLst>
          </p:cNvPr>
          <p:cNvSpPr txBox="1"/>
          <p:nvPr/>
        </p:nvSpPr>
        <p:spPr>
          <a:xfrm>
            <a:off x="4927600" y="3937000"/>
            <a:ext cx="2413000" cy="2277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4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5.5  MI </a:t>
            </a:r>
            <a:r>
              <a:rPr lang="zh-CN" altLang="en-US" sz="148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错位指数分布</a:t>
            </a:r>
          </a:p>
        </p:txBody>
      </p:sp>
      <p:pic>
        <p:nvPicPr>
          <p:cNvPr id="77" name="Slide06 MI Figure">
            <a:extLst>
              <a:ext uri="{FF2B5EF4-FFF2-40B4-BE49-F238E27FC236}">
                <a16:creationId xmlns:a16="http://schemas.microsoft.com/office/drawing/2014/main" id="{CA2A9F63-E105-86D2-C054-7E09439302A6}"/>
              </a:ext>
            </a:extLst>
          </p:cNvPr>
          <p:cNvPicPr>
            <a:picLocks noChangeAspect="1"/>
          </p:cNvPicPr>
          <p:nvPr/>
        </p:nvPicPr>
        <p:blipFill>
          <a:blip r:embed="rId11" r:link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450" y="4254500"/>
            <a:ext cx="1689100" cy="1689100"/>
          </a:xfrm>
          <a:prstGeom prst="rect">
            <a:avLst/>
          </a:prstGeom>
        </p:spPr>
      </p:pic>
      <p:sp>
        <p:nvSpPr>
          <p:cNvPr id="78" name="Slide06 Method Panel">
            <a:extLst>
              <a:ext uri="{FF2B5EF4-FFF2-40B4-BE49-F238E27FC236}">
                <a16:creationId xmlns:a16="http://schemas.microsoft.com/office/drawing/2014/main" id="{745D498B-8432-3902-236F-6CB8F8A35485}"/>
              </a:ext>
            </a:extLst>
          </p:cNvPr>
          <p:cNvSpPr/>
          <p:nvPr/>
        </p:nvSpPr>
        <p:spPr>
          <a:xfrm>
            <a:off x="7874000" y="1371600"/>
            <a:ext cx="3619500" cy="2235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Slide06 Method Accent">
            <a:extLst>
              <a:ext uri="{FF2B5EF4-FFF2-40B4-BE49-F238E27FC236}">
                <a16:creationId xmlns:a16="http://schemas.microsoft.com/office/drawing/2014/main" id="{4C5B6F61-0476-A1A1-747E-C0746CAE0CBB}"/>
              </a:ext>
            </a:extLst>
          </p:cNvPr>
          <p:cNvSpPr/>
          <p:nvPr/>
        </p:nvSpPr>
        <p:spPr>
          <a:xfrm>
            <a:off x="8102600" y="1574800"/>
            <a:ext cx="533400" cy="40640"/>
          </a:xfrm>
          <a:prstGeom prst="rect">
            <a:avLst/>
          </a:prstGeom>
          <a:solidFill>
            <a:srgbClr val="664AA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Slide06 Method Head">
            <a:extLst>
              <a:ext uri="{FF2B5EF4-FFF2-40B4-BE49-F238E27FC236}">
                <a16:creationId xmlns:a16="http://schemas.microsoft.com/office/drawing/2014/main" id="{904588AB-0477-FD68-D490-BE16A1B87711}"/>
              </a:ext>
            </a:extLst>
          </p:cNvPr>
          <p:cNvSpPr txBox="1"/>
          <p:nvPr/>
        </p:nvSpPr>
        <p:spPr>
          <a:xfrm>
            <a:off x="8102600" y="1765300"/>
            <a:ext cx="31496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指标计算口径</a:t>
            </a:r>
          </a:p>
        </p:txBody>
      </p:sp>
      <p:sp>
        <p:nvSpPr>
          <p:cNvPr id="81" name="Slide06 Method Body">
            <a:extLst>
              <a:ext uri="{FF2B5EF4-FFF2-40B4-BE49-F238E27FC236}">
                <a16:creationId xmlns:a16="http://schemas.microsoft.com/office/drawing/2014/main" id="{53AB6B06-6D6B-4760-C633-B15E522A8544}"/>
              </a:ext>
            </a:extLst>
          </p:cNvPr>
          <p:cNvSpPr txBox="1"/>
          <p:nvPr/>
        </p:nvSpPr>
        <p:spPr>
          <a:xfrm>
            <a:off x="8102600" y="2222500"/>
            <a:ext cx="3149600" cy="6740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6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46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：典籍频次 </a:t>
            </a:r>
            <a:r>
              <a:rPr lang="en-US" altLang="zh-CN" sz="146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46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图谱中心性</a:t>
            </a:r>
          </a:p>
          <a:p>
            <a:r>
              <a:rPr lang="en-US" altLang="zh-CN" sz="146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46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：文物、非遗等官方认定</a:t>
            </a:r>
          </a:p>
          <a:p>
            <a:r>
              <a:rPr lang="en-US" altLang="zh-CN" sz="146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46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6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46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、评分与评论热度</a:t>
            </a:r>
          </a:p>
        </p:txBody>
      </p:sp>
      <p:sp>
        <p:nvSpPr>
          <p:cNvPr id="82" name="Slide06 Method Rule">
            <a:extLst>
              <a:ext uri="{FF2B5EF4-FFF2-40B4-BE49-F238E27FC236}">
                <a16:creationId xmlns:a16="http://schemas.microsoft.com/office/drawing/2014/main" id="{92F99C62-5653-E12F-9B6D-087E5305D262}"/>
              </a:ext>
            </a:extLst>
          </p:cNvPr>
          <p:cNvSpPr/>
          <p:nvPr/>
        </p:nvSpPr>
        <p:spPr>
          <a:xfrm>
            <a:off x="8102600" y="3162300"/>
            <a:ext cx="3098800" cy="9525"/>
          </a:xfrm>
          <a:prstGeom prst="rect">
            <a:avLst/>
          </a:prstGeom>
          <a:solidFill>
            <a:srgbClr val="DBD8E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Slide06 Method Note">
            <a:extLst>
              <a:ext uri="{FF2B5EF4-FFF2-40B4-BE49-F238E27FC236}">
                <a16:creationId xmlns:a16="http://schemas.microsoft.com/office/drawing/2014/main" id="{BAC2A1C7-DEAE-72AD-DEB2-816003DA8800}"/>
              </a:ext>
            </a:extLst>
          </p:cNvPr>
          <p:cNvSpPr txBox="1"/>
          <p:nvPr/>
        </p:nvSpPr>
        <p:spPr>
          <a:xfrm>
            <a:off x="8102600" y="3340100"/>
            <a:ext cx="3149600" cy="4431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4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四类指标先统一到 </a:t>
            </a:r>
            <a:r>
              <a:rPr lang="en-US" altLang="zh-CN" sz="144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0—100 </a:t>
            </a:r>
            <a:r>
              <a:rPr lang="zh-CN" altLang="en-US" sz="1440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分值，再进入载体与网格尺度比较。</a:t>
            </a:r>
          </a:p>
        </p:txBody>
      </p:sp>
      <p:sp>
        <p:nvSpPr>
          <p:cNvPr id="84" name="Slide06 Formula Panel">
            <a:extLst>
              <a:ext uri="{FF2B5EF4-FFF2-40B4-BE49-F238E27FC236}">
                <a16:creationId xmlns:a16="http://schemas.microsoft.com/office/drawing/2014/main" id="{8E045FBB-67DB-25C1-17AE-BCAC8FB9D81C}"/>
              </a:ext>
            </a:extLst>
          </p:cNvPr>
          <p:cNvSpPr/>
          <p:nvPr/>
        </p:nvSpPr>
        <p:spPr>
          <a:xfrm>
            <a:off x="7874000" y="3835400"/>
            <a:ext cx="3619500" cy="2235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BD8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Slide06 Formula Accent">
            <a:extLst>
              <a:ext uri="{FF2B5EF4-FFF2-40B4-BE49-F238E27FC236}">
                <a16:creationId xmlns:a16="http://schemas.microsoft.com/office/drawing/2014/main" id="{06A37FA4-9D13-0E4C-2909-1AA3BF44E317}"/>
              </a:ext>
            </a:extLst>
          </p:cNvPr>
          <p:cNvSpPr/>
          <p:nvPr/>
        </p:nvSpPr>
        <p:spPr>
          <a:xfrm>
            <a:off x="8102600" y="4038600"/>
            <a:ext cx="533400" cy="40640"/>
          </a:xfrm>
          <a:prstGeom prst="rect">
            <a:avLst/>
          </a:prstGeom>
          <a:solidFill>
            <a:srgbClr val="CF596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Slide06 Formula Head">
            <a:extLst>
              <a:ext uri="{FF2B5EF4-FFF2-40B4-BE49-F238E27FC236}">
                <a16:creationId xmlns:a16="http://schemas.microsoft.com/office/drawing/2014/main" id="{AFEEB897-53E6-EC20-860E-4461DAC5C593}"/>
              </a:ext>
            </a:extLst>
          </p:cNvPr>
          <p:cNvSpPr txBox="1"/>
          <p:nvPr/>
        </p:nvSpPr>
        <p:spPr>
          <a:xfrm>
            <a:off x="8102600" y="4229100"/>
            <a:ext cx="31496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2421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</a:t>
            </a:r>
          </a:p>
        </p:txBody>
      </p:sp>
      <p:sp>
        <p:nvSpPr>
          <p:cNvPr id="87" name="Slide06 Formula">
            <a:extLst>
              <a:ext uri="{FF2B5EF4-FFF2-40B4-BE49-F238E27FC236}">
                <a16:creationId xmlns:a16="http://schemas.microsoft.com/office/drawing/2014/main" id="{C05FA906-979B-CA8E-EAF7-E1A5DF7A1F42}"/>
              </a:ext>
            </a:extLst>
          </p:cNvPr>
          <p:cNvSpPr txBox="1"/>
          <p:nvPr/>
        </p:nvSpPr>
        <p:spPr>
          <a:xfrm>
            <a:off x="8102600" y="4673600"/>
            <a:ext cx="3149600" cy="2646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20" b="1">
                <a:solidFill>
                  <a:srgbClr val="664A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= THI - 0.5CMI - 0.5OAI</a:t>
            </a:r>
            <a:endParaRPr lang="zh-CN" altLang="en-US" sz="1720" b="1">
              <a:solidFill>
                <a:srgbClr val="664A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Slide06 Formula Note">
            <a:extLst>
              <a:ext uri="{FF2B5EF4-FFF2-40B4-BE49-F238E27FC236}">
                <a16:creationId xmlns:a16="http://schemas.microsoft.com/office/drawing/2014/main" id="{00A9A7D9-F175-5FFE-F69C-4667C302B097}"/>
              </a:ext>
            </a:extLst>
          </p:cNvPr>
          <p:cNvSpPr txBox="1"/>
          <p:nvPr/>
        </p:nvSpPr>
        <p:spPr>
          <a:xfrm>
            <a:off x="8102600" y="5207000"/>
            <a:ext cx="3149600" cy="4431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4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</a:t>
            </a:r>
            <a:r>
              <a:rPr lang="zh-CN" altLang="en-US" sz="1440">
                <a:solidFill>
                  <a:srgbClr val="534F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用来判断旅游热度相对文化基础的偏离程度，而不是单独评价景点好坏。</a:t>
            </a:r>
          </a:p>
        </p:txBody>
      </p: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Microsoft Office PowerPoint</Application>
  <PresentationFormat>自定义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2026-06-03T05:48:47Z</dcterms:created>
  <dcterms:modified xsi:type="dcterms:W3CDTF">2026-06-03T05:48:47Z</dcterms:modified>
</cp:coreProperties>
</file>