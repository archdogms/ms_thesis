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5CD7B-4C5F-4555-BCB8-754D66E08B6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22B90-7C81-4E43-8B0B-C98463B194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274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DA885-DF2C-1B50-73AC-7EAEE62A8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855B5D-9AA6-E599-6B8C-3E7F8CC5B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5BFE5F-5C03-4A5F-D815-836317D8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8F58B0-1199-1F88-DB74-44524160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0AA88-A900-FD1D-F216-E96E5254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46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3EF96A-AF45-C312-A11B-D61C06A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A21309-EA4C-0EDD-4346-A51BF2CA7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C8952F-C7B1-6C48-FE67-9473624E4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FB9CF8-967A-96AC-75AA-395C094A4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65724B-35EB-D5B8-5DEE-96EEB4EA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576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9368F-1F18-A45E-B91F-559D3AE2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3E3DE7-7F05-4344-D19D-7C36C153B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229458-925C-0578-D5F8-66ECC412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DB00D5-8390-7D22-A694-20BAA2587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D5928-8C33-2868-CFFD-DCDB67B9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20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E436D-68C3-31B3-11CF-75C271E8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DEE2A8-5A27-FE18-A99B-5EE304D0C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447730-8D3B-C0D6-5DB9-99BEB9D30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DF5242-0B4C-5B51-53E3-94F0AC0E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17ECD4-DE9A-37BF-0B0F-657B7CAF6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E7636A-3876-D746-0478-016E3D0F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34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9C9E27-1E5E-5005-FF63-1288E67C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A2B136-596E-008B-5195-7BA4B54BA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89EDF6-2737-ECB3-86A8-3C21B0615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359D5B-4595-D27B-EFD0-BE272E965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A6F488-3CF4-7302-38CE-70A96A208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66B4FE-A75C-ED18-E95F-4AB26F666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91B767D-ED20-D1E6-9B66-058BB8681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EB2AEB-A5FD-075D-E389-6D870B16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422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567B5-52FA-3F39-FED4-7BB3AA858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C70DBE-1E71-FA81-B46E-2E259CEE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EE76B2-C896-300A-C291-591EA1C61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C19025E-29F4-FA83-A61F-791D80D1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977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78D3FC-C84E-7BE3-42F2-04DE8168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7A5E89-D6B1-3D8D-BFDE-7F9C9A33B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D93AFA-4B5E-A270-A9A7-528C2BD3D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49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C3D83-9F5A-9553-8C88-12C73AEF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E98780-C17C-265B-34BE-C0AACE168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CDB124-A3E7-095B-D7A0-DF2735325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2514D7-AD11-F5C5-6AB1-A83E8FCFF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02E9CA-7861-6048-65AC-9B1AB4AA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45FD70-8B7C-0363-CB6A-062FF98B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85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30ECC-505C-E857-2F95-3229D725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80AD4A1-52C0-D7DB-5D20-C17A07FB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F265C8-BEA9-86C2-A20C-C97AA0396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DA9124-2801-BC7B-4642-11174BA88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F73FA5-8D57-5BB3-C873-714027DF2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FF73AC-A422-2C49-0C58-38E79FAA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48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51DCC-3225-F4EA-36FA-92DB1DEE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DF666F-AB49-77FF-17A3-5B6E350D1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A9960-D627-FACA-1E72-B317647A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449B36-A42B-66D1-4F83-9696CA903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6E3E1-CC66-DD59-D365-BEE21F79B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12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4FE59B-2C77-6A5E-249B-070F2949A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B6548B-936C-D51F-421B-3C1396E59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731BF7-5EC9-3CD7-10E6-DA50915A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EF96B5-1605-DF87-8E80-5BEA226C1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A4B35-0B88-AD20-98F8-BA4F6F4B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97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33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41E5D7-004D-4357-0A27-BE8EFCFAC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8D9799-6C85-7605-3F33-7E5B98A70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EBFA13-5752-899A-2C19-EA1D6C6FD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E3637-B4E3-4045-AEAE-F85E5FF5858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898AF-CEFF-4E3A-8684-C49AA600E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5A538D-FFD3-2BB4-6131-E406ED13D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BC4B5-FE0C-4F3F-B99F-ABDEC51AFE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94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79864-D31A-4C35-B446-898E1C55EC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EE0C-E849-4D2F-B790-26CDBCEA8D9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B4034F-C31A-46DE-9A18-9D8E01291E4C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389F96B-9DEA-4146-8244-BC9C0D3C148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中期原始背景与终版论文第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C9A084-416A-4954-B45A-88B9DE9BAFA7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F3D1EB-429F-40A0-A170-1F8D2390426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从双谱系到错位诊断</a:t>
            </a:r>
            <a:endParaRPr sz="245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A7E5E03-442C-4743-9A9C-8DACBFA139C8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4C4612F-B566-4082-9C0C-AB150F28FE3F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DCD683-B72F-4E34-8E38-086624DF0D24}"/>
              </a:ext>
            </a:extLst>
          </p:cNvPr>
          <p:cNvSpPr>
            <a:spLocks noGrp="1"/>
          </p:cNvSpPr>
          <p:nvPr/>
        </p:nvSpPr>
        <p:spPr>
          <a:xfrm>
            <a:off x="1133475" y="1980090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政策导向</a:t>
            </a:r>
            <a:endParaRPr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9DEB9F-DC90-4C09-8097-38AA11B22FC0}"/>
              </a:ext>
            </a:extLst>
          </p:cNvPr>
          <p:cNvSpPr>
            <a:spLocks noGrp="1"/>
          </p:cNvSpPr>
          <p:nvPr/>
        </p:nvSpPr>
        <p:spPr>
          <a:xfrm>
            <a:off x="110490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文旅融合成为区域高质量发展的重要方向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9BBF1EC-14CE-44F0-BAFF-60592C774A66}"/>
              </a:ext>
            </a:extLst>
          </p:cNvPr>
          <p:cNvSpPr>
            <a:spLocks noGrp="1"/>
          </p:cNvSpPr>
          <p:nvPr/>
        </p:nvSpPr>
        <p:spPr>
          <a:xfrm>
            <a:off x="1104900" y="3388519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文化资源需要从名录与文本，转化为可到达、可参与、可体验的旅游产品。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C30408F-F964-48D2-BF21-D87B2EA848BA}"/>
              </a:ext>
            </a:extLst>
          </p:cNvPr>
          <p:cNvSpPr>
            <a:spLocks noGrp="1"/>
          </p:cNvSpPr>
          <p:nvPr/>
        </p:nvSpPr>
        <p:spPr>
          <a:xfrm>
            <a:off x="110490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01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491ADA-533C-4153-A35A-04890D255980}"/>
              </a:ext>
            </a:extLst>
          </p:cNvPr>
          <p:cNvSpPr>
            <a:spLocks noGrp="1"/>
          </p:cNvSpPr>
          <p:nvPr/>
        </p:nvSpPr>
        <p:spPr>
          <a:xfrm>
            <a:off x="110490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7F2399-7D0E-4722-ACB8-C02C5C368A07}"/>
              </a:ext>
            </a:extLst>
          </p:cNvPr>
          <p:cNvSpPr>
            <a:spLocks noGrp="1"/>
          </p:cNvSpPr>
          <p:nvPr/>
        </p:nvSpPr>
        <p:spPr>
          <a:xfrm>
            <a:off x="110490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4CEFC1-EC67-4944-A6C2-1378707F0B15}"/>
              </a:ext>
            </a:extLst>
          </p:cNvPr>
          <p:cNvSpPr>
            <a:spLocks noGrp="1"/>
          </p:cNvSpPr>
          <p:nvPr/>
        </p:nvSpPr>
        <p:spPr>
          <a:xfrm>
            <a:off x="4333875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E25CEE-2288-410C-9879-111F7C1A7A18}"/>
              </a:ext>
            </a:extLst>
          </p:cNvPr>
          <p:cNvSpPr>
            <a:spLocks noGrp="1"/>
          </p:cNvSpPr>
          <p:nvPr/>
        </p:nvSpPr>
        <p:spPr>
          <a:xfrm>
            <a:off x="4562475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南海文化资源丰富，但与旅游体验整合不足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543F559-F23E-4214-997F-7407C71EF586}"/>
              </a:ext>
            </a:extLst>
          </p:cNvPr>
          <p:cNvSpPr>
            <a:spLocks noGrp="1"/>
          </p:cNvSpPr>
          <p:nvPr/>
        </p:nvSpPr>
        <p:spPr>
          <a:xfrm>
            <a:off x="4562475" y="3371850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南海拥有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项非遗、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80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处文物和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个名村，但文化体验的系统性仍需提升。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447F1E3-1CC0-43CC-B815-BB7CDBEFF1B6}"/>
              </a:ext>
            </a:extLst>
          </p:cNvPr>
          <p:cNvSpPr>
            <a:spLocks noGrp="1"/>
          </p:cNvSpPr>
          <p:nvPr/>
        </p:nvSpPr>
        <p:spPr>
          <a:xfrm>
            <a:off x="4562475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E0DEA8-318E-4286-836D-4445CE7D5115}"/>
              </a:ext>
            </a:extLst>
          </p:cNvPr>
          <p:cNvSpPr>
            <a:spLocks noGrp="1"/>
          </p:cNvSpPr>
          <p:nvPr/>
        </p:nvSpPr>
        <p:spPr>
          <a:xfrm>
            <a:off x="4562475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E4BF31-37E8-4C50-B03C-2C7E5EAEC627}"/>
              </a:ext>
            </a:extLst>
          </p:cNvPr>
          <p:cNvSpPr>
            <a:spLocks noGrp="1"/>
          </p:cNvSpPr>
          <p:nvPr/>
        </p:nvSpPr>
        <p:spPr>
          <a:xfrm>
            <a:off x="4562475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A3A4B76-352B-4124-930E-9E74909A76E3}"/>
              </a:ext>
            </a:extLst>
          </p:cNvPr>
          <p:cNvSpPr>
            <a:spLocks noGrp="1"/>
          </p:cNvSpPr>
          <p:nvPr/>
        </p:nvSpPr>
        <p:spPr>
          <a:xfrm>
            <a:off x="7791450" y="2266950"/>
            <a:ext cx="2724150" cy="297180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E7BFE2-6EFA-4D8C-95AC-BC0EA8C2E6F5}"/>
              </a:ext>
            </a:extLst>
          </p:cNvPr>
          <p:cNvSpPr>
            <a:spLocks noGrp="1"/>
          </p:cNvSpPr>
          <p:nvPr/>
        </p:nvSpPr>
        <p:spPr>
          <a:xfrm>
            <a:off x="8020050" y="2571750"/>
            <a:ext cx="22669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如何识别文化遗产与旅游产品的对应、错位和缺失？</a:t>
            </a:r>
            <a:endParaRPr sz="1600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E334CF6-6E8C-4CC7-880E-4D435E7287C0}"/>
              </a:ext>
            </a:extLst>
          </p:cNvPr>
          <p:cNvSpPr>
            <a:spLocks noGrp="1"/>
          </p:cNvSpPr>
          <p:nvPr/>
        </p:nvSpPr>
        <p:spPr>
          <a:xfrm>
            <a:off x="8004653" y="3388436"/>
            <a:ext cx="22479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75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中期完成数据与图谱，定稿以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条载体和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500m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网格量化空间错位。</a:t>
            </a:r>
            <a:endParaRPr sz="140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4B6C42-A394-46E6-8DC1-90CF68C5E119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1047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E7E6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5E7E6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</a:t>
            </a:r>
            <a:endParaRPr sz="2025" b="1">
              <a:solidFill>
                <a:srgbClr val="5E7E6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75364E8-F4C4-4878-BC40-8B35BC137131}"/>
              </a:ext>
            </a:extLst>
          </p:cNvPr>
          <p:cNvSpPr>
            <a:spLocks noGrp="1"/>
          </p:cNvSpPr>
          <p:nvPr/>
        </p:nvSpPr>
        <p:spPr>
          <a:xfrm>
            <a:off x="8020050" y="4686300"/>
            <a:ext cx="990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2221924-D000-42D4-9C06-B6D57E855185}"/>
              </a:ext>
            </a:extLst>
          </p:cNvPr>
          <p:cNvSpPr>
            <a:spLocks noGrp="1"/>
          </p:cNvSpPr>
          <p:nvPr/>
        </p:nvSpPr>
        <p:spPr>
          <a:xfrm>
            <a:off x="8020050" y="4762500"/>
            <a:ext cx="104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35" b="0">
                <a:solidFill>
                  <a:srgbClr val="5C536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中期收束</a:t>
            </a:r>
            <a:endParaRPr sz="735" b="0">
              <a:solidFill>
                <a:srgbClr val="5C536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5E6AC05-DC9B-B0EE-2D18-84FE73247A7F}"/>
              </a:ext>
            </a:extLst>
          </p:cNvPr>
          <p:cNvSpPr>
            <a:spLocks noGrp="1"/>
          </p:cNvSpPr>
          <p:nvPr/>
        </p:nvSpPr>
        <p:spPr>
          <a:xfrm>
            <a:off x="4419991" y="187446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C5CD73F-FB24-92FE-2649-56794423D094}"/>
              </a:ext>
            </a:extLst>
          </p:cNvPr>
          <p:cNvSpPr>
            <a:spLocks noGrp="1"/>
          </p:cNvSpPr>
          <p:nvPr/>
        </p:nvSpPr>
        <p:spPr>
          <a:xfrm>
            <a:off x="4524766" y="195908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区域现状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2B65784-1AFC-47A3-366B-6A16C17C1BE5}"/>
              </a:ext>
            </a:extLst>
          </p:cNvPr>
          <p:cNvSpPr>
            <a:spLocks noGrp="1"/>
          </p:cNvSpPr>
          <p:nvPr/>
        </p:nvSpPr>
        <p:spPr>
          <a:xfrm>
            <a:off x="7899878" y="1895308"/>
            <a:ext cx="1047750" cy="381167"/>
          </a:xfrm>
          <a:prstGeom prst="roundRect">
            <a:avLst>
              <a:gd name="adj" fmla="val 30769"/>
            </a:avLst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D33140F-88F4-FB38-E916-DC73BCC1D447}"/>
              </a:ext>
            </a:extLst>
          </p:cNvPr>
          <p:cNvSpPr>
            <a:spLocks noGrp="1"/>
          </p:cNvSpPr>
          <p:nvPr/>
        </p:nvSpPr>
        <p:spPr>
          <a:xfrm>
            <a:off x="8004653" y="1979923"/>
            <a:ext cx="829066" cy="14874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中期问题</a:t>
            </a:r>
            <a:endParaRPr lang="zh-CN" altLang="en-US" sz="16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D23FC-59A6-0397-D52E-A6FEA0B09F33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研究回顾与问题收束</a:t>
            </a:r>
          </a:p>
        </p:txBody>
      </p:sp>
    </p:spTree>
    <p:extLst>
      <p:ext uri="{BB962C8B-B14F-4D97-AF65-F5344CB8AC3E}">
        <p14:creationId xmlns:p14="http://schemas.microsoft.com/office/powerpoint/2010/main" val="111457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自定义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2026-06-03T05:48:46Z</dcterms:created>
  <dcterms:modified xsi:type="dcterms:W3CDTF">2026-06-03T05:48:46Z</dcterms:modified>
</cp:coreProperties>
</file>