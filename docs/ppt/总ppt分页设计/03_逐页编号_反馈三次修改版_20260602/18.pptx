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9F2CD69-0AA9-474E-8D81-C4477A0C7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4AE2FF-A4D1-4713-867B-1197911D5FD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A99F6B-2BD4-443C-8E2E-331D2B0F4561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04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规划转译与结论边界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0F1E86-E9E3-4394-8B28-266E0CD2865E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18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AE67CD8-F365-4434-9BF1-E4F2B17CCEF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7 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9C6C48-7311-4FB4-9788-70E11E58C48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5889FA-8080-41A3-98B0-11EC90C8DA3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贡献与边界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81B1B6-084F-4FD0-A8F0-63BD27EC3E58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核心判断：本研究的贡献是识别优先深化的文旅融合潜力，边界在数据口径、权重设定和语义深度。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讲述时强调：结论不是成熟度评价终点，而是后续现场校准和规划行动的起点。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B2B777-FD99-445A-A10F-3DE6F4755D7D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629150" cy="22098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0E5E75-BF72-42D9-A0D4-A5AB05C33535}"/>
              </a:ext>
            </a:extLst>
          </p:cNvPr>
          <p:cNvSpPr>
            <a:spLocks noGrp="1"/>
          </p:cNvSpPr>
          <p:nvPr/>
        </p:nvSpPr>
        <p:spPr>
          <a:xfrm>
            <a:off x="6724650" y="2286000"/>
            <a:ext cx="4629150" cy="22098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5A83A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80FEBAC-8358-4EA2-81A1-060DF08858CB}"/>
              </a:ext>
            </a:extLst>
          </p:cNvPr>
          <p:cNvSpPr>
            <a:spLocks noGrp="1"/>
          </p:cNvSpPr>
          <p:nvPr/>
        </p:nvSpPr>
        <p:spPr>
          <a:xfrm>
            <a:off x="1238250" y="26860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主要贡献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0BF9B4A-7CE0-4721-B4CD-3F38E1A6381B}"/>
              </a:ext>
            </a:extLst>
          </p:cNvPr>
          <p:cNvSpPr>
            <a:spLocks noGrp="1"/>
          </p:cNvSpPr>
          <p:nvPr/>
        </p:nvSpPr>
        <p:spPr>
          <a:xfrm>
            <a:off x="7143750" y="26860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研究边界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8E7B54-47A6-4B26-A10E-3EA01A39A8B0}"/>
              </a:ext>
            </a:extLst>
          </p:cNvPr>
          <p:cNvSpPr>
            <a:spLocks noGrp="1"/>
          </p:cNvSpPr>
          <p:nvPr/>
        </p:nvSpPr>
        <p:spPr>
          <a:xfrm>
            <a:off x="1257300" y="33242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D59E653-0BA6-4D11-8AA6-ABAD94916635}"/>
              </a:ext>
            </a:extLst>
          </p:cNvPr>
          <p:cNvSpPr>
            <a:spLocks noGrp="1"/>
          </p:cNvSpPr>
          <p:nvPr/>
        </p:nvSpPr>
        <p:spPr>
          <a:xfrm>
            <a:off x="1409700" y="325755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对象下沉到景点级文旅载体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49BF5C-60F2-4619-9470-716D3397146F}"/>
              </a:ext>
            </a:extLst>
          </p:cNvPr>
          <p:cNvSpPr>
            <a:spLocks noGrp="1"/>
          </p:cNvSpPr>
          <p:nvPr/>
        </p:nvSpPr>
        <p:spPr>
          <a:xfrm>
            <a:off x="1257300" y="37242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7A6DA2-7A5F-4186-8E10-204FB0ECE628}"/>
              </a:ext>
            </a:extLst>
          </p:cNvPr>
          <p:cNvSpPr>
            <a:spLocks noGrp="1"/>
          </p:cNvSpPr>
          <p:nvPr/>
        </p:nvSpPr>
        <p:spPr>
          <a:xfrm>
            <a:off x="1409700" y="365760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建立文化—旅游双谱系对照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4AF04B-B021-49CF-B7BE-3615D0852CA1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AE7A728-F4F5-40DD-90B8-E09273A2F6B2}"/>
              </a:ext>
            </a:extLst>
          </p:cNvPr>
          <p:cNvSpPr>
            <a:spLocks noGrp="1"/>
          </p:cNvSpPr>
          <p:nvPr/>
        </p:nvSpPr>
        <p:spPr>
          <a:xfrm>
            <a:off x="1409700" y="405765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把错位结果转译为空间与规划建议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FD7D03-CFF4-4E2D-B4F0-6B2E1F012FE5}"/>
              </a:ext>
            </a:extLst>
          </p:cNvPr>
          <p:cNvSpPr>
            <a:spLocks noGrp="1"/>
          </p:cNvSpPr>
          <p:nvPr/>
        </p:nvSpPr>
        <p:spPr>
          <a:xfrm>
            <a:off x="7162800" y="33242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F87C4FF-0937-4BCC-8CB2-3B6BF86B2A5E}"/>
              </a:ext>
            </a:extLst>
          </p:cNvPr>
          <p:cNvSpPr>
            <a:spLocks noGrp="1"/>
          </p:cNvSpPr>
          <p:nvPr/>
        </p:nvSpPr>
        <p:spPr>
          <a:xfrm>
            <a:off x="7315200" y="325755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餐饮与夜间活力数据仍需补充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F981CD-16F2-4580-B302-1343921B8780}"/>
              </a:ext>
            </a:extLst>
          </p:cNvPr>
          <p:cNvSpPr>
            <a:spLocks noGrp="1"/>
          </p:cNvSpPr>
          <p:nvPr/>
        </p:nvSpPr>
        <p:spPr>
          <a:xfrm>
            <a:off x="7162800" y="372427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5F245E6-823F-4F22-B7A2-8DB208E2538C}"/>
              </a:ext>
            </a:extLst>
          </p:cNvPr>
          <p:cNvSpPr>
            <a:spLocks noGrp="1"/>
          </p:cNvSpPr>
          <p:nvPr/>
        </p:nvSpPr>
        <p:spPr>
          <a:xfrm>
            <a:off x="7315200" y="365760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权重设置具有本科阶段的简化性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DCF792-3596-4056-826E-13953E63B11A}"/>
              </a:ext>
            </a:extLst>
          </p:cNvPr>
          <p:cNvSpPr>
            <a:spLocks noGrp="1"/>
          </p:cNvSpPr>
          <p:nvPr/>
        </p:nvSpPr>
        <p:spPr>
          <a:xfrm>
            <a:off x="7162800" y="41243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1AE4976-D4EE-4422-B72D-C75A2C876B16}"/>
              </a:ext>
            </a:extLst>
          </p:cNvPr>
          <p:cNvSpPr>
            <a:spLocks noGrp="1"/>
          </p:cNvSpPr>
          <p:nvPr/>
        </p:nvSpPr>
        <p:spPr>
          <a:xfrm>
            <a:off x="7315200" y="405765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评论语义仍是补充检验而非全量模型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5D1B32E-1494-461B-9127-6F82094FA85B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6477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文化记忆能否通过空间载体进入游客体验</a:t>
            </a:r>
          </a:p>
        </p:txBody>
      </p:sp>
    </p:spTree>
    <p:extLst>
      <p:ext uri="{BB962C8B-B14F-4D97-AF65-F5344CB8AC3E}">
        <p14:creationId xmlns:p14="http://schemas.microsoft.com/office/powerpoint/2010/main" val="13834482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76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18</cp:revision>
  <dcterms:created xsi:type="dcterms:W3CDTF">2026-06-02T06:15:18Z</dcterms:created>
  <dcterms:modified xsi:type="dcterms:W3CDTF">2026-06-02T13:10:36Z</dcterms:modified>
</cp:coreProperties>
</file>