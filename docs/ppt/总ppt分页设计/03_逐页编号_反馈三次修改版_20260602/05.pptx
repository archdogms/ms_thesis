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60" r:id="rId2"/>
  </p:sldIdLst>
  <p:sldSz cx="12192000" cy="6858000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58"/>
  </p:normalViewPr>
  <p:slideViewPr>
    <p:cSldViewPr snapToGrid="0">
      <p:cViewPr>
        <p:scale>
          <a:sx n="125" d="100"/>
          <a:sy n="125" d="100"/>
        </p:scale>
        <p:origin x="1416" y="7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NativeFlow Canvas Data"/>
          <p:cNvSpPr/>
          <p:nvPr/>
        </p:nvSpPr>
        <p:spPr>
          <a:xfrm>
            <a:off x="895000" y="2080000"/>
            <a:ext cx="6920000" cy="3240000"/>
          </a:xfrm>
          <a:prstGeom prst="rect">
            <a:avLst/>
          </a:prstGeom>
          <a:solidFill>
            <a:srgbClr val="FFFFFF">
              <a:alpha val="92000"/>
            </a:srgbClr>
          </a:solidFill>
          <a:ln w="9525">
            <a:solidFill>
              <a:srgbClr val="6F2184"/>
            </a:solidFill>
          </a:ln>
        </p:spPr>
        <p:txBody>
          <a:bodyPr wrap="square" anchor="ctr">
            <a:spAutoFit/>
          </a:bodyPr>
          <a:lstStyle/>
          <a:p>
            <a:pPr algn="l"/>
            <a:endParaRPr/>
          </a:p>
        </p:txBody>
      </p:sp>
      <p:pic>
        <p:nvPicPr>
          <p:cNvPr id="31" name="图片 30"/>
          <p:cNvPicPr>
            <a:picLocks noChangeAspect="1"/>
          </p:cNvPicPr>
          <p:nvPr/>
        </p:nvPicPr>
        <p:blipFill>
          <a:blip r:embed="rId3"/>
          <a:srcRect t="27" b="27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矩形 1">
            <a:extLst>
              <a:ext uri="{FF2B5EF4-FFF2-40B4-BE49-F238E27FC236}">
                <a16:creationId xmlns:a16="http://schemas.microsoft.com/office/drawing/2014/main" id="{AB2EBEFE-5A4D-4B98-BD67-F6612EA653B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FFFFF">
              <a:alpha val="33333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E252341B-F60E-4F63-A39C-4E58783E1BAC}"/>
              </a:ext>
            </a:extLst>
          </p:cNvPr>
          <p:cNvSpPr>
            <a:spLocks noGrp="1"/>
          </p:cNvSpPr>
          <p:nvPr/>
        </p:nvSpPr>
        <p:spPr>
          <a:xfrm>
            <a:off x="419100" y="400050"/>
            <a:ext cx="66675" cy="552450"/>
          </a:xfrm>
          <a:prstGeom prst="rect">
            <a:avLst/>
          </a:prstGeom>
          <a:solidFill>
            <a:srgbClr val="600070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A9339F3-76BA-4134-A7E1-0896A70C139A}"/>
              </a:ext>
            </a:extLst>
          </p:cNvPr>
          <p:cNvSpPr>
            <a:spLocks noGrp="1"/>
          </p:cNvSpPr>
          <p:nvPr/>
        </p:nvSpPr>
        <p:spPr>
          <a:xfrm>
            <a:off x="571500" y="190500"/>
            <a:ext cx="5461000" cy="279400"/>
          </a:xfrm>
          <a:prstGeom prst="rect">
            <a:avLst/>
          </a:prstGeom>
          <a:noFill/>
          <a:ln w="0">
            <a:noFill/>
            <a:prstDash val="solid"/>
          </a:ln>
          <a:extLst>
            <a:ext uri="{909E8E84-426E-40DD-AFC4-6F175D3DCCD1}">
              <a14:hiddenFill xmlns:a14="http://schemas.microsoft.com/office/drawing/2010/main">
                <a:solidFill>
                  <a:srgbClr val="56166F"/>
                </a:solidFill>
              </a14:hiddenFill>
            </a:ext>
            <a:ext uri="{91240B29-F687-4F45-9708-019B960494DF}">
              <a14:hiddenLine xmlns:a14="http://schemas.microsoft.com/office/drawing/2010/main" w="0">
                <a:solidFill>
                  <a:srgbClr val="000000">
                    <a:alpha val="0"/>
                  </a:srgbClr>
                </a:solidFill>
                <a:prstDash val="solid"/>
              </a14:hiddenLine>
            </a:ext>
          </a:extLst>
        </p:spPr>
        <p:txBody>
          <a:bodyPr lIns="0" tIns="0" rIns="101600" bIns="0" anchor="ctr"/>
          <a:lstStyle/>
          <a:p>
            <a:pPr algn="l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en-US" altLang="zh-CN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02 | </a:t>
            </a:r>
            <a:r>
              <a:rPr lang="zh-CN" altLang="en-US" sz="1600" b="1">
                <a:solidFill>
                  <a:srgbClr val="56166F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数据基础与处理方法</a:t>
            </a:r>
            <a:endParaRPr sz="1600" b="1">
              <a:solidFill>
                <a:srgbClr val="56166F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41F1690E-977F-437D-94A2-F56E1193E7A7}"/>
              </a:ext>
            </a:extLst>
          </p:cNvPr>
          <p:cNvSpPr>
            <a:spLocks noGrp="1"/>
          </p:cNvSpPr>
          <p:nvPr/>
        </p:nvSpPr>
        <p:spPr>
          <a:xfrm>
            <a:off x="11525250" y="6457950"/>
            <a:ext cx="266700" cy="1714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50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rPr>
              <a:t>05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/>
        </p:blipFill>
        <p:spPr>
          <a:xfrm>
            <a:off x="10026361" y="266700"/>
            <a:ext cx="1149927" cy="457200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684F8185-E9A4-4A9F-AD8C-446EFC481F9C}"/>
              </a:ext>
            </a:extLst>
          </p:cNvPr>
          <p:cNvSpPr>
            <a:spLocks noGrp="1"/>
          </p:cNvSpPr>
          <p:nvPr/>
        </p:nvSpPr>
        <p:spPr>
          <a:xfrm>
            <a:off x="514350" y="6496050"/>
            <a:ext cx="72390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第 3.2 节、图 3.1</a:t>
            </a: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0F499985-2C5C-4881-9554-8988023678B8}"/>
              </a:ext>
            </a:extLst>
          </p:cNvPr>
          <p:cNvSpPr>
            <a:spLocks noGrp="1"/>
          </p:cNvSpPr>
          <p:nvPr/>
        </p:nvSpPr>
        <p:spPr>
          <a:xfrm>
            <a:off x="8667750" y="6496050"/>
            <a:ext cx="24765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r">
              <a:def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638" b="0">
                <a:solidFill>
                  <a:srgbClr val="8A7C90"/>
                </a:solidFill>
                <a:latin typeface="Microsoft YaHei UI"/>
                <a:ea typeface="Microsoft YaHei UI"/>
                <a:cs typeface="Microsoft YaHei UI"/>
              </a:rPr>
              <a:t>孟帅 · 本科毕业设计答辩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4BF59903-8F88-4800-BE55-11C3A769988D}"/>
              </a:ext>
            </a:extLst>
          </p:cNvPr>
          <p:cNvSpPr>
            <a:spLocks noGrp="1"/>
          </p:cNvSpPr>
          <p:nvPr/>
        </p:nvSpPr>
        <p:spPr>
          <a:xfrm>
            <a:off x="590550" y="552450"/>
            <a:ext cx="9144000" cy="4318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2025" b="1">
                <a:solidFill>
                  <a:srgbClr val="24222A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22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多源数据进入同一底图</a:t>
            </a:r>
            <a:endParaRPr sz="22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A1719DF1-9297-46F7-8A4F-6A43AC58033B}"/>
              </a:ext>
            </a:extLst>
          </p:cNvPr>
          <p:cNvSpPr>
            <a:spLocks noGrp="1"/>
          </p:cNvSpPr>
          <p:nvPr/>
        </p:nvSpPr>
        <p:spPr>
          <a:xfrm>
            <a:off x="609600" y="1168400"/>
            <a:ext cx="9652000" cy="660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wrap="square" lIns="0" tIns="0" rIns="0" bIns="0" anchor="t"/>
          <a:lstStyle/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核心判断：文化侧与旅游侧只有进入同一空间底图，后续指数才具备可比性。</a:t>
            </a:r>
          </a:p>
          <a:p>
            <a:pPr algn="l">
              <a:defRPr sz="938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讲述时强调：典籍、名录、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POI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和评论先清洗匹配，再通过载体锚点与 </a:t>
            </a:r>
            <a:r>
              <a:rPr lang="en-US" altLang="zh-CN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500 m </a:t>
            </a:r>
            <a:r>
              <a:rPr lang="zh-CN" altLang="en-US" sz="880">
                <a:solidFill>
                  <a:srgbClr val="524E56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网格统一口径。</a:t>
            </a:r>
            <a:endParaRPr sz="880">
              <a:solidFill>
                <a:srgbClr val="524E56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F73557BA-CE0A-4BDE-88EC-7E070EAD6A59}"/>
              </a:ext>
            </a:extLst>
          </p:cNvPr>
          <p:cNvSpPr>
            <a:spLocks noGrp="1"/>
          </p:cNvSpPr>
          <p:nvPr/>
        </p:nvSpPr>
        <p:spPr>
          <a:xfrm>
            <a:off x="781050" y="2152650"/>
            <a:ext cx="7048500" cy="3524250"/>
          </a:xfrm>
          <a:prstGeom prst="rect">
            <a:avLst/>
          </a:prstGeom>
          <a:solidFill>
            <a:srgbClr val="EFE7F3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7EC0263A-DD2E-48E2-B88C-CB5969095CED}"/>
              </a:ext>
            </a:extLst>
          </p:cNvPr>
          <p:cNvSpPr>
            <a:spLocks noGrp="1"/>
          </p:cNvSpPr>
          <p:nvPr/>
        </p:nvSpPr>
        <p:spPr>
          <a:xfrm>
            <a:off x="704850" y="2076450"/>
            <a:ext cx="7048500" cy="3524250"/>
          </a:xfrm>
          <a:prstGeom prst="rect">
            <a:avLst/>
          </a:prstGeom>
          <a:solidFill>
            <a:srgbClr val="FFFFFF"/>
          </a:solidFill>
          <a:ln w="9525">
            <a:solidFill>
              <a:srgbClr val="D8C8E2"/>
            </a:solidFill>
            <a:prstDash val="solid"/>
          </a:ln>
        </p:spPr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1E644B61-0ACC-4CBD-B32E-83C28ABE7F71}"/>
              </a:ext>
            </a:extLst>
          </p:cNvPr>
          <p:cNvSpPr>
            <a:spLocks noGrp="1"/>
          </p:cNvSpPr>
          <p:nvPr/>
        </p:nvSpPr>
        <p:spPr>
          <a:xfrm>
            <a:off x="838200" y="2209800"/>
            <a:ext cx="6781800" cy="3124200"/>
          </a:xfrm>
          <a:prstGeom prst="rect">
            <a:avLst/>
          </a:prstGeom>
          <a:solidFill>
            <a:srgbClr val="000000">
              <a:alpha val="0"/>
            </a:srgbClr>
          </a:solidFill>
          <a:ln w="9525">
            <a:solidFill>
              <a:srgbClr val="D5C5DF"/>
            </a:solidFill>
            <a:prstDash val="solid"/>
          </a:ln>
        </p:spPr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746B3A-8D50-456E-B543-110D75D09524}"/>
              </a:ext>
            </a:extLst>
          </p:cNvPr>
          <p:cNvSpPr>
            <a:spLocks noGrp="1"/>
          </p:cNvSpPr>
          <p:nvPr/>
        </p:nvSpPr>
        <p:spPr>
          <a:xfrm>
            <a:off x="857250" y="5372100"/>
            <a:ext cx="6743700" cy="1524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ctr">
              <a:defRPr sz="713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lang="zh-CN" altLang="en-US" sz="780"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数据处理链条：来源、清洗匹配与指数输出</a:t>
            </a:r>
            <a:endParaRPr sz="780" b="1">
              <a:solidFill>
                <a:srgbClr val="6F2184"/>
              </a:solidFill>
              <a:latin typeface="Microsoft YaHei" panose="020B0503020204020204" pitchFamily="34" charset="-122"/>
              <a:ea typeface="Microsoft YaHei" panose="020B0503020204020204" pitchFamily="34" charset="-122"/>
              <a:cs typeface="Microsoft YaHei UI"/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1FEAE1FA-2DEE-4298-8BFC-B796B6CA5E67}"/>
              </a:ext>
            </a:extLst>
          </p:cNvPr>
          <p:cNvSpPr>
            <a:spLocks noGrp="1"/>
          </p:cNvSpPr>
          <p:nvPr/>
        </p:nvSpPr>
        <p:spPr>
          <a:xfrm>
            <a:off x="8362950" y="19240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53</a:t>
            </a: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0A1C8095-60A0-45BB-8B8B-3BE33F05930E}"/>
              </a:ext>
            </a:extLst>
          </p:cNvPr>
          <p:cNvSpPr>
            <a:spLocks noGrp="1"/>
          </p:cNvSpPr>
          <p:nvPr/>
        </p:nvSpPr>
        <p:spPr>
          <a:xfrm>
            <a:off x="8362950" y="22860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B772B366-C088-4888-866A-1F590E44588B}"/>
              </a:ext>
            </a:extLst>
          </p:cNvPr>
          <p:cNvSpPr>
            <a:spLocks noGrp="1"/>
          </p:cNvSpPr>
          <p:nvPr/>
        </p:nvSpPr>
        <p:spPr>
          <a:xfrm>
            <a:off x="8362950" y="23622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标准化典籍语料，约900万字</a:t>
            </a:r>
          </a:p>
        </p:txBody>
      </p:sp>
      <p:sp>
        <p:nvSpPr>
          <p:cNvPr id="19" name="矩形 18">
            <a:extLst>
              <a:ext uri="{FF2B5EF4-FFF2-40B4-BE49-F238E27FC236}">
                <a16:creationId xmlns:a16="http://schemas.microsoft.com/office/drawing/2014/main" id="{C7AE16C9-61B3-48CD-9BE2-353FCBF86389}"/>
              </a:ext>
            </a:extLst>
          </p:cNvPr>
          <p:cNvSpPr>
            <a:spLocks noGrp="1"/>
          </p:cNvSpPr>
          <p:nvPr/>
        </p:nvSpPr>
        <p:spPr>
          <a:xfrm>
            <a:off x="8362950" y="270510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13,512</a:t>
            </a: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BF1C7D24-BD64-4040-A2CA-D4934B436937}"/>
              </a:ext>
            </a:extLst>
          </p:cNvPr>
          <p:cNvSpPr>
            <a:spLocks noGrp="1"/>
          </p:cNvSpPr>
          <p:nvPr/>
        </p:nvSpPr>
        <p:spPr>
          <a:xfrm>
            <a:off x="8362950" y="30670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31BD56AE-3E9A-41D9-BED5-537C0CFEEFBD}"/>
              </a:ext>
            </a:extLst>
          </p:cNvPr>
          <p:cNvSpPr>
            <a:spLocks noGrp="1"/>
          </p:cNvSpPr>
          <p:nvPr/>
        </p:nvSpPr>
        <p:spPr>
          <a:xfrm>
            <a:off x="8362950" y="314325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旅游 POI</a:t>
            </a:r>
          </a:p>
        </p:txBody>
      </p:sp>
      <p:sp>
        <p:nvSpPr>
          <p:cNvPr id="22" name="矩形 21">
            <a:extLst>
              <a:ext uri="{FF2B5EF4-FFF2-40B4-BE49-F238E27FC236}">
                <a16:creationId xmlns:a16="http://schemas.microsoft.com/office/drawing/2014/main" id="{D87AAA6F-26AD-4DC7-A7DB-D43A39B52E59}"/>
              </a:ext>
            </a:extLst>
          </p:cNvPr>
          <p:cNvSpPr>
            <a:spLocks noGrp="1"/>
          </p:cNvSpPr>
          <p:nvPr/>
        </p:nvSpPr>
        <p:spPr>
          <a:xfrm>
            <a:off x="8362950" y="34861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16,391</a:t>
            </a:r>
          </a:p>
        </p:txBody>
      </p:sp>
      <p:sp>
        <p:nvSpPr>
          <p:cNvPr id="23" name="矩形 22">
            <a:extLst>
              <a:ext uri="{FF2B5EF4-FFF2-40B4-BE49-F238E27FC236}">
                <a16:creationId xmlns:a16="http://schemas.microsoft.com/office/drawing/2014/main" id="{E7A5137D-9635-4D33-9541-D48BDC0C5FC9}"/>
              </a:ext>
            </a:extLst>
          </p:cNvPr>
          <p:cNvSpPr>
            <a:spLocks noGrp="1"/>
          </p:cNvSpPr>
          <p:nvPr/>
        </p:nvSpPr>
        <p:spPr>
          <a:xfrm>
            <a:off x="8362950" y="38481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矩形 23">
            <a:extLst>
              <a:ext uri="{FF2B5EF4-FFF2-40B4-BE49-F238E27FC236}">
                <a16:creationId xmlns:a16="http://schemas.microsoft.com/office/drawing/2014/main" id="{70CA61A9-45B2-417D-841A-54657226F69E}"/>
              </a:ext>
            </a:extLst>
          </p:cNvPr>
          <p:cNvSpPr>
            <a:spLocks noGrp="1"/>
          </p:cNvSpPr>
          <p:nvPr/>
        </p:nvSpPr>
        <p:spPr>
          <a:xfrm>
            <a:off x="8362950" y="39243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平台评论</a:t>
            </a:r>
          </a:p>
        </p:txBody>
      </p:sp>
      <p:sp>
        <p:nvSpPr>
          <p:cNvPr id="25" name="矩形 24">
            <a:extLst>
              <a:ext uri="{FF2B5EF4-FFF2-40B4-BE49-F238E27FC236}">
                <a16:creationId xmlns:a16="http://schemas.microsoft.com/office/drawing/2014/main" id="{04E2D0E2-EC4A-4577-ACCB-6DD7B825BD53}"/>
              </a:ext>
            </a:extLst>
          </p:cNvPr>
          <p:cNvSpPr>
            <a:spLocks noGrp="1"/>
          </p:cNvSpPr>
          <p:nvPr/>
        </p:nvSpPr>
        <p:spPr>
          <a:xfrm>
            <a:off x="8362950" y="426720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5A83A8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90 / 165</a:t>
            </a:r>
          </a:p>
        </p:txBody>
      </p:sp>
      <p:sp>
        <p:nvSpPr>
          <p:cNvPr id="26" name="矩形 25">
            <a:extLst>
              <a:ext uri="{FF2B5EF4-FFF2-40B4-BE49-F238E27FC236}">
                <a16:creationId xmlns:a16="http://schemas.microsoft.com/office/drawing/2014/main" id="{6C53448F-64B1-43A5-BC0D-B66F85B6B452}"/>
              </a:ext>
            </a:extLst>
          </p:cNvPr>
          <p:cNvSpPr>
            <a:spLocks noGrp="1"/>
          </p:cNvSpPr>
          <p:nvPr/>
        </p:nvSpPr>
        <p:spPr>
          <a:xfrm>
            <a:off x="8362950" y="462915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矩形 26">
            <a:extLst>
              <a:ext uri="{FF2B5EF4-FFF2-40B4-BE49-F238E27FC236}">
                <a16:creationId xmlns:a16="http://schemas.microsoft.com/office/drawing/2014/main" id="{EE962770-152C-41E9-8848-567B69175190}"/>
              </a:ext>
            </a:extLst>
          </p:cNvPr>
          <p:cNvSpPr>
            <a:spLocks noGrp="1"/>
          </p:cNvSpPr>
          <p:nvPr/>
        </p:nvSpPr>
        <p:spPr>
          <a:xfrm>
            <a:off x="8362950" y="470535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非遗项目 / 核心文化载体</a:t>
            </a: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F0BA534B-A5B2-4D62-AE4A-6C98E0149B0C}"/>
              </a:ext>
            </a:extLst>
          </p:cNvPr>
          <p:cNvSpPr>
            <a:spLocks noGrp="1"/>
          </p:cNvSpPr>
          <p:nvPr/>
        </p:nvSpPr>
        <p:spPr>
          <a:xfrm>
            <a:off x="8362950" y="5048250"/>
            <a:ext cx="2266950" cy="32385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2025" b="1">
                <a:solidFill>
                  <a:srgbClr val="600070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b="1">
                <a:solidFill>
                  <a:srgbClr val="6F2184"/>
                </a:solidFill>
                <a:latin typeface="Microsoft YaHei" panose="020B0503020204020204" pitchFamily="34" charset="-122"/>
                <a:ea typeface="Microsoft YaHei" panose="020B0503020204020204" pitchFamily="34" charset="-122"/>
                <a:cs typeface="Microsoft YaHei UI"/>
              </a:rPr>
              <a:t>4,662</a:t>
            </a:r>
          </a:p>
        </p:txBody>
      </p:sp>
      <p:sp>
        <p:nvSpPr>
          <p:cNvPr id="29" name="矩形 28">
            <a:extLst>
              <a:ext uri="{FF2B5EF4-FFF2-40B4-BE49-F238E27FC236}">
                <a16:creationId xmlns:a16="http://schemas.microsoft.com/office/drawing/2014/main" id="{D13713EB-E921-4A86-A502-7932A1FFCF99}"/>
              </a:ext>
            </a:extLst>
          </p:cNvPr>
          <p:cNvSpPr>
            <a:spLocks noGrp="1"/>
          </p:cNvSpPr>
          <p:nvPr/>
        </p:nvSpPr>
        <p:spPr>
          <a:xfrm>
            <a:off x="8362950" y="5410200"/>
            <a:ext cx="2209800" cy="9525"/>
          </a:xfrm>
          <a:prstGeom prst="rect">
            <a:avLst/>
          </a:prstGeom>
          <a:solidFill>
            <a:srgbClr val="D8C8E2"/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0" name="矩形 29">
            <a:extLst>
              <a:ext uri="{FF2B5EF4-FFF2-40B4-BE49-F238E27FC236}">
                <a16:creationId xmlns:a16="http://schemas.microsoft.com/office/drawing/2014/main" id="{428A15AC-EFA6-4A08-B38A-7EFE7B237F9B}"/>
              </a:ext>
            </a:extLst>
          </p:cNvPr>
          <p:cNvSpPr>
            <a:spLocks noGrp="1"/>
          </p:cNvSpPr>
          <p:nvPr/>
        </p:nvSpPr>
        <p:spPr>
          <a:xfrm>
            <a:off x="8362950" y="5486400"/>
            <a:ext cx="2266950" cy="266700"/>
          </a:xfrm>
          <a:prstGeom prst="rect">
            <a:avLst/>
          </a:prstGeom>
          <a:solidFill>
            <a:srgbClr val="000000">
              <a:alpha val="0"/>
            </a:srgbClr>
          </a:solidFill>
          <a:ln w="0">
            <a:solidFill>
              <a:srgbClr val="000000">
                <a:alpha val="0"/>
              </a:srgbClr>
            </a:solidFill>
            <a:prstDash val="solid"/>
          </a:ln>
        </p:spPr>
        <p:txBody>
          <a:bodyPr lIns="0" tIns="0" rIns="0" bIns="0" anchor="t"/>
          <a:lstStyle/>
          <a:p>
            <a:pPr algn="l">
              <a:def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defRPr>
            </a:pPr>
            <a:r>
              <a:rPr sz="735" b="0">
                <a:solidFill>
                  <a:srgbClr val="5C5362"/>
                </a:solidFill>
                <a:latin typeface="Microsoft YaHei UI"/>
                <a:ea typeface="Microsoft YaHei UI"/>
                <a:cs typeface="Microsoft YaHei UI"/>
              </a:rPr>
              <a:t>500 m 分析网格</a:t>
            </a:r>
          </a:p>
        </p:txBody>
      </p:sp>
      <p:sp>
        <p:nvSpPr>
          <p:cNvPr id="40" name="NativeFlow Data Top 3"/>
          <p:cNvSpPr/>
          <p:nvPr/>
        </p:nvSpPr>
        <p:spPr>
          <a:xfrm>
            <a:off x="5150000" y="3020000"/>
            <a:ext cx="1030000" cy="620000"/>
          </a:xfrm>
          <a:prstGeom prst="roundRect">
            <a:avLst/>
          </a:prstGeom>
          <a:solidFill>
            <a:srgbClr val="F4ECFF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文化载体锚点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90非遗 / 165核心载体</a:t>
            </a:r>
          </a:p>
        </p:txBody>
      </p:sp>
      <p:sp>
        <p:nvSpPr>
          <p:cNvPr id="45" name="NativeFlow Data Bottom 1"/>
          <p:cNvSpPr/>
          <p:nvPr/>
        </p:nvSpPr>
        <p:spPr>
          <a:xfrm>
            <a:off x="4020000" y="4409151"/>
            <a:ext cx="1420000" cy="501698"/>
          </a:xfrm>
          <a:prstGeom prst="roundRect">
            <a:avLst/>
          </a:prstGeom>
          <a:solidFill>
            <a:srgbClr val="FAF7FD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桥梁匹配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载体—POI匹配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评论语义对应</a:t>
            </a:r>
          </a:p>
        </p:txBody>
      </p:sp>
      <p:cxnSp>
        <p:nvCxnSpPr>
          <p:cNvPr id="13" name="NativeConnector Data 1">
            <a:extLst>
              <a:ext uri="{FF2B5EF4-FFF2-40B4-BE49-F238E27FC236}">
                <a16:creationId xmlns:a16="http://schemas.microsoft.com/office/drawing/2014/main" id="{7CF682AD-66CE-FE3B-2761-C7D2187C17A3}"/>
              </a:ext>
            </a:extLst>
          </p:cNvPr>
          <p:cNvCxnSpPr/>
          <p:nvPr/>
        </p:nvCxnSpPr>
        <p:spPr>
          <a:xfrm>
            <a:off x="2311400" y="3327400"/>
            <a:ext cx="2413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NativeConnector Data 3">
            <a:extLst>
              <a:ext uri="{FF2B5EF4-FFF2-40B4-BE49-F238E27FC236}">
                <a16:creationId xmlns:a16="http://schemas.microsoft.com/office/drawing/2014/main" id="{EA4F06D4-9C01-C339-C382-6113A9C8B0FB}"/>
              </a:ext>
            </a:extLst>
          </p:cNvPr>
          <p:cNvCxnSpPr/>
          <p:nvPr/>
        </p:nvCxnSpPr>
        <p:spPr>
          <a:xfrm>
            <a:off x="4889500" y="33274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NativeConnector CleanMatch">
            <a:extLst>
              <a:ext uri="{FF2B5EF4-FFF2-40B4-BE49-F238E27FC236}">
                <a16:creationId xmlns:a16="http://schemas.microsoft.com/office/drawing/2014/main" id="{3930E203-4170-69F9-736F-D94DC0E5269B}"/>
              </a:ext>
            </a:extLst>
          </p:cNvPr>
          <p:cNvCxnSpPr/>
          <p:nvPr/>
        </p:nvCxnSpPr>
        <p:spPr>
          <a:xfrm>
            <a:off x="3302000" y="4660900"/>
            <a:ext cx="7112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NativeConnector Down">
            <a:extLst>
              <a:ext uri="{FF2B5EF4-FFF2-40B4-BE49-F238E27FC236}">
                <a16:creationId xmlns:a16="http://schemas.microsoft.com/office/drawing/2014/main" id="{4E0F9652-AEEC-15DB-E234-C84030CAB26F}"/>
              </a:ext>
            </a:extLst>
          </p:cNvPr>
          <p:cNvCxnSpPr/>
          <p:nvPr/>
        </p:nvCxnSpPr>
        <p:spPr>
          <a:xfrm>
            <a:off x="4368800" y="3644900"/>
            <a:ext cx="0" cy="67310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8" name="NativeFlow Data Top 2"/>
          <p:cNvSpPr/>
          <p:nvPr/>
        </p:nvSpPr>
        <p:spPr>
          <a:xfrm>
            <a:off x="3860000" y="30842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POI 与评论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13,512 POI / 16,391评论</a:t>
            </a:r>
          </a:p>
        </p:txBody>
      </p:sp>
      <p:sp>
        <p:nvSpPr>
          <p:cNvPr id="43" name="NativeFlow Data Bottom 0"/>
          <p:cNvSpPr/>
          <p:nvPr/>
        </p:nvSpPr>
        <p:spPr>
          <a:xfrm>
            <a:off x="1880000" y="4320000"/>
            <a:ext cx="14200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/>
                <a:ea typeface="Microsoft YaHei"/>
              </a:rPr>
              <a:t>数据清洗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OCR校对、去重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坐标与名称统一</a:t>
            </a:r>
          </a:p>
        </p:txBody>
      </p:sp>
      <p:sp>
        <p:nvSpPr>
          <p:cNvPr id="47" name="NativeFlow Data Bottom 2"/>
          <p:cNvSpPr/>
          <p:nvPr/>
        </p:nvSpPr>
        <p:spPr>
          <a:xfrm>
            <a:off x="6160000" y="4320000"/>
            <a:ext cx="1420000" cy="6800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D5BEDD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40" b="1">
                <a:solidFill>
                  <a:srgbClr val="2B2440"/>
                </a:solidFill>
                <a:latin typeface="Microsoft YaHei"/>
                <a:ea typeface="Microsoft YaHei"/>
              </a:rPr>
              <a:t>成果输出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错位分类</a:t>
            </a:r>
          </a:p>
          <a:p>
            <a:pPr algn="ctr"/>
            <a:r>
              <a:rPr lang="zh-CN" sz="720">
                <a:solidFill>
                  <a:srgbClr val="2B2440"/>
                </a:solidFill>
                <a:latin typeface="Microsoft YaHei"/>
                <a:ea typeface="Microsoft YaHei"/>
              </a:rPr>
              <a:t>专题图与建议</a:t>
            </a:r>
          </a:p>
        </p:txBody>
      </p:sp>
      <p:cxnSp>
        <p:nvCxnSpPr>
          <p:cNvPr id="49" name="NativeConnector Data 2">
            <a:extLst>
              <a:ext uri="{FF2B5EF4-FFF2-40B4-BE49-F238E27FC236}">
                <a16:creationId xmlns:a16="http://schemas.microsoft.com/office/drawing/2014/main" id="{62B6CD34-963B-9BDD-82FA-FCAE6D58A17A}"/>
              </a:ext>
            </a:extLst>
          </p:cNvPr>
          <p:cNvCxnSpPr/>
          <p:nvPr/>
        </p:nvCxnSpPr>
        <p:spPr>
          <a:xfrm>
            <a:off x="3594100" y="3327400"/>
            <a:ext cx="2540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NativeConnector MatchOut">
            <a:extLst>
              <a:ext uri="{FF2B5EF4-FFF2-40B4-BE49-F238E27FC236}">
                <a16:creationId xmlns:a16="http://schemas.microsoft.com/office/drawing/2014/main" id="{2C965375-5666-6AEA-9138-968E02B4054F}"/>
              </a:ext>
            </a:extLst>
          </p:cNvPr>
          <p:cNvCxnSpPr/>
          <p:nvPr/>
        </p:nvCxnSpPr>
        <p:spPr>
          <a:xfrm>
            <a:off x="5435600" y="4660900"/>
            <a:ext cx="7239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NativeFlow Data Top 4"/>
          <p:cNvSpPr/>
          <p:nvPr/>
        </p:nvSpPr>
        <p:spPr>
          <a:xfrm>
            <a:off x="6440000" y="3084259"/>
            <a:ext cx="1030000" cy="491482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指数与空间分析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CMI / OAI / THI / MI</a:t>
            </a:r>
          </a:p>
        </p:txBody>
      </p:sp>
      <p:sp>
        <p:nvSpPr>
          <p:cNvPr id="34" name="NativeFlow Data Top 0"/>
          <p:cNvSpPr/>
          <p:nvPr/>
        </p:nvSpPr>
        <p:spPr>
          <a:xfrm>
            <a:off x="1280000" y="3143850"/>
            <a:ext cx="1030000" cy="372301"/>
          </a:xfrm>
          <a:prstGeom prst="roundRect">
            <a:avLst/>
          </a:prstGeom>
          <a:solidFill>
            <a:srgbClr val="EAF2F6">
              <a:alpha val="95000"/>
            </a:srgbClr>
          </a:solidFill>
          <a:ln w="9525">
            <a:solidFill>
              <a:srgbClr val="BEB4C8"/>
            </a:solidFill>
          </a:ln>
        </p:spPr>
        <p:txBody>
          <a:bodyPr wrap="square" lIns="76200" tIns="50800" rIns="76200" bIns="50800" anchor="ctr">
            <a:spAutoFit/>
          </a:bodyPr>
          <a:lstStyle/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典籍资料</a:t>
            </a:r>
          </a:p>
          <a:p>
            <a:pPr algn="ctr"/>
            <a:r>
              <a:rPr lang="zh-CN" sz="730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53份 / 约900万字</a:t>
            </a:r>
          </a:p>
        </p:txBody>
      </p:sp>
      <p:sp>
        <p:nvSpPr>
          <p:cNvPr id="36" name="NativeFlow Data Top 1"/>
          <p:cNvSpPr/>
          <p:nvPr/>
        </p:nvSpPr>
        <p:spPr>
          <a:xfrm>
            <a:off x="2570000" y="3020000"/>
            <a:ext cx="1030000" cy="620000"/>
          </a:xfrm>
          <a:prstGeom prst="roundRect">
            <a:avLst/>
          </a:prstGeom>
          <a:solidFill>
            <a:srgbClr val="EAF7F0"/>
          </a:solidFill>
          <a:ln w="9525">
            <a:solidFill>
              <a:srgbClr val="C6D1E2"/>
            </a:solidFill>
          </a:ln>
        </p:spPr>
        <p:txBody>
          <a:bodyPr wrap="square" anchor="ctr">
            <a:spAutoFit/>
          </a:bodyPr>
          <a:lstStyle/>
          <a:p>
            <a:pPr algn="ctr"/>
            <a:r>
              <a:rPr lang="zh-CN" sz="820" b="1">
                <a:solidFill>
                  <a:srgbClr val="1F3150"/>
                </a:solidFill>
                <a:latin typeface="Microsoft YaHei"/>
                <a:ea typeface="Microsoft YaHei"/>
              </a:rPr>
              <a:t>文化实体关系</a:t>
            </a:r>
          </a:p>
          <a:p>
            <a:pPr algn="ctr"/>
            <a:r>
              <a:rPr lang="zh-CN" sz="700">
                <a:solidFill>
                  <a:srgbClr val="1F3150"/>
                </a:solidFill>
                <a:latin typeface="Microsoft YaHei"/>
                <a:ea typeface="Microsoft YaHei"/>
              </a:rPr>
              <a:t>8,048实体 / 19,382关系</a:t>
            </a:r>
          </a:p>
        </p:txBody>
      </p:sp>
      <p:cxnSp>
        <p:nvCxnSpPr>
          <p:cNvPr id="51" name="NativeConnector Data 4">
            <a:extLst>
              <a:ext uri="{FF2B5EF4-FFF2-40B4-BE49-F238E27FC236}">
                <a16:creationId xmlns:a16="http://schemas.microsoft.com/office/drawing/2014/main" id="{9A82A12D-6EE0-F46F-DB0B-768471E08B36}"/>
              </a:ext>
            </a:extLst>
          </p:cNvPr>
          <p:cNvCxnSpPr/>
          <p:nvPr/>
        </p:nvCxnSpPr>
        <p:spPr>
          <a:xfrm>
            <a:off x="6172200" y="3327400"/>
            <a:ext cx="266700" cy="0"/>
          </a:xfrm>
          <a:prstGeom prst="straightConnector1">
            <a:avLst/>
          </a:prstGeom>
          <a:ln w="15875">
            <a:solidFill>
              <a:srgbClr val="6F2184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3" name="NativeFlow Title Data"/>
          <p:cNvSpPr/>
          <p:nvPr/>
        </p:nvSpPr>
        <p:spPr>
          <a:xfrm>
            <a:off x="1250000" y="2339195"/>
            <a:ext cx="6200000" cy="261610"/>
          </a:xfrm>
          <a:prstGeom prst="rect">
            <a:avLst/>
          </a:prstGeom>
          <a:noFill/>
          <a:ln>
            <a:noFill/>
          </a:ln>
        </p:spPr>
        <p:txBody>
          <a:bodyPr wrap="square" anchor="ctr">
            <a:spAutoFit/>
          </a:bodyPr>
          <a:lstStyle/>
          <a:p>
            <a:pPr algn="l"/>
            <a:r>
              <a:rPr lang="zh-CN" altLang="en-US" sz="1100" b="1">
                <a:solidFill>
                  <a:srgbClr val="1E1E22"/>
                </a:solidFill>
                <a:latin typeface="Microsoft YaHei" panose="020B0503020204020204" pitchFamily="34" charset="-122"/>
                <a:ea typeface="Microsoft YaHei" panose="020B0503020204020204" pitchFamily="34" charset="-122"/>
              </a:rPr>
              <a:t>流程：来源 → 清洗 → 匹配 → 网格 → 指数</a:t>
            </a:r>
            <a:endParaRPr lang="zh-CN" sz="1100" b="1">
              <a:solidFill>
                <a:srgbClr val="1E1E22"/>
              </a:solidFill>
              <a:latin typeface="Microsoft YaHei" panose="020B0503020204020204" pitchFamily="34" charset="-122"/>
              <a:ea typeface="Microsoft YaHei" panose="020B0503020204020204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516690346"/>
      </p:ext>
    </p:extLst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</TotalTime>
  <Words>197</Words>
  <Application>Microsoft Office PowerPoint</Application>
  <DocSecurity>0</DocSecurity>
  <PresentationFormat>宽屏</PresentationFormat>
  <Paragraphs>38</Paragraphs>
  <Slides>1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Microsoft YaHei UI</vt:lpstr>
      <vt:lpstr>Microsoft YaHei</vt:lpstr>
      <vt:lpstr>Calibri</vt:lpstr>
      <vt:lpstr>ChatGPT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帅 孟</cp:lastModifiedBy>
  <cp:revision>18</cp:revision>
  <dcterms:created xsi:type="dcterms:W3CDTF">2026-06-02T06:15:18Z</dcterms:created>
  <dcterms:modified xsi:type="dcterms:W3CDTF">2026-06-02T13:10:33Z</dcterms:modified>
</cp:coreProperties>
</file>