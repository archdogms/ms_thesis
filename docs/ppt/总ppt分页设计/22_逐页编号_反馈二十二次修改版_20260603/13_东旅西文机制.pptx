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E9517-F8D2-441A-8EAA-67D7A432020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9EEA5-D592-4B90-8512-B506DCF364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003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DDBA5-9475-78EF-DB84-9DF2D63EA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61D196-A676-2BE2-D448-ECD611C4F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D03D8A-BF2F-984D-8D64-8B7402BD1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CE14-BDAD-4A7C-B610-A10FAD16AD4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2C0FB8-C547-8298-0C3D-CEC3B6B44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5AEAF-B29E-6796-049C-5C819535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4AA-2261-4401-AE7B-FAD096E50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91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B045E-4F1E-B829-4FEB-C963A590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683B49-B682-466A-2596-2D06B0474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C66A10-F449-B4FF-4B9D-E10C95BF1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CE14-BDAD-4A7C-B610-A10FAD16AD4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E6F01-4FE6-A851-711A-C31ABE06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02EE11-14DD-54D9-C5EC-23EE819D6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4AA-2261-4401-AE7B-FAD096E50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261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307850-62E5-D62F-A1C8-3ED5082CC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F73271-44CC-B734-F91D-88F785070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6AB12A-0066-6594-B37A-967ABCE41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CE14-BDAD-4A7C-B610-A10FAD16AD4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2F5BE3-5F58-AA11-E6A4-2F905E52B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6D2B12-AC93-AAE0-99E3-2D82A7B7E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4AA-2261-4401-AE7B-FAD096E50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651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F2D14F-44A2-A80A-E390-81EF2A86F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FAB219-033D-073A-715E-53DD9B754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BEE9A4-DD8C-7818-0BAE-ADF630E18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415588-6D17-1819-0CEB-4F1FB788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CE14-BDAD-4A7C-B610-A10FAD16AD4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35FB7F-6BE3-921C-BFAE-66DFE9FA8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99CA1-C0BF-78B7-FCF4-63C1D539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4AA-2261-4401-AE7B-FAD096E50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077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FDB01-E46B-384F-6106-447BD5CCF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74775D-7273-A4FC-EDCA-78E11F746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0D67F6-6345-A99C-C6BD-AFF52A044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2A7ACFD-B8A5-E524-7049-5DBEA3B17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CB9B66-9351-EA9B-8AAA-BD48852C9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FDCD1C-F294-BC41-6614-6E64A86D0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CE14-BDAD-4A7C-B610-A10FAD16AD4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DEF5DF-F153-F03F-6AEF-F94C35BC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69F890-10F5-251C-0E97-44356FF1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4AA-2261-4401-AE7B-FAD096E50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328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BADD5-6901-E7DF-11AD-7A99FB16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9715F7-26C0-6613-F87B-9D1C4DC27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CE14-BDAD-4A7C-B610-A10FAD16AD4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39031D-41C9-3166-F76B-3FCB918B5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819CA4-72EF-1687-40D2-AEC3774D8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4AA-2261-4401-AE7B-FAD096E50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188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B55CA5-A627-8634-4CDF-2CEB5290B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CE14-BDAD-4A7C-B610-A10FAD16AD4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95F13C-AF4D-7FC2-63F7-2E525CECF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ED8B7B-880D-9B15-6665-2F65CC91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4AA-2261-4401-AE7B-FAD096E50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300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4AF91-86CF-4092-FE7F-EAE1F9C40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13F1AC-ABC3-CEE2-5D32-936BED818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EAF9CE-0792-4688-5F46-AC8501ED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0C55EF-3151-78B9-05A7-BD57A7D67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CE14-BDAD-4A7C-B610-A10FAD16AD4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F54439-9BC9-16D0-0481-4E31AEDA4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B82E3A-8D4B-48FF-CB73-F7873576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4AA-2261-4401-AE7B-FAD096E50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148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A113A5-268B-6C99-A7CF-6747F092C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065298-77E3-A640-DF92-1684BEC5A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99027A-C90A-AD75-6AA2-8EDFB13DE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398244-4E56-EA9D-77F3-E34F44026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CE14-BDAD-4A7C-B610-A10FAD16AD4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389F52-B2F5-3E2C-4FE9-0B46C956F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CB3822-2D17-8FA0-A98F-A21281EE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4AA-2261-4401-AE7B-FAD096E50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421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AFCAA3-84A7-89B5-ADFE-0811130A4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04A5D1-D292-993D-B1D8-1AAD125E7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B4ECF2-B186-3437-C700-F2DC64CE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CE14-BDAD-4A7C-B610-A10FAD16AD4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31F0FD-1226-8591-8BA2-5D1F3D4BA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959CA8-36FD-CA32-B781-3CA4B1832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4AA-2261-4401-AE7B-FAD096E50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925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6611268-A25D-7940-7CEE-6DFB84796F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D4B7B4-BEE2-2D2B-F591-C4E991EA0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7C4E4D-48F7-B3AD-64C5-48281DDF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CE14-BDAD-4A7C-B610-A10FAD16AD4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4803F0-90C2-4AE3-1E4F-C7BDDCA0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CA00B-A0CD-02AC-6BA3-22C29365E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604AA-2261-4401-AE7B-FAD096E50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865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7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B7FE80-FEFD-36C1-CAB1-ECDB42DF7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5E1338-CADB-8E41-B1A0-1D62298A3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AC19DB-4998-8D4C-A6BC-75D1E6CD07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CCE14-BDAD-4A7C-B610-A10FAD16AD42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3DCE2C-2D68-B653-F6F6-136F36F6F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7021E1-3427-958E-300B-491A840C7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604AA-2261-4401-AE7B-FAD096E501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531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6.2 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6.2</a:t>
            </a:r>
            <a:endParaRPr sz="850">
              <a:solidFill>
                <a:srgbClr val="60606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东旅西文机制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错位识别与空间结果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4E53C8-1313-8C64-971F-A73A600E1AF8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东旅西文不是一句现象描述，而是文化载体分布、</a:t>
            </a:r>
            <a:r>
              <a:rPr lang="en-US" altLang="zh-CN" sz="160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60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供给、交通消费场景和空间转化能力叠加后的结果。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318937B-6803-8E1D-94F4-C3AADE41F160}"/>
              </a:ext>
            </a:extLst>
          </p:cNvPr>
          <p:cNvSpPr/>
          <p:nvPr/>
        </p:nvSpPr>
        <p:spPr>
          <a:xfrm>
            <a:off x="889000" y="1778000"/>
            <a:ext cx="6350000" cy="393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45E25FB-5936-BE08-8DF9-6B7CC51207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964" y="2006600"/>
            <a:ext cx="5022937" cy="32258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FCFD3209-E743-A9F4-ED54-CD80B89E4C86}"/>
              </a:ext>
            </a:extLst>
          </p:cNvPr>
          <p:cNvSpPr txBox="1"/>
          <p:nvPr/>
        </p:nvSpPr>
        <p:spPr>
          <a:xfrm>
            <a:off x="1117600" y="5334000"/>
            <a:ext cx="58928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12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6.2  </a:t>
            </a:r>
            <a:r>
              <a:rPr lang="zh-CN" altLang="en-US" sz="12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文化载体核密度与 </a:t>
            </a:r>
            <a:r>
              <a:rPr lang="en-US" altLang="zh-CN" sz="12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2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核密度对照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0B47288-AFB1-03FD-1981-B5B32DBA0EDB}"/>
              </a:ext>
            </a:extLst>
          </p:cNvPr>
          <p:cNvSpPr/>
          <p:nvPr/>
        </p:nvSpPr>
        <p:spPr>
          <a:xfrm>
            <a:off x="7747000" y="1778000"/>
            <a:ext cx="3556000" cy="3937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6E649A5-D3A5-ECA2-2D57-46F8AA55AD58}"/>
              </a:ext>
            </a:extLst>
          </p:cNvPr>
          <p:cNvSpPr txBox="1"/>
          <p:nvPr/>
        </p:nvSpPr>
        <p:spPr>
          <a:xfrm>
            <a:off x="8026400" y="2032000"/>
            <a:ext cx="28702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20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原因解释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C300B7F-362D-0682-CE62-A6FB95B30BEE}"/>
              </a:ext>
            </a:extLst>
          </p:cNvPr>
          <p:cNvSpPr txBox="1"/>
          <p:nvPr/>
        </p:nvSpPr>
        <p:spPr>
          <a:xfrm>
            <a:off x="8026400" y="25146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东部：桂城、里水等片区 </a:t>
            </a:r>
            <a:r>
              <a:rPr lang="en-US" altLang="zh-CN" sz="14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4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、商业服务和日常消费场景更集中，旅游热度更容易形成。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C6098F4-CFFC-CBC1-EFA1-B74787A53BF5}"/>
              </a:ext>
            </a:extLst>
          </p:cNvPr>
          <p:cNvCxnSpPr/>
          <p:nvPr/>
        </p:nvCxnSpPr>
        <p:spPr>
          <a:xfrm>
            <a:off x="8026400" y="3276600"/>
            <a:ext cx="29718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F449A36B-C868-8D00-9B06-AF12CAB5F903}"/>
              </a:ext>
            </a:extLst>
          </p:cNvPr>
          <p:cNvSpPr txBox="1"/>
          <p:nvPr/>
        </p:nvSpPr>
        <p:spPr>
          <a:xfrm>
            <a:off x="8026400" y="34798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西部：西樵、九江、丹灶等片区历史村落、非遗、宗族与水乡文化线索更厚。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0A81583-F641-ED0B-CA55-7CAC86682154}"/>
              </a:ext>
            </a:extLst>
          </p:cNvPr>
          <p:cNvCxnSpPr/>
          <p:nvPr/>
        </p:nvCxnSpPr>
        <p:spPr>
          <a:xfrm>
            <a:off x="8026400" y="4241800"/>
            <a:ext cx="29718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40F88875-1100-E555-EAE7-E0B7223FF466}"/>
              </a:ext>
            </a:extLst>
          </p:cNvPr>
          <p:cNvSpPr txBox="1"/>
          <p:nvPr/>
        </p:nvSpPr>
        <p:spPr>
          <a:xfrm>
            <a:off x="8026400" y="44450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核心问题：文化资源没有充分转化为可到达、可观看、可评价的旅游入口。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B5EC69C-33A0-CECB-E62C-CC91B2337F8D}"/>
              </a:ext>
            </a:extLst>
          </p:cNvPr>
          <p:cNvSpPr txBox="1"/>
          <p:nvPr/>
        </p:nvSpPr>
        <p:spPr>
          <a:xfrm>
            <a:off x="8026400" y="5295900"/>
            <a:ext cx="2997200" cy="4965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28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该判断用于解释空间机制，不等同于东部无文化或西部无旅游。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CFB557-2248-2FCA-D1A0-5F974C451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878130" y="0"/>
            <a:ext cx="1149927" cy="457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5498BA5-99A6-9383-619F-819A922776AC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自定义</PresentationFormat>
  <Paragraphs>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2026-06-03T12:49:41Z</dcterms:created>
  <dcterms:modified xsi:type="dcterms:W3CDTF">2026-06-03T12:49:41Z</dcterms:modified>
</cp:coreProperties>
</file>