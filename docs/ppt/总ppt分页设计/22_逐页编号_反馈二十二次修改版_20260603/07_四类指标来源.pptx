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2F6F1-0117-40A3-B8E2-2C3DB6C3ECB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4F4DC-8B9E-4609-89E7-2604F7AFF3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88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86F24-EBEA-DE70-8ECD-3B32CD5CB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26E077-A525-7DB0-D2AC-D652015A2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9A76AA-45E2-EBEC-CACC-C64EBCFB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F7C51A-A636-F894-7A68-38B34E0AC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581F45-CC08-A851-73CD-631D3D27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52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EABF6-DBB5-5085-7930-34472285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4C5E34-68C7-9F61-0A48-9E676C2BF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07EFFF-02CF-DBA6-15F2-C814B372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F23A99-5F18-96E2-741A-727AF4B7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CA3963-BA09-D269-4944-64DBB43A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078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62959-FA5E-01E4-2EA8-D2404004D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3A0B31-1819-31F2-CBF5-D04C5C319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AD80F3-6B92-0762-FC57-D99286AC0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2A0D2D-B79E-0BFA-29F0-3878CF6A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DB711E-DAC9-A8CD-6C2C-E994E52F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481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38467-359F-83E1-C75E-59B279B3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53DFD1-8DC3-592E-27E8-0949B5EACB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7C576-9A9E-EA16-C7EC-7E5B1AA08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CAF4F0-2EF7-752E-22F5-2B4C54F4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D060B4-0B5E-AC0B-0392-4EDA7CF1D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5780A4-8112-C0E2-A9CC-89790350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630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D1D60-7671-0845-121A-581C0B0C1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B0DC9F-1959-03E1-89BC-6014F6585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9A9415-5843-58A4-7742-F8DB7F685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3574AA-D2EC-A610-804C-4E262ABB5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ED4BAA-EEA4-09AC-9436-007758558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2C12F0-3C45-7460-EDC5-FEF4D345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431264-7A83-F363-C5E0-32A004710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2D57D3-44A2-EEF1-8371-A0938BCF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530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313DF-BECF-F05B-593B-0C42A2B4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47F75C-D9A3-6C60-3297-B45A94C4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0F3A45-2F4E-D9BE-8EEF-6D22CFAF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9A2E00-9A26-7D26-3972-0D284440F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69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0767A9-2678-E073-23B4-55884E17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7989F5-D492-564B-5E73-A0CE346A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D62F86-70B5-D0DD-F8DC-7712FF11C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393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A39C8-8A13-5835-6975-85EF53D93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8A82CE-05ED-8AD2-F3D4-55D031192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B986B7-2C0E-9B70-714D-75A07B776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C3ED81-6B11-C18F-BD91-C646672A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847739-0580-1762-68DB-6FC02345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DFDC70-FC08-1AAA-D164-493D5948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092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6AB55-58B1-E6F5-0A80-5B81FE2BE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4EEDD1-FF0E-B92E-D55D-C7F2E0C48D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C80EE1-8C7B-B391-B7F3-7B39D542F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7660B9-36A9-26B0-3BAD-E0972A45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17BB68-93A8-9AAF-0F7A-5F72A676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3B0CF7-F6E8-8F8C-B9E0-281D1368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42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736A8-941B-4DF2-0FFF-306F3E12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737A9D-35C6-9884-8881-379B554E5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DF3038-AFCF-CE9F-FC19-D4D3C8FF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F13435-AA71-3E61-0DC4-EEBFF387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31603F-5320-5485-9A7D-14AD0709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62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9FE27E-D393-2782-B338-7F02C9D28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945A7F-A4D4-4716-FFC5-DF4229586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4072AC-35F9-9E81-25F2-F6C9E781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CF0C5F-0C68-E4C6-F4B3-F97C6011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94AAEC-8993-BD65-D9FA-AEE4EC1B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50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6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2E98FD-51E7-F721-1092-7F0C8913E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18C17C-8C8D-71A9-CEDD-3A1D3DCAC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4C6A97-D367-FA65-E518-718BFB010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4C9A4-5450-4930-ABFE-F2A35B44082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3664A-657B-E4F9-53E9-E2183CFFE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C02F9-C9A0-471F-8F56-10C495879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ECE22-71C1-42F4-A49E-7D4FA14FE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32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5.2—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5.5</a:t>
            </a:r>
            <a:endParaRPr sz="850">
              <a:solidFill>
                <a:srgbClr val="6060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四类指标来源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数据基础与指标口径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2986B1-95EC-B37A-C414-6835F70AEA5B}"/>
              </a:ext>
            </a:extLst>
          </p:cNvPr>
          <p:cNvSpPr txBox="1"/>
          <p:nvPr/>
        </p:nvSpPr>
        <p:spPr>
          <a:xfrm>
            <a:off x="889000" y="1168400"/>
            <a:ext cx="10414000" cy="34111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5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四类指标先归一化到同一分值口径，再比较文化基础与旅游承接之间的偏离。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5966770-E1DC-71E7-AE3A-BB4F5371403A}"/>
              </a:ext>
            </a:extLst>
          </p:cNvPr>
          <p:cNvCxnSpPr/>
          <p:nvPr/>
        </p:nvCxnSpPr>
        <p:spPr>
          <a:xfrm>
            <a:off x="889000" y="16510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217B54-895D-AFCA-5985-AFF9C05305E8}"/>
              </a:ext>
            </a:extLst>
          </p:cNvPr>
          <p:cNvSpPr/>
          <p:nvPr/>
        </p:nvSpPr>
        <p:spPr>
          <a:xfrm>
            <a:off x="88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A91451-373D-9C68-9134-E1F46A1DBB9C}"/>
              </a:ext>
            </a:extLst>
          </p:cNvPr>
          <p:cNvSpPr txBox="1"/>
          <p:nvPr/>
        </p:nvSpPr>
        <p:spPr>
          <a:xfrm>
            <a:off x="111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5.2  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文化记忆指数（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1FA5CA2-A29E-07D1-C462-64B83DFE3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2349500"/>
            <a:ext cx="1219200" cy="1219200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2BCF607-CB35-9062-133D-EB3B94AF70F0}"/>
              </a:ext>
            </a:extLst>
          </p:cNvPr>
          <p:cNvSpPr/>
          <p:nvPr/>
        </p:nvSpPr>
        <p:spPr>
          <a:xfrm>
            <a:off x="469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039A2A-C6AA-0679-4EB7-277C52C10B90}"/>
              </a:ext>
            </a:extLst>
          </p:cNvPr>
          <p:cNvSpPr txBox="1"/>
          <p:nvPr/>
        </p:nvSpPr>
        <p:spPr>
          <a:xfrm>
            <a:off x="492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5.3  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官方认定指数（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F2936AF-CC1A-C1B1-067E-D787A21A6C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2349500"/>
            <a:ext cx="1219200" cy="1219200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14AE10B-017A-33C6-0E32-4F176F0158A3}"/>
              </a:ext>
            </a:extLst>
          </p:cNvPr>
          <p:cNvSpPr/>
          <p:nvPr/>
        </p:nvSpPr>
        <p:spPr>
          <a:xfrm>
            <a:off x="88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FA4B27-B070-829F-1F45-593A4F6AED77}"/>
              </a:ext>
            </a:extLst>
          </p:cNvPr>
          <p:cNvSpPr txBox="1"/>
          <p:nvPr/>
        </p:nvSpPr>
        <p:spPr>
          <a:xfrm>
            <a:off x="111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5.4  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旅游热度指数（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7CF73ED-F3C8-A9DA-DEF4-DA55CD6347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4508500"/>
            <a:ext cx="1219200" cy="1219200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A2801DF-7035-E8BF-C93A-EB2EF0730ECB}"/>
              </a:ext>
            </a:extLst>
          </p:cNvPr>
          <p:cNvSpPr/>
          <p:nvPr/>
        </p:nvSpPr>
        <p:spPr>
          <a:xfrm>
            <a:off x="469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E6F86E8-79C6-037D-EC43-9C1ACAE1B82A}"/>
              </a:ext>
            </a:extLst>
          </p:cNvPr>
          <p:cNvSpPr txBox="1"/>
          <p:nvPr/>
        </p:nvSpPr>
        <p:spPr>
          <a:xfrm>
            <a:off x="492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5.5  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错位指数（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）分布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6922968-1A13-303C-BAC7-5014E761B1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4508500"/>
            <a:ext cx="1219200" cy="1219200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0B49170-AD6D-F18C-DA6B-DD06F15CBB31}"/>
              </a:ext>
            </a:extLst>
          </p:cNvPr>
          <p:cNvSpPr/>
          <p:nvPr/>
        </p:nvSpPr>
        <p:spPr>
          <a:xfrm>
            <a:off x="8763000" y="1879600"/>
            <a:ext cx="2540000" cy="4064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75C902-79A8-A73C-C447-6CFC529707EB}"/>
              </a:ext>
            </a:extLst>
          </p:cNvPr>
          <p:cNvSpPr txBox="1"/>
          <p:nvPr/>
        </p:nvSpPr>
        <p:spPr>
          <a:xfrm>
            <a:off x="9017000" y="2159000"/>
            <a:ext cx="2032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指标计算口径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ED7BA9-43F5-911B-A66B-F739686E8B97}"/>
              </a:ext>
            </a:extLst>
          </p:cNvPr>
          <p:cNvSpPr txBox="1"/>
          <p:nvPr/>
        </p:nvSpPr>
        <p:spPr>
          <a:xfrm>
            <a:off x="9017000" y="2667000"/>
            <a:ext cx="2032000" cy="132138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文化记忆指数（</a:t>
            </a:r>
            <a:r>
              <a:rPr lang="en-US" altLang="zh-CN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</a:t>
            </a: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）：典籍频次 </a:t>
            </a:r>
            <a:r>
              <a:rPr lang="en-US" altLang="zh-CN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图谱中心性</a:t>
            </a:r>
          </a:p>
          <a:p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官方认定指数（</a:t>
            </a:r>
            <a:r>
              <a:rPr lang="en-US" altLang="zh-CN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</a:t>
            </a: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）：官方认定等级</a:t>
            </a:r>
          </a:p>
          <a:p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旅游热度指数（</a:t>
            </a:r>
            <a:r>
              <a:rPr lang="en-US" altLang="zh-CN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</a:t>
            </a: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</a:t>
            </a:r>
            <a:r>
              <a:rPr lang="en-US" altLang="zh-CN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、评分与评论热度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6BC9A90-F45B-F61C-587F-54B326E13A77}"/>
              </a:ext>
            </a:extLst>
          </p:cNvPr>
          <p:cNvCxnSpPr/>
          <p:nvPr/>
        </p:nvCxnSpPr>
        <p:spPr>
          <a:xfrm>
            <a:off x="9017000" y="4089400"/>
            <a:ext cx="2032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019CE85-A718-414C-F833-30A5C635AADC}"/>
              </a:ext>
            </a:extLst>
          </p:cNvPr>
          <p:cNvSpPr txBox="1"/>
          <p:nvPr/>
        </p:nvSpPr>
        <p:spPr>
          <a:xfrm>
            <a:off x="9017000" y="4318000"/>
            <a:ext cx="2032000" cy="36420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700" b="1">
                <a:solidFill>
                  <a:srgbClr val="C152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错位指数（</a:t>
            </a:r>
            <a:r>
              <a:rPr lang="en-US" altLang="zh-CN" sz="1700" b="1">
                <a:solidFill>
                  <a:srgbClr val="C152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</a:t>
            </a:r>
            <a:r>
              <a:rPr lang="zh-CN" altLang="en-US" sz="1700" b="1">
                <a:solidFill>
                  <a:srgbClr val="C152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4F60F1-2BCB-E5E6-A69C-C9B8DCE888F5}"/>
              </a:ext>
            </a:extLst>
          </p:cNvPr>
          <p:cNvSpPr txBox="1"/>
          <p:nvPr/>
        </p:nvSpPr>
        <p:spPr>
          <a:xfrm>
            <a:off x="9017000" y="4749800"/>
            <a:ext cx="2032000" cy="5950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6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= THI - 0.5 CMI - 0.5 OAI</a:t>
            </a:r>
            <a:endParaRPr lang="zh-CN" altLang="en-US" sz="1600" b="1">
              <a:solidFill>
                <a:srgbClr val="663D8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1DEB9B-8B0D-105A-E06F-A1EB1A5CFD93}"/>
              </a:ext>
            </a:extLst>
          </p:cNvPr>
          <p:cNvSpPr txBox="1"/>
          <p:nvPr/>
        </p:nvSpPr>
        <p:spPr>
          <a:xfrm>
            <a:off x="9017000" y="5384800"/>
            <a:ext cx="20320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28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28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衡量旅游热度相对文化基础的偏离。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CD897B1-DF80-0624-1EA6-64487908AB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C566B3E-601A-BCCD-59C5-9A22B7696487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自定义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2026-06-03T12:49:39Z</dcterms:created>
  <dcterms:modified xsi:type="dcterms:W3CDTF">2026-06-03T12:49:39Z</dcterms:modified>
</cp:coreProperties>
</file>