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C45EF6-98AA-4F8D-BB03-8869852A1E7E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C890B-17ED-4BCF-BF89-8C568C332B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6168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945B52-DF97-274F-CFE0-25B00F1299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F42DF96-BDBC-9AAA-3B12-310D7F864C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4FB25E-6303-9CAF-A303-09946A9FE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7497E-AD99-45C1-AC1B-B1118408167D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B3B507-3F31-F213-0DF4-09E8B6349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574A3E-A4C2-B23D-9D37-C621DADF2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C0200-628F-45A3-A1C9-312CD9E42D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2769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F77EBC-4EEB-120F-75D8-565A2F824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B674DA-41A4-820A-B1D9-6777EDE74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F60F5B-42D6-DCAE-5003-94850B191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7497E-AD99-45C1-AC1B-B1118408167D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787629-6E99-D633-DFB5-D88901112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B14852-4BC8-F0AC-C9D8-35142C4B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C0200-628F-45A3-A1C9-312CD9E42D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548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4AFFAD-C240-5129-6362-8179FB59D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F47790-58D9-202C-9055-484CE0AA7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03D69F-9ECC-C3FC-C9C0-EAB30F2A7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7497E-AD99-45C1-AC1B-B1118408167D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32219A-946A-0425-5C90-1B48BF6BA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02919C-C56B-C599-CB73-38F13BB70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C0200-628F-45A3-A1C9-312CD9E42D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8220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47A661-A3E8-55F0-C33D-912157EB5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373698-F1C8-04E7-1611-F3C8DFE4F5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981446F-4622-E8E5-7F6F-01A8FE546A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ACDED0-6E83-5A7F-A400-DCD8EBD04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7497E-AD99-45C1-AC1B-B1118408167D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9F48A9-296C-9A39-800D-D0A80996D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A7F4730-E21F-EDFC-3A77-095387445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C0200-628F-45A3-A1C9-312CD9E42D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0558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8F26F4-90F0-0D35-1CAD-8B49F8D6A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D47B95-8BC8-81B8-564B-8C3C6CC7A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B7303FA-AA62-0C76-8392-4ED1247BD4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427AB21-9203-4DBC-673E-D97D762429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5FE62C0-D275-DC95-710A-6FDD1D8FFC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162C762-0573-F52B-854F-7557A0844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7497E-AD99-45C1-AC1B-B1118408167D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0A344B8-C557-D59A-0549-183D4DC5D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26AD55B-1C23-1E77-02E1-145A2F0C3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C0200-628F-45A3-A1C9-312CD9E42D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1481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18F18A-6852-8F7D-5DCD-44A38D0D8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0D5E543-9E2F-02F1-7100-85E74E96C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7497E-AD99-45C1-AC1B-B1118408167D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1D12183-46E8-3BAE-4D3D-B4E66AFCF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3F1C6FB-8710-0F75-D1FC-98C8C0C80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C0200-628F-45A3-A1C9-312CD9E42D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6721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9FF0CC9-FA38-ACF8-B5B1-D228D2FB9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7497E-AD99-45C1-AC1B-B1118408167D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8A7C9AD-891E-E56D-CB4C-770F9EBC0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0B70CC-016B-A707-CAD2-C469EA3EA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C0200-628F-45A3-A1C9-312CD9E42D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616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BBCEC9-1C85-DD48-28C7-FED4F6A9C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60755B-6AF1-72B1-26BD-4242F06F6D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3F51D4D-F15A-215B-3C03-E480D875DA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1CD9007-6822-FE37-68A2-BBE5B9F19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7497E-AD99-45C1-AC1B-B1118408167D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81459B-7442-E3FF-92FB-6DDCC46C1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1E0E8E3-A9BE-C51D-A084-DC9A59456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C0200-628F-45A3-A1C9-312CD9E42D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5841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DCB7FE-EC94-D11E-1787-DC6E569D8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644AD3B-D7BD-8903-5141-708500C360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D39A62A-642D-2845-4E9A-2DE5309A0D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9429FC-A02C-1688-ED07-648E53347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7497E-AD99-45C1-AC1B-B1118408167D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DC0374-7970-B5A3-F848-6606F02BF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8405B8-60FF-3CEF-F0CA-72260EC34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C0200-628F-45A3-A1C9-312CD9E42D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5333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15AA4C-351E-41A0-6449-16D76B61E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CDA4D43-7AB7-3474-5986-F2F89A68D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0BC411-114D-651C-B7B4-C176B732D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7497E-AD99-45C1-AC1B-B1118408167D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66D76E-20F5-CF97-6B3B-B32F54FBF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6ACC51-B33E-20C1-9401-C4311578C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C0200-628F-45A3-A1C9-312CD9E42D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2279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5E87412-4154-7377-EC0B-E5F4C2BDC1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EB04AD5-90E5-2CCC-B81A-881038466B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D37D68-7A01-9047-A49F-F4A8B67FB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7497E-AD99-45C1-AC1B-B1118408167D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1D0790-1401-FA56-7248-F4D2FC1EE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30D490-90F2-E90F-2439-C70DC24B9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C0200-628F-45A3-A1C9-312CD9E42D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546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0586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E4BA36F-9D99-CB25-352F-BBFCF4255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9162E0-F808-68BF-70B8-06E3E30047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3CF249-7E86-3DE9-C787-1278E89AAF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97497E-AD99-45C1-AC1B-B1118408167D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B54508-18E8-FAC3-8061-9CCBE0EA3D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8163B1-068A-44F0-1DCD-D8AC0D2002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FC0200-628F-45A3-A1C9-312CD9E42D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8932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132DDB1-7A26-406B-A31C-E2B7A58EC9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03584DC-1465-4FC8-943F-F607DBEA6169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78130" y="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4C18070-636E-4B5A-9024-5935E78866E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终版论文第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章
              </a:t>
            </a:r>
            <a:endParaRPr sz="850" dirty="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993D70-DDB6-4989-893D-DDA22F99C794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FE3D34-1F12-4BE1-B46B-3404F4C59604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3066006" cy="106001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5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目录</a:t>
            </a:r>
            <a:endParaRPr lang="en-US" altLang="zh-CN" sz="58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2D1ADB1-2960-4A9B-B98F-EFBCFE7DDEEE}"/>
              </a:ext>
            </a:extLst>
          </p:cNvPr>
          <p:cNvSpPr>
            <a:spLocks noGrp="1"/>
          </p:cNvSpPr>
          <p:nvPr/>
        </p:nvSpPr>
        <p:spPr>
          <a:xfrm>
            <a:off x="708503" y="4267853"/>
            <a:ext cx="2583493" cy="54566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050" b="0">
                <a:solidFill>
                  <a:srgbClr val="E9E1F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从开题</a:t>
            </a:r>
            <a:r>
              <a:rPr lang="en-US" altLang="zh-CN" sz="105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/</a:t>
            </a:r>
            <a:r>
              <a:rPr lang="zh-CN" altLang="en-US" sz="105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中期的双谱系问题出发，沿数据处理、结果诊断和规划转译逐步展开。
              </a:t>
            </a:r>
            <a:endParaRPr sz="105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11E3E44-7BBF-4037-A618-13369A1C21D7}"/>
              </a:ext>
            </a:extLst>
          </p:cNvPr>
          <p:cNvSpPr>
            <a:spLocks noGrp="1"/>
          </p:cNvSpPr>
          <p:nvPr/>
        </p:nvSpPr>
        <p:spPr>
          <a:xfrm>
            <a:off x="4602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研究回顾</a:t>
            </a:r>
            <a:endParaRPr sz="13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E4A3BBF-C3F1-4263-9ED4-6B548E071B3A}"/>
              </a:ext>
            </a:extLst>
          </p:cNvPr>
          <p:cNvSpPr>
            <a:spLocks noGrp="1"/>
          </p:cNvSpPr>
          <p:nvPr/>
        </p:nvSpPr>
        <p:spPr>
          <a:xfrm>
            <a:off x="4602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开题背景与中期问题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FBFC87D-3BA6-4385-8230-4D4CB17A0C0E}"/>
              </a:ext>
            </a:extLst>
          </p:cNvPr>
          <p:cNvSpPr>
            <a:spLocks noGrp="1"/>
          </p:cNvSpPr>
          <p:nvPr/>
        </p:nvSpPr>
        <p:spPr>
          <a:xfrm>
            <a:off x="6126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数据方法</a:t>
            </a:r>
            <a:endParaRPr sz="13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4323C5C-4F73-4F9A-B92E-4921DD09F8AA}"/>
              </a:ext>
            </a:extLst>
          </p:cNvPr>
          <p:cNvSpPr>
            <a:spLocks noGrp="1"/>
          </p:cNvSpPr>
          <p:nvPr/>
        </p:nvSpPr>
        <p:spPr>
          <a:xfrm>
            <a:off x="6126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OCR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、评论与指数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76C46B8-CC2B-4F43-9990-11D990B487C4}"/>
              </a:ext>
            </a:extLst>
          </p:cNvPr>
          <p:cNvSpPr>
            <a:spLocks noGrp="1"/>
          </p:cNvSpPr>
          <p:nvPr/>
        </p:nvSpPr>
        <p:spPr>
          <a:xfrm>
            <a:off x="7650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</a:t>
            </a:r>
            <a:endParaRPr sz="13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8AAE0EC-6D4E-4102-8103-8252F7D15B36}"/>
              </a:ext>
            </a:extLst>
          </p:cNvPr>
          <p:cNvSpPr>
            <a:spLocks noGrp="1"/>
          </p:cNvSpPr>
          <p:nvPr/>
        </p:nvSpPr>
        <p:spPr>
          <a:xfrm>
            <a:off x="7650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载体分层与空间格局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8871438-59E7-4045-A027-0F9A6AF4971D}"/>
              </a:ext>
            </a:extLst>
          </p:cNvPr>
          <p:cNvSpPr>
            <a:spLocks noGrp="1"/>
          </p:cNvSpPr>
          <p:nvPr/>
        </p:nvSpPr>
        <p:spPr>
          <a:xfrm>
            <a:off x="9174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规划转译</a:t>
            </a:r>
            <a:endParaRPr sz="13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3D8258F-31C3-4276-95B7-2D630754A280}"/>
              </a:ext>
            </a:extLst>
          </p:cNvPr>
          <p:cNvSpPr>
            <a:spLocks noGrp="1"/>
          </p:cNvSpPr>
          <p:nvPr/>
        </p:nvSpPr>
        <p:spPr>
          <a:xfrm>
            <a:off x="9174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分区策略与研究边界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B62457C-4F7C-468F-83CB-C93D4B536474}"/>
              </a:ext>
            </a:extLst>
          </p:cNvPr>
          <p:cNvSpPr>
            <a:spLocks noGrp="1"/>
          </p:cNvSpPr>
          <p:nvPr/>
        </p:nvSpPr>
        <p:spPr>
          <a:xfrm>
            <a:off x="5030778" y="5941158"/>
            <a:ext cx="4667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6DAC28E-8B0D-4BD3-BEFC-05CF6F43FCA4}"/>
              </a:ext>
            </a:extLst>
          </p:cNvPr>
          <p:cNvSpPr>
            <a:spLocks noGrp="1"/>
          </p:cNvSpPr>
          <p:nvPr/>
        </p:nvSpPr>
        <p:spPr>
          <a:xfrm>
            <a:off x="4602153" y="4769583"/>
            <a:ext cx="4953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35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• 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不是证明南海「有文化」，而是判断文化资源如何被旅游空间看见、承接和转化。</a:t>
            </a:r>
            <a:endParaRPr sz="1500" dirty="0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7104B45-0FCF-DFB4-3A4F-F386F459A2B2}"/>
              </a:ext>
            </a:extLst>
          </p:cNvPr>
          <p:cNvSpPr txBox="1"/>
          <p:nvPr/>
        </p:nvSpPr>
        <p:spPr>
          <a:xfrm>
            <a:off x="419100" y="2668280"/>
            <a:ext cx="3257289" cy="743793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defRPr sz="2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45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CONTENT</a:t>
            </a:r>
            <a:endParaRPr lang="zh-CN" altLang="en-US" sz="45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47" name="Text 0">
            <a:extLst>
              <a:ext uri="{FF2B5EF4-FFF2-40B4-BE49-F238E27FC236}">
                <a16:creationId xmlns:a16="http://schemas.microsoft.com/office/drawing/2014/main" id="{B8BA803D-B542-98C7-AB43-17F107C0F834}"/>
              </a:ext>
            </a:extLst>
          </p:cNvPr>
          <p:cNvSpPr/>
          <p:nvPr/>
        </p:nvSpPr>
        <p:spPr>
          <a:xfrm>
            <a:off x="4569677" y="1206742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01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" name="Text 1">
            <a:extLst>
              <a:ext uri="{FF2B5EF4-FFF2-40B4-BE49-F238E27FC236}">
                <a16:creationId xmlns:a16="http://schemas.microsoft.com/office/drawing/2014/main" id="{8EAF7C4B-61B7-79B9-D92E-F2768BB0A864}"/>
              </a:ext>
            </a:extLst>
          </p:cNvPr>
          <p:cNvSpPr/>
          <p:nvPr/>
        </p:nvSpPr>
        <p:spPr>
          <a:xfrm>
            <a:off x="4569677" y="2046834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02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Text 2">
            <a:extLst>
              <a:ext uri="{FF2B5EF4-FFF2-40B4-BE49-F238E27FC236}">
                <a16:creationId xmlns:a16="http://schemas.microsoft.com/office/drawing/2014/main" id="{1319A0C2-A040-D354-411F-3B57B2D8B4CE}"/>
              </a:ext>
            </a:extLst>
          </p:cNvPr>
          <p:cNvSpPr/>
          <p:nvPr/>
        </p:nvSpPr>
        <p:spPr>
          <a:xfrm>
            <a:off x="4569677" y="2886929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03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4CB49BA7-8BD3-C877-04BD-89B11344607E}"/>
              </a:ext>
            </a:extLst>
          </p:cNvPr>
          <p:cNvSpPr/>
          <p:nvPr/>
        </p:nvSpPr>
        <p:spPr>
          <a:xfrm>
            <a:off x="4569677" y="3727022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04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5F561089-AE37-EDA3-DFC3-02F1FF9B9C93}"/>
              </a:ext>
            </a:extLst>
          </p:cNvPr>
          <p:cNvSpPr/>
          <p:nvPr/>
        </p:nvSpPr>
        <p:spPr>
          <a:xfrm>
            <a:off x="5150141" y="2067355"/>
            <a:ext cx="4377413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第二部分：数据基础与处理方法</a:t>
            </a:r>
            <a:endParaRPr lang="zh-CN" altLang="en-US" sz="23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9" name="Text 6">
            <a:extLst>
              <a:ext uri="{FF2B5EF4-FFF2-40B4-BE49-F238E27FC236}">
                <a16:creationId xmlns:a16="http://schemas.microsoft.com/office/drawing/2014/main" id="{471FACF7-4FB8-36CC-BDE7-F072455C7EBD}"/>
              </a:ext>
            </a:extLst>
          </p:cNvPr>
          <p:cNvSpPr/>
          <p:nvPr/>
        </p:nvSpPr>
        <p:spPr>
          <a:xfrm>
            <a:off x="5140943" y="1227260"/>
            <a:ext cx="4386613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第一部分：研究回顾与问题收束</a:t>
            </a:r>
            <a:endParaRPr lang="en-US" sz="23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DE2442D3-1163-A3C3-01AA-885AEAA9332E}"/>
              </a:ext>
            </a:extLst>
          </p:cNvPr>
          <p:cNvSpPr/>
          <p:nvPr/>
        </p:nvSpPr>
        <p:spPr>
          <a:xfrm>
            <a:off x="5140943" y="2907447"/>
            <a:ext cx="4414210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第三部分：结果诊断与空间格局</a:t>
            </a:r>
            <a:endParaRPr lang="zh-CN" altLang="en-US" sz="23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EB2B1419-679A-98AA-1016-5B16FF8ECCB4}"/>
              </a:ext>
            </a:extLst>
          </p:cNvPr>
          <p:cNvSpPr/>
          <p:nvPr/>
        </p:nvSpPr>
        <p:spPr>
          <a:xfrm>
            <a:off x="5140943" y="3747540"/>
            <a:ext cx="4386613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第四部分：规划转译与结论边界</a:t>
            </a:r>
            <a:endParaRPr lang="zh-CN" altLang="en-US" sz="23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8097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</Words>
  <Application>Microsoft Office PowerPoint</Application>
  <PresentationFormat>自定义</PresentationFormat>
  <Paragraphs>22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2026-06-03T12:49:37Z</dcterms:created>
  <dcterms:modified xsi:type="dcterms:W3CDTF">2026-06-03T12:49:37Z</dcterms:modified>
</cp:coreProperties>
</file>