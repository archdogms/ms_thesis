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73785A-F90A-D229-C34E-583E896C0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12E6D5-B95C-D44F-F3A6-17BBDD40A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28A6FE-C652-5874-A4F5-AA9B8C3E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B3807B-CDB3-592F-E083-B22D9629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476D12-24FC-3D95-668F-AB60A967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3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1F74E-22AD-9022-5851-8DFE8CB7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6EC30F-A227-C39A-4E95-279545C6D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65BA55-7899-9CBF-0421-62E590E0A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06A38-51B9-DD32-2875-C411F354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F1BFD-D5E4-FBDB-77C6-54F9F240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48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C5509-1D0A-5CC6-609C-A5AA192B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D5A8C0-1F7E-24C7-7213-7CAD30596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72929B-4889-F050-DBD3-2F9AB6D0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2DDF0-C61A-0ED4-243F-9864576A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F2CAD1-C8D5-0A27-F4C0-4534A5C0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482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33031-4AA2-4436-3097-3577854FC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3E63A-49FF-B366-6EFC-15B9D88EA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892300-09C4-3DBF-1BEA-BA4008C93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091407-F178-4D18-72FC-9C973AC77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5C577C-D883-D8E6-6B59-81323695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F79631-EA4C-2219-997D-4168FC75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594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AFDEE-31A1-2992-1508-6A8EB3E62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091D2C-29BC-3D5D-7870-F47C059EF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C16112-389F-5F25-BABE-14F568FD2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F082AA-B371-1DB8-5EBA-496A97DE6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096762-93EB-35B5-B973-AF26F4DB3D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EE797C-5336-3380-9132-4709C447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940960-AD8D-5A6B-3E2B-64C94FD1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A17BEF1-796A-CF99-539D-32ED3033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81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5C6FB-69A3-A70C-BC60-1A7636DF0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A6601A-9417-8E8C-F9BD-EA951851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F36A52-E546-A936-3653-6B6269AB3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499DD6-71C8-AE7D-9F75-54F7B3F7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624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1B8386-E43C-4BCF-6A9B-BC4B3A94F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B89024-E752-FCAE-8BAF-2BF42E50A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D74240-61D0-445B-6A5F-8DF22FB4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32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9CF5B-FDFA-A6B4-EDE0-F554C841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BCD120-3FCF-775D-2BB3-A2144DCEF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879E2C-DB86-00DF-A395-272F8957A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353208-670E-F945-4CAA-47FAC08F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001850-7635-676D-FB25-C1691C627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A87699-4A70-5B48-D499-E90AB509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739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2DA2C-C21C-E9A8-30CA-435ADA74B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8F8FAF-FF9B-7C5D-C397-0667978E7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FBAC2F-22DA-1136-7FC7-441E70905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5F2814-D5B2-23C2-66E7-1936F938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A2C404-E05E-0360-098D-BA75E9023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D73718-48C2-1D0F-13C2-70C639CD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292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119572-44CE-BEB6-6D48-8E08EC94B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9FC778-E566-0D7F-D432-52DA9E8C7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390644-6216-E148-5ED0-7EED9B90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04A42D-8F9A-1A6C-41B8-D93B97C60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7E7B7-B66D-AA53-1D5A-66B67BF2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182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EAF3C6-5811-559E-5BBF-5E7DB71B74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4ABDFD-5E53-622E-7C6A-41E440915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5A45A7-DBFE-6EB0-ACF2-F1FCF321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ED2255-2478-7C89-81B0-CD263779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4A151F-1F7C-48A5-CEFD-604B3D6C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57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0AEEA6-C26B-FBFB-18CA-A5ECDDF6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F499CA-080D-A589-841D-402962F6C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633F54-7A7B-14A0-D524-7D7AF835FB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6E10C-8E89-4A49-9FA9-0CCBEC0B84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43711C-3095-56B9-A9E0-2626C6977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FEA910-F3FF-6400-D837-A86C7CB7B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B29E-8FE2-4759-BA5A-F85B00EF5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834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53FC2E9-6EA6-F4ED-EFE3-75FC897422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6EC5B1-B5A8-90C5-6309-CF4D609157D0}"/>
              </a:ext>
            </a:extLst>
          </p:cNvPr>
          <p:cNvSpPr txBox="1"/>
          <p:nvPr/>
        </p:nvSpPr>
        <p:spPr>
          <a:xfrm>
            <a:off x="571500" y="177800"/>
            <a:ext cx="685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C1E154-7A5E-C23C-334A-811FABA5D770}"/>
              </a:ext>
            </a:extLst>
          </p:cNvPr>
          <p:cNvSpPr txBox="1"/>
          <p:nvPr/>
        </p:nvSpPr>
        <p:spPr>
          <a:xfrm>
            <a:off x="590550" y="55245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研究定位：已有研究与本研究作用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47CF17-4B53-5F5B-6722-C653D1AB2DAB}"/>
              </a:ext>
            </a:extLst>
          </p:cNvPr>
          <p:cNvSpPr txBox="1"/>
          <p:nvPr/>
        </p:nvSpPr>
        <p:spPr>
          <a:xfrm>
            <a:off x="889000" y="1168400"/>
            <a:ext cx="10414000" cy="2385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从文旅融合评价、旅游空间大数据与遗产活化研究出发，本研究把问题收束到南海区内部的文化</a:t>
            </a:r>
            <a:r>
              <a:rPr lang="en-US" altLang="zh-CN" sz="15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5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旅游错位识别。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A27C99C-F235-D973-849F-430916621146}"/>
              </a:ext>
            </a:extLst>
          </p:cNvPr>
          <p:cNvSpPr/>
          <p:nvPr/>
        </p:nvSpPr>
        <p:spPr>
          <a:xfrm>
            <a:off x="889000" y="1905000"/>
            <a:ext cx="3111500" cy="27686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3E8C815-E2B2-52F9-9853-5CAE56D7E6DF}"/>
              </a:ext>
            </a:extLst>
          </p:cNvPr>
          <p:cNvSpPr/>
          <p:nvPr/>
        </p:nvSpPr>
        <p:spPr>
          <a:xfrm>
            <a:off x="1117600" y="2146300"/>
            <a:ext cx="558800" cy="558800"/>
          </a:xfrm>
          <a:prstGeom prst="ellipse">
            <a:avLst/>
          </a:prstGeom>
          <a:solidFill>
            <a:srgbClr val="5C3D85"/>
          </a:solidFill>
          <a:ln>
            <a:solidFill>
              <a:srgbClr val="5C3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A25569-17A3-1DCE-ABF8-D86260B4519C}"/>
              </a:ext>
            </a:extLst>
          </p:cNvPr>
          <p:cNvSpPr txBox="1"/>
          <p:nvPr/>
        </p:nvSpPr>
        <p:spPr>
          <a:xfrm>
            <a:off x="1219200" y="22860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5609E2-42BD-4125-C831-2F75A9324907}"/>
              </a:ext>
            </a:extLst>
          </p:cNvPr>
          <p:cNvSpPr txBox="1"/>
          <p:nvPr/>
        </p:nvSpPr>
        <p:spPr>
          <a:xfrm>
            <a:off x="1879600" y="2159000"/>
            <a:ext cx="165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已有研究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4FC2F6-8BF9-66CF-2FBC-FD3E216D273A}"/>
              </a:ext>
            </a:extLst>
          </p:cNvPr>
          <p:cNvSpPr txBox="1"/>
          <p:nvPr/>
        </p:nvSpPr>
        <p:spPr>
          <a:xfrm>
            <a:off x="1168400" y="2844800"/>
            <a:ext cx="2552700" cy="113877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文旅融合研究多从区域协调度、产业耦合和资源开发效率展开。</a:t>
            </a:r>
            <a:r>
              <a:rPr lang="en-US" altLang="zh-CN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、网络评论与知识图谱方法，为识别旅游供给和文化线索提供了数据基础。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AD003BE-FEDE-FC22-5BE0-A43A81A67F0B}"/>
              </a:ext>
            </a:extLst>
          </p:cNvPr>
          <p:cNvSpPr/>
          <p:nvPr/>
        </p:nvSpPr>
        <p:spPr>
          <a:xfrm>
            <a:off x="4508500" y="1905000"/>
            <a:ext cx="3111500" cy="27686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8C32CBB-C45D-0144-05B7-6A84B30A6DBA}"/>
              </a:ext>
            </a:extLst>
          </p:cNvPr>
          <p:cNvSpPr/>
          <p:nvPr/>
        </p:nvSpPr>
        <p:spPr>
          <a:xfrm>
            <a:off x="4737100" y="2146300"/>
            <a:ext cx="558800" cy="558800"/>
          </a:xfrm>
          <a:prstGeom prst="ellipse">
            <a:avLst/>
          </a:prstGeom>
          <a:solidFill>
            <a:srgbClr val="BC8328"/>
          </a:solidFill>
          <a:ln>
            <a:solidFill>
              <a:srgbClr val="BC83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359A3A-6817-9E8F-1B59-910E7DFAAE01}"/>
              </a:ext>
            </a:extLst>
          </p:cNvPr>
          <p:cNvSpPr txBox="1"/>
          <p:nvPr/>
        </p:nvSpPr>
        <p:spPr>
          <a:xfrm>
            <a:off x="4838700" y="22860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667F4B-7131-CF1C-D52E-0AB3CECEF7C2}"/>
              </a:ext>
            </a:extLst>
          </p:cNvPr>
          <p:cNvSpPr txBox="1"/>
          <p:nvPr/>
        </p:nvSpPr>
        <p:spPr>
          <a:xfrm>
            <a:off x="5499100" y="2159000"/>
            <a:ext cx="165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主要不足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64D6D1-CEF3-A7C5-CE7F-BF1D79BBC2A1}"/>
              </a:ext>
            </a:extLst>
          </p:cNvPr>
          <p:cNvSpPr txBox="1"/>
          <p:nvPr/>
        </p:nvSpPr>
        <p:spPr>
          <a:xfrm>
            <a:off x="4787900" y="2844800"/>
            <a:ext cx="2552700" cy="113877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现有研究常停留在省域、城市群或宏观评价层面，难以解释区县内部哪些文化资源被游客感知、哪些仍停留在文本或名录中。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095A525-01D2-6B7F-F855-E1E9D8011FB7}"/>
              </a:ext>
            </a:extLst>
          </p:cNvPr>
          <p:cNvSpPr/>
          <p:nvPr/>
        </p:nvSpPr>
        <p:spPr>
          <a:xfrm>
            <a:off x="8128000" y="1905000"/>
            <a:ext cx="3111500" cy="27686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F8DDFE5-DCB6-E674-10DB-388D8E2C7013}"/>
              </a:ext>
            </a:extLst>
          </p:cNvPr>
          <p:cNvSpPr/>
          <p:nvPr/>
        </p:nvSpPr>
        <p:spPr>
          <a:xfrm>
            <a:off x="8356600" y="2146300"/>
            <a:ext cx="558800" cy="558800"/>
          </a:xfrm>
          <a:prstGeom prst="ellipse">
            <a:avLst/>
          </a:prstGeom>
          <a:solidFill>
            <a:srgbClr val="228F78"/>
          </a:solidFill>
          <a:ln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303B4E8-1127-AA8F-F2C7-46851BEB8690}"/>
              </a:ext>
            </a:extLst>
          </p:cNvPr>
          <p:cNvSpPr txBox="1"/>
          <p:nvPr/>
        </p:nvSpPr>
        <p:spPr>
          <a:xfrm>
            <a:off x="8458200" y="22860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751F4B-57A0-AFC9-7F81-8933D524C774}"/>
              </a:ext>
            </a:extLst>
          </p:cNvPr>
          <p:cNvSpPr txBox="1"/>
          <p:nvPr/>
        </p:nvSpPr>
        <p:spPr>
          <a:xfrm>
            <a:off x="9118600" y="2159000"/>
            <a:ext cx="165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本研究切入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85FDC4-B103-E6EA-0883-1C1280353C9C}"/>
              </a:ext>
            </a:extLst>
          </p:cNvPr>
          <p:cNvSpPr txBox="1"/>
          <p:nvPr/>
        </p:nvSpPr>
        <p:spPr>
          <a:xfrm>
            <a:off x="8407400" y="2844800"/>
            <a:ext cx="2552700" cy="113877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以佛山市南海区七镇街为对象，将典籍文献中的文化记忆、景区</a:t>
            </a:r>
            <a:r>
              <a:rPr lang="en-US" altLang="zh-CN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/POI</a:t>
            </a:r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与评论热度放到同一空间口径，识别错位类型和转化重点。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55C1A86-6C7E-7D0A-B4B8-040FC7EEA749}"/>
              </a:ext>
            </a:extLst>
          </p:cNvPr>
          <p:cNvCxnSpPr/>
          <p:nvPr/>
        </p:nvCxnSpPr>
        <p:spPr>
          <a:xfrm>
            <a:off x="4013200" y="3263900"/>
            <a:ext cx="457200" cy="0"/>
          </a:xfrm>
          <a:prstGeom prst="line">
            <a:avLst/>
          </a:prstGeom>
          <a:ln w="19050">
            <a:solidFill>
              <a:srgbClr val="D9DD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FCE023F-82C6-001C-538F-8B23AB5D31DC}"/>
              </a:ext>
            </a:extLst>
          </p:cNvPr>
          <p:cNvCxnSpPr/>
          <p:nvPr/>
        </p:nvCxnSpPr>
        <p:spPr>
          <a:xfrm>
            <a:off x="7632700" y="3263900"/>
            <a:ext cx="457200" cy="0"/>
          </a:xfrm>
          <a:prstGeom prst="line">
            <a:avLst/>
          </a:prstGeom>
          <a:ln w="19050">
            <a:solidFill>
              <a:srgbClr val="D9DD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522F505-30A1-7484-D811-5849956F1667}"/>
              </a:ext>
            </a:extLst>
          </p:cNvPr>
          <p:cNvSpPr/>
          <p:nvPr/>
        </p:nvSpPr>
        <p:spPr>
          <a:xfrm>
            <a:off x="1117600" y="5016500"/>
            <a:ext cx="9956800" cy="889000"/>
          </a:xfrm>
          <a:prstGeom prst="roundRect">
            <a:avLst>
              <a:gd name="adj" fmla="val 10000"/>
            </a:avLst>
          </a:prstGeom>
          <a:solidFill>
            <a:srgbClr val="FAF8FD"/>
          </a:solidFill>
          <a:ln w="15240">
            <a:solidFill>
              <a:srgbClr val="E3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7968F22-4567-726B-D9F1-19827D45B4D5}"/>
              </a:ext>
            </a:extLst>
          </p:cNvPr>
          <p:cNvSpPr txBox="1"/>
          <p:nvPr/>
        </p:nvSpPr>
        <p:spPr>
          <a:xfrm>
            <a:off x="1422400" y="5245100"/>
            <a:ext cx="12700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研究作用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FE27983-B292-0BE7-1565-8CD311E42511}"/>
              </a:ext>
            </a:extLst>
          </p:cNvPr>
          <p:cNvSpPr txBox="1"/>
          <p:nvPr/>
        </p:nvSpPr>
        <p:spPr>
          <a:xfrm>
            <a:off x="2743200" y="5194300"/>
            <a:ext cx="7874000" cy="4678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2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不是再做一个泛泛的文旅融合排名，而是回答：文化资源在哪里、游客实际到哪里、两者在哪些载体上耦合或错位，从而为景区更新、村落活化和游线组织提供依据。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2C835CF-BB77-14E6-2451-3F07F10C305A}"/>
              </a:ext>
            </a:extLst>
          </p:cNvPr>
          <p:cNvSpPr txBox="1"/>
          <p:nvPr/>
        </p:nvSpPr>
        <p:spPr>
          <a:xfrm>
            <a:off x="889000" y="6451600"/>
            <a:ext cx="5461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论文依据：第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 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2.1—2.5 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文献综述与研究述评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E8F9F5C-9422-5312-CDE5-D9F4CED8D354}"/>
              </a:ext>
            </a:extLst>
          </p:cNvPr>
          <p:cNvSpPr txBox="1"/>
          <p:nvPr/>
        </p:nvSpPr>
        <p:spPr>
          <a:xfrm>
            <a:off x="8667750" y="6496050"/>
            <a:ext cx="24765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孟帅 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本科毕业设计答辩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FA1991-2B47-9B25-043A-E63E6567126B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1934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自定义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2026-06-03T12:49:37Z</dcterms:created>
  <dcterms:modified xsi:type="dcterms:W3CDTF">2026-06-03T12:49:37Z</dcterms:modified>
</cp:coreProperties>
</file>