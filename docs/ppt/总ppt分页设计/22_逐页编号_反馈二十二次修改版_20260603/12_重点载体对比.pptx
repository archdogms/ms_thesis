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FEED-CD30-4BE7-8652-8B07074A961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22B5-9E0F-4F91-9071-9264C32D8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19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171C4-EFB1-5D94-2C4E-3EEA526C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D97377-D3B7-69F7-5402-CEB1641D2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65F79-F32C-9B18-0BAD-17DC3AEF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D88E2-ABB8-5006-7695-1451931E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2395B-D0C1-C2E6-2C83-1948E24A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59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28FA6-8DC2-9BD2-E3EB-E6E3FD25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7DD52-65E2-4CBA-9DEC-B454458E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14FCF4-458B-CB63-A10C-5A6AD3DE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71DB3E-B665-5A7F-8826-557C803C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2CA3A-E712-7021-0B4B-3D3C04AD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94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AC516-A9C0-D58E-ABE4-38F0C136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FD18C6-0E01-534A-811D-3E34CECAD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38B32-AA16-A1B3-45D2-6529D882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E60D4-E384-3DCD-FEBE-66CDB133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90694-6782-41BD-1B6B-22036409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02B9D-681F-0171-C0B0-A2D1600B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764AC-D9E1-0935-21AD-D5D5B2E90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E06C77-990B-5B9B-7A6C-07B4422C1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50DA27-6DC0-D5AF-F928-B803A7A3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5CF92D-C6C8-8A31-9F33-5818B123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91174D-5F99-656C-DE21-91E3CAFC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07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C4F214-7275-4243-FD17-DB976E8B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7844D-B478-4A06-C5FE-BBAC1F545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DE5DB9-6C24-43AE-5EFE-F5C8B511C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FD5E44-F388-0D37-E55C-B54568D91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290F3-0984-EFA6-8659-80AA4B2F3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DB00B3-693D-797A-F314-CCEB02E8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C521A7-4751-0C2D-70B4-D3202BF2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675724-8DD4-83A3-A2B3-71639473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037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D16F3-99FB-D93B-12CD-76EA96DB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7359F-AC87-52CC-2AF0-DE083495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E8808E-C339-48D6-B6D3-132448DD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D278C9-90BE-DCC5-9F81-5892E4FF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66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3FBD82-0871-A214-B9B0-1B9867A1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A2BBB7-4CC9-5851-AED8-2EFE5776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20EA5A-D4CA-E2FE-F04A-7313893C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00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5B1FD-FC39-355F-83E2-F5894656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A47C67-3788-1E95-6CAA-9F85E4FD5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84E384-6B00-60A0-25D8-896F0C2A2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DDC8E9-601C-F1E5-C804-1D6AD491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67A693-E061-9780-7CA8-E507B7A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234BCF-1D47-2206-2ED8-479EBABC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20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4F981-5758-3A14-2B8A-DD5C67F7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8DBE0A-61FC-9C6D-A64A-6A62CDC92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5CD6F0-D0FE-A62D-B776-72EB3D01A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C5F78D-7368-2469-FFF0-9D20AB300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77EADC-D9E3-0476-532F-4EB3C7D5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A9BECD-1D04-419A-67C7-6DA8579A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AEFD0-B9FA-4A76-102D-796877EA2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DDA960-2FDE-6152-A50F-CC045D03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55C2B-194D-C8A7-DA17-3C49EC5B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2891AC-F8A2-98D9-B4C1-1F1E71DD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4EAAB-F715-139E-CDA5-9E5E4B02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03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09E1A6-24A8-5861-1A6B-993E87A94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DC01B2-A55A-EBC9-07C7-9082F1E60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1F20C1-DCB7-3E25-EE4F-01DD5C84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8DAD2-9C36-9A48-791E-B83A21F40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9DDD78-B8BA-F591-AEE4-181E5845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866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65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5A9A33-4B6C-1979-C4D9-E720B5FE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92F0F7-681D-4AB6-E218-28667319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92E51-409B-A937-67AA-451E84AE4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28900-C31D-4980-8D35-F78A1C78998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995B9E-139E-0A1C-FA16-EBBD3788C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7C090-5EC0-D50A-8ADB-FB2845D2E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06E17-0FD9-4175-A06B-5BC00104B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34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C90100E-33C3-D3A7-C6AB-7BF7650243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6EF9FB-4085-1360-9C33-3C8C3360E49C}"/>
              </a:ext>
            </a:extLst>
          </p:cNvPr>
          <p:cNvSpPr txBox="1"/>
          <p:nvPr/>
        </p:nvSpPr>
        <p:spPr>
          <a:xfrm>
            <a:off x="571500" y="177800"/>
            <a:ext cx="685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D5C903-0951-14F4-E617-204B08F3CFBC}"/>
              </a:ext>
            </a:extLst>
          </p:cNvPr>
          <p:cNvSpPr txBox="1"/>
          <p:nvPr/>
        </p:nvSpPr>
        <p:spPr>
          <a:xfrm>
            <a:off x="590550" y="55245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重点载体对比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9A504E-A910-1AA8-272B-C1E1AABEE793}"/>
              </a:ext>
            </a:extLst>
          </p:cNvPr>
          <p:cNvSpPr txBox="1"/>
          <p:nvPr/>
        </p:nvSpPr>
        <p:spPr>
          <a:xfrm>
            <a:off x="889000" y="1168400"/>
            <a:ext cx="10414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核心耦合代表文化基础与旅游承接相对匹配；沉睡潜力代表文化基础较强但旅游承接偏弱。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757740-39EA-AE50-61FA-BF3F593D8F7B}"/>
              </a:ext>
            </a:extLst>
          </p:cNvPr>
          <p:cNvSpPr/>
          <p:nvPr/>
        </p:nvSpPr>
        <p:spPr>
          <a:xfrm>
            <a:off x="609600" y="1574800"/>
            <a:ext cx="6248400" cy="419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DC90823-EC99-28B6-6F51-B8EF6C8852F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1701800"/>
            <a:ext cx="5969000" cy="37338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BE8453F-41D0-3BA4-FF7D-C2BE57B4B8F5}"/>
              </a:ext>
            </a:extLst>
          </p:cNvPr>
          <p:cNvSpPr txBox="1"/>
          <p:nvPr/>
        </p:nvSpPr>
        <p:spPr>
          <a:xfrm>
            <a:off x="838200" y="5473700"/>
            <a:ext cx="5715000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图中灰点为</a:t>
            </a:r>
            <a:r>
              <a:rPr lang="en-US" altLang="zh-CN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条核心文化载体；绿色星标为核心耦合区，红色三角为沉睡潜力</a:t>
            </a:r>
            <a:r>
              <a:rPr lang="en-US" altLang="zh-CN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Top10</a:t>
            </a:r>
            <a:r>
              <a:rPr lang="zh-CN" altLang="en-US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ABABFE-1FA9-E6A6-9FDE-D9508739B983}"/>
              </a:ext>
            </a:extLst>
          </p:cNvPr>
          <p:cNvSpPr/>
          <p:nvPr/>
        </p:nvSpPr>
        <p:spPr>
          <a:xfrm>
            <a:off x="7137400" y="1574800"/>
            <a:ext cx="4191000" cy="1879600"/>
          </a:xfrm>
          <a:prstGeom prst="roundRect">
            <a:avLst>
              <a:gd name="adj" fmla="val 10000"/>
            </a:avLst>
          </a:prstGeom>
          <a:solidFill>
            <a:srgbClr val="F8FCFA"/>
          </a:solidFill>
          <a:ln w="15240">
            <a:solidFill>
              <a:srgbClr val="CF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BFB112-E1B7-A720-688C-8937CF63A154}"/>
              </a:ext>
            </a:extLst>
          </p:cNvPr>
          <p:cNvSpPr txBox="1"/>
          <p:nvPr/>
        </p:nvSpPr>
        <p:spPr>
          <a:xfrm>
            <a:off x="7416800" y="1790700"/>
            <a:ext cx="2667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核心耦合区 </a:t>
            </a:r>
            <a:r>
              <a:rPr lang="en-US" altLang="zh-CN" sz="165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65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DF5E2A-3637-D30E-0DDA-F4946696D925}"/>
              </a:ext>
            </a:extLst>
          </p:cNvPr>
          <p:cNvSpPr txBox="1"/>
          <p:nvPr/>
        </p:nvSpPr>
        <p:spPr>
          <a:xfrm>
            <a:off x="7429500" y="217170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C1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云泉仙馆｜西樵｜热度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77.78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E2E09C-BCDA-159A-CB41-32E100FC1E97}"/>
              </a:ext>
            </a:extLst>
          </p:cNvPr>
          <p:cNvSpPr txBox="1"/>
          <p:nvPr/>
        </p:nvSpPr>
        <p:spPr>
          <a:xfrm>
            <a:off x="7429500" y="240665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C2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西樵山百步云梯｜西樵｜热度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66.51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AB2863-050A-3402-B483-08113A2C718D}"/>
              </a:ext>
            </a:extLst>
          </p:cNvPr>
          <p:cNvSpPr txBox="1"/>
          <p:nvPr/>
        </p:nvSpPr>
        <p:spPr>
          <a:xfrm>
            <a:off x="7429500" y="264160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C3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九江吴家大院｜九江｜热度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66.04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F1B38EF-1A4F-0805-4A5A-C3570326ACF3}"/>
              </a:ext>
            </a:extLst>
          </p:cNvPr>
          <p:cNvSpPr txBox="1"/>
          <p:nvPr/>
        </p:nvSpPr>
        <p:spPr>
          <a:xfrm>
            <a:off x="7429500" y="287655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西樵山抗战纪念碑｜西樵｜热度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65.58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20B54DF-4B1A-071D-D5B4-053618505ADD}"/>
              </a:ext>
            </a:extLst>
          </p:cNvPr>
          <p:cNvSpPr txBox="1"/>
          <p:nvPr/>
        </p:nvSpPr>
        <p:spPr>
          <a:xfrm>
            <a:off x="7429500" y="311150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C5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平洲传统玉器制作技艺｜桂城｜热度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56.63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8E38039-02B3-7BC1-3954-0B70324F131B}"/>
              </a:ext>
            </a:extLst>
          </p:cNvPr>
          <p:cNvSpPr/>
          <p:nvPr/>
        </p:nvSpPr>
        <p:spPr>
          <a:xfrm>
            <a:off x="7137400" y="3708400"/>
            <a:ext cx="4191000" cy="2057400"/>
          </a:xfrm>
          <a:prstGeom prst="roundRect">
            <a:avLst>
              <a:gd name="adj" fmla="val 10000"/>
            </a:avLst>
          </a:prstGeom>
          <a:solidFill>
            <a:srgbClr val="FDFAFA"/>
          </a:solidFill>
          <a:ln w="15240">
            <a:solidFill>
              <a:srgbClr val="EBD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FDCB5D-4A5D-A16C-1037-E7144A814886}"/>
              </a:ext>
            </a:extLst>
          </p:cNvPr>
          <p:cNvSpPr txBox="1"/>
          <p:nvPr/>
        </p:nvSpPr>
        <p:spPr>
          <a:xfrm>
            <a:off x="7416800" y="3924300"/>
            <a:ext cx="2667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BF48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650" b="1">
                <a:solidFill>
                  <a:srgbClr val="BF48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Top10</a:t>
            </a:r>
            <a:endParaRPr lang="zh-CN" altLang="en-US" sz="1650" b="1">
              <a:solidFill>
                <a:srgbClr val="BF48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3ECCF43-2B54-9A9A-10D1-19F96A7D5E1B}"/>
              </a:ext>
            </a:extLst>
          </p:cNvPr>
          <p:cNvSpPr txBox="1"/>
          <p:nvPr/>
        </p:nvSpPr>
        <p:spPr>
          <a:xfrm>
            <a:off x="7429500" y="43180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松塘村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-85.72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BD6A16-A465-FF7A-4DF1-806D811C4EBC}"/>
              </a:ext>
            </a:extLst>
          </p:cNvPr>
          <p:cNvSpPr txBox="1"/>
          <p:nvPr/>
        </p:nvSpPr>
        <p:spPr>
          <a:xfrm>
            <a:off x="9296400" y="43180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S6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棋盘村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-72.99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276F7FC-8F75-B268-48D0-BA83F80C4C78}"/>
              </a:ext>
            </a:extLst>
          </p:cNvPr>
          <p:cNvSpPr txBox="1"/>
          <p:nvPr/>
        </p:nvSpPr>
        <p:spPr>
          <a:xfrm>
            <a:off x="7429500" y="45656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S2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烟桥烟南村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-85.16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011BD5D-6EF3-4AD2-4E13-7ADFC2AB5D9F}"/>
              </a:ext>
            </a:extLst>
          </p:cNvPr>
          <p:cNvSpPr txBox="1"/>
          <p:nvPr/>
        </p:nvSpPr>
        <p:spPr>
          <a:xfrm>
            <a:off x="9296400" y="45656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S7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烟桥村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-72.79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A5C730E-633F-F906-FF29-87B25AEDDAFD}"/>
              </a:ext>
            </a:extLst>
          </p:cNvPr>
          <p:cNvSpPr txBox="1"/>
          <p:nvPr/>
        </p:nvSpPr>
        <p:spPr>
          <a:xfrm>
            <a:off x="7429500" y="48133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S3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仙岗社区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-80.20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B160E6C-E60A-9305-5BC7-39395BD10829}"/>
              </a:ext>
            </a:extLst>
          </p:cNvPr>
          <p:cNvSpPr txBox="1"/>
          <p:nvPr/>
        </p:nvSpPr>
        <p:spPr>
          <a:xfrm>
            <a:off x="9296400" y="48133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S8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百西村头村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-70.86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D772732-51E6-9FEC-FDDA-32C614200B5F}"/>
              </a:ext>
            </a:extLst>
          </p:cNvPr>
          <p:cNvSpPr txBox="1"/>
          <p:nvPr/>
        </p:nvSpPr>
        <p:spPr>
          <a:xfrm>
            <a:off x="7429500" y="50609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S4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九江传统龙舟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-76.55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6D4B961-9F6D-16E7-108D-5ED2248A68F8}"/>
              </a:ext>
            </a:extLst>
          </p:cNvPr>
          <p:cNvSpPr txBox="1"/>
          <p:nvPr/>
        </p:nvSpPr>
        <p:spPr>
          <a:xfrm>
            <a:off x="9296400" y="50609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S9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仙岗村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-68.26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07EBAF3-BB2A-226B-9597-7984CAEFE7F7}"/>
              </a:ext>
            </a:extLst>
          </p:cNvPr>
          <p:cNvSpPr txBox="1"/>
          <p:nvPr/>
        </p:nvSpPr>
        <p:spPr>
          <a:xfrm>
            <a:off x="7429500" y="53086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S5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南沙棋盘村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-72.99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CDD8C1C-F6AA-A455-2EA8-3BEC12563664}"/>
              </a:ext>
            </a:extLst>
          </p:cNvPr>
          <p:cNvSpPr txBox="1"/>
          <p:nvPr/>
        </p:nvSpPr>
        <p:spPr>
          <a:xfrm>
            <a:off x="9296400" y="53086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S10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康有为故居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-51.76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9353F1-5FD3-7729-E143-7A032D8559ED}"/>
              </a:ext>
            </a:extLst>
          </p:cNvPr>
          <p:cNvSpPr txBox="1"/>
          <p:nvPr/>
        </p:nvSpPr>
        <p:spPr>
          <a:xfrm>
            <a:off x="889000" y="5994400"/>
            <a:ext cx="9779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含义：西樵、九江、丹灶的传统村落与非遗线索较集中，但需要补足到达、展示、解说和活动运营。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6A0187D-AF8A-62FB-3E4B-3B1636CF30F8}"/>
              </a:ext>
            </a:extLst>
          </p:cNvPr>
          <p:cNvSpPr txBox="1"/>
          <p:nvPr/>
        </p:nvSpPr>
        <p:spPr>
          <a:xfrm>
            <a:off x="889000" y="6451600"/>
            <a:ext cx="6604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output/tables/indices_anchors.csv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；地图为本次按论文指标结果重新绘制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1491AA4-9307-F960-E40F-627EFDCD90BC}"/>
              </a:ext>
            </a:extLst>
          </p:cNvPr>
          <p:cNvSpPr txBox="1"/>
          <p:nvPr/>
        </p:nvSpPr>
        <p:spPr>
          <a:xfrm>
            <a:off x="8667750" y="649605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孟帅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本科毕业设计答辩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E928C69-53E7-C7F0-2D91-602FB50E9796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自定义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2026-06-03T12:49:41Z</dcterms:created>
  <dcterms:modified xsi:type="dcterms:W3CDTF">2026-06-03T12:49:41Z</dcterms:modified>
</cp:coreProperties>
</file>