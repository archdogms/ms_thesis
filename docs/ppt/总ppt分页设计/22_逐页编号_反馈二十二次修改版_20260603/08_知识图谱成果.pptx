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560F9-FC26-431C-86B8-0E6AAED77AA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2CBE1-F452-40B7-ADE6-1045A1C9B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72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EB622-7F9D-D423-8940-8897BC432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E5F225-39EB-4811-87B1-A74DDC83D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C13164-620A-1213-67BB-5659684D1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7EE3F-C192-4C35-94DD-E449958712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F6A9BD-E250-BBFF-E8F5-FDD16DDA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ACB982-6D43-4555-34F8-432FC0F7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FCC4-4C33-41E5-A057-86EE17B14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987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570824-3670-574C-326C-A4AE3A8EE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18A0E4-E7A9-B602-6BCB-8B48610C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55CC0E-656D-DC8A-733B-016389B7A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7EE3F-C192-4C35-94DD-E449958712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8A091-9AEE-3E32-D009-A7B38104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7EFC7E-71B9-DB18-C091-041AE9787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FCC4-4C33-41E5-A057-86EE17B14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488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A23370-8CCC-9B4F-37DD-2243D942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C88BEE-5894-2E5A-15EC-3B895A28E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1C201-761F-D5B1-5627-8CFC55A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7EE3F-C192-4C35-94DD-E449958712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903061-D971-7F4B-88AF-EC708B2F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CD4185-E166-33E1-02BF-AB88745D0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FCC4-4C33-41E5-A057-86EE17B14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174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01CF7E-949E-3494-BDBE-9C6F3003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CDAC3B-5802-2513-0C3A-0113D9A50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985724-85D8-F434-3A9F-EC637D0BE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B787EB-5B9D-96D1-BB61-DF10C380F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7EE3F-C192-4C35-94DD-E449958712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1937C5-DEA3-2B7E-F350-01DFDDD45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90180B-C848-C68A-E966-3DA426626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FCC4-4C33-41E5-A057-86EE17B14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965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EA95C-9D93-D2C1-593F-E05AF43B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A7B26B-38A9-2B4D-1063-5DB964A53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2AE3BA-09B0-A98F-30F4-B613C1FF3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00F2CF-144C-A466-C057-3A456E5DC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345253-0335-AC25-933E-2EC628872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716B99-B498-15EC-A7BC-3B25491F0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7EE3F-C192-4C35-94DD-E449958712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8347A36-22B7-FCAF-5A8D-4FC39EBB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DCB0F0-3560-548F-A1DD-41116796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FCC4-4C33-41E5-A057-86EE17B14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901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D07CC-79E8-B710-1FB0-4D3EB65AD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2E5A7C-D5B2-C425-8C39-C6DEFC212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7EE3F-C192-4C35-94DD-E449958712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2E53E5-F5EA-3319-8A4F-C82AD1D03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D0F300-DC10-0168-47FE-886E195A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FCC4-4C33-41E5-A057-86EE17B14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579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5F7541-6F5B-4932-2545-B8DA406DD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7EE3F-C192-4C35-94DD-E449958712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A5DAB6-E803-C6CB-82E2-3BC834E24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BCA570-7EC3-B816-CB36-0FADD2A03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FCC4-4C33-41E5-A057-86EE17B14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22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64ED6-2841-256B-FAD7-F70C482A9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DCDE4B-9D86-5393-2157-181CC3A20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F24D99-D640-CFF6-2A20-36C1186A3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481EBE-EC0C-5AB5-312C-CFAF08980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7EE3F-C192-4C35-94DD-E449958712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96AD3E-5A59-F55D-1253-459054B7F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46E284-B704-05B8-8625-0E14BC57B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FCC4-4C33-41E5-A057-86EE17B14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07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BE5394-1053-33D4-9C19-4FB8C443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98F6A6-3495-09C5-FA62-EE2B92EF5A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0A692B-651C-9124-B34B-BB681F171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E6358E-48C1-D90C-541F-F0F9774A3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7EE3F-C192-4C35-94DD-E449958712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6A93D2-6900-81DD-57E9-D4738765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7D46C5-1B58-FBAD-A3EA-F86573BC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FCC4-4C33-41E5-A057-86EE17B14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055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3F2D3-5705-CD56-8DBA-E9339856C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CC951C-98B9-F866-4B74-4C73EB104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B38D04-BC7C-BF7F-F264-2F715A047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7EE3F-C192-4C35-94DD-E449958712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F93160-D88F-D0ED-CCD8-23009C76F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8C41D8-66E2-7C42-42E1-194470CDD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FCC4-4C33-41E5-A057-86EE17B14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296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6B4593-FF0B-4BB3-37B0-575485B77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0FD0A7-AF58-9B39-8F3D-C63021489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3C9E72-CACC-8E92-67AB-1CE11A12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7EE3F-C192-4C35-94DD-E449958712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E01F92-35B2-9857-254D-6CEC5381E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374DCC-CF2A-DBDC-ACFF-FCAE89D2D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7FCC4-4C33-41E5-A057-86EE17B14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085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49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3C6948-D698-36C0-B84D-78641466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A8CDC1-BA55-C40B-D63A-26D136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C64ECC-0923-ED75-5DC0-35C5D05C2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7EE3F-C192-4C35-94DD-E449958712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4DFE13-25C5-4C1A-5199-C2E69DEF2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9D343F-87BD-D01B-B68E-00BC24FBD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7FCC4-4C33-41E5-A057-86EE17B14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29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 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章、图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4.1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4.2</a:t>
            </a:r>
            <a:endParaRPr sz="850">
              <a:solidFill>
                <a:srgbClr val="60606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知识图谱成果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知识图谱成果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293016-541A-A174-D3AB-B22605168165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知识图谱是本研究的文化记忆计算层：它把文本中的人物、地点、技艺、文献和事件关系转成可追溯网络。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1185D01-A9CE-071F-0457-6C0EFC34F8FB}"/>
              </a:ext>
            </a:extLst>
          </p:cNvPr>
          <p:cNvSpPr/>
          <p:nvPr/>
        </p:nvSpPr>
        <p:spPr>
          <a:xfrm>
            <a:off x="889000" y="1752600"/>
            <a:ext cx="5270500" cy="419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B9BA9E-575E-CB7E-09CA-8CEA765478DE}"/>
              </a:ext>
            </a:extLst>
          </p:cNvPr>
          <p:cNvSpPr txBox="1"/>
          <p:nvPr/>
        </p:nvSpPr>
        <p:spPr>
          <a:xfrm>
            <a:off x="1092200" y="5549900"/>
            <a:ext cx="48641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0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120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4.2  </a:t>
            </a:r>
            <a:r>
              <a:rPr lang="zh-CN" altLang="en-US" sz="120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FACD101-34D8-818F-9143-823CB22D1A3A}"/>
              </a:ext>
            </a:extLst>
          </p:cNvPr>
          <p:cNvSpPr/>
          <p:nvPr/>
        </p:nvSpPr>
        <p:spPr>
          <a:xfrm>
            <a:off x="6604000" y="1752600"/>
            <a:ext cx="4699000" cy="11684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617961-DFD6-B506-8536-1EBDD063328D}"/>
              </a:ext>
            </a:extLst>
          </p:cNvPr>
          <p:cNvSpPr txBox="1"/>
          <p:nvPr/>
        </p:nvSpPr>
        <p:spPr>
          <a:xfrm>
            <a:off x="68834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</a:t>
            </a:r>
            <a:endParaRPr lang="zh-CN" altLang="en-US" sz="2300" b="1">
              <a:solidFill>
                <a:srgbClr val="663D8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DD7E6F6-59BB-FC21-74B1-06C567079D1D}"/>
              </a:ext>
            </a:extLst>
          </p:cNvPr>
          <p:cNvCxnSpPr/>
          <p:nvPr/>
        </p:nvCxnSpPr>
        <p:spPr>
          <a:xfrm>
            <a:off x="6883400" y="2425700"/>
            <a:ext cx="1168400" cy="0"/>
          </a:xfrm>
          <a:prstGeom prst="line">
            <a:avLst/>
          </a:prstGeom>
          <a:ln w="12700">
            <a:solidFill>
              <a:srgbClr val="663D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040538F-4E96-9323-518E-3A18935CAA65}"/>
              </a:ext>
            </a:extLst>
          </p:cNvPr>
          <p:cNvSpPr txBox="1"/>
          <p:nvPr/>
        </p:nvSpPr>
        <p:spPr>
          <a:xfrm>
            <a:off x="68834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7B4B17-75EA-D319-6CAB-6C0186CC4DD2}"/>
              </a:ext>
            </a:extLst>
          </p:cNvPr>
          <p:cNvSpPr txBox="1"/>
          <p:nvPr/>
        </p:nvSpPr>
        <p:spPr>
          <a:xfrm>
            <a:off x="83185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227E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19,382</a:t>
            </a:r>
            <a:endParaRPr lang="zh-CN" altLang="en-US" sz="2300" b="1">
              <a:solidFill>
                <a:srgbClr val="227E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B698C73-9FAA-F6E3-DCED-BBCE7511B46F}"/>
              </a:ext>
            </a:extLst>
          </p:cNvPr>
          <p:cNvCxnSpPr/>
          <p:nvPr/>
        </p:nvCxnSpPr>
        <p:spPr>
          <a:xfrm>
            <a:off x="8318500" y="2425700"/>
            <a:ext cx="1168400" cy="0"/>
          </a:xfrm>
          <a:prstGeom prst="line">
            <a:avLst/>
          </a:prstGeom>
          <a:ln w="12700">
            <a:solidFill>
              <a:srgbClr val="227E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EEE10ED-048E-2126-3AFD-790E889B98D2}"/>
              </a:ext>
            </a:extLst>
          </p:cNvPr>
          <p:cNvSpPr txBox="1"/>
          <p:nvPr/>
        </p:nvSpPr>
        <p:spPr>
          <a:xfrm>
            <a:off x="83185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4B5113-EC67-DFE9-F3E1-99DFA467D6BE}"/>
              </a:ext>
            </a:extLst>
          </p:cNvPr>
          <p:cNvSpPr txBox="1"/>
          <p:nvPr/>
        </p:nvSpPr>
        <p:spPr>
          <a:xfrm>
            <a:off x="100330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BE89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575</a:t>
            </a:r>
            <a:endParaRPr lang="zh-CN" altLang="en-US" sz="2300" b="1">
              <a:solidFill>
                <a:srgbClr val="BE892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B8FB928-FDAC-F46B-30DD-A2CC5960D9C7}"/>
              </a:ext>
            </a:extLst>
          </p:cNvPr>
          <p:cNvCxnSpPr/>
          <p:nvPr/>
        </p:nvCxnSpPr>
        <p:spPr>
          <a:xfrm>
            <a:off x="10033000" y="2425700"/>
            <a:ext cx="1168400" cy="0"/>
          </a:xfrm>
          <a:prstGeom prst="line">
            <a:avLst/>
          </a:prstGeom>
          <a:ln w="12700">
            <a:solidFill>
              <a:srgbClr val="BE89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695BB75-8D4A-4E05-931C-63B69BF0FE5E}"/>
              </a:ext>
            </a:extLst>
          </p:cNvPr>
          <p:cNvSpPr txBox="1"/>
          <p:nvPr/>
        </p:nvSpPr>
        <p:spPr>
          <a:xfrm>
            <a:off x="100330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空间落位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B632A19-F8BD-7EFD-1B85-9D74848923FF}"/>
              </a:ext>
            </a:extLst>
          </p:cNvPr>
          <p:cNvSpPr/>
          <p:nvPr/>
        </p:nvSpPr>
        <p:spPr>
          <a:xfrm>
            <a:off x="6604000" y="3632200"/>
            <a:ext cx="4699000" cy="2311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WhiteBG Knowledge Graph Global">
            <a:extLst>
              <a:ext uri="{FF2B5EF4-FFF2-40B4-BE49-F238E27FC236}">
                <a16:creationId xmlns:a16="http://schemas.microsoft.com/office/drawing/2014/main" id="{A2D7C589-0666-B12C-9E84-5CF6C33CA0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495" y="1928317"/>
            <a:ext cx="4467505" cy="362158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70105F8-D4C5-8B9B-3575-C7B9A52E337B}"/>
              </a:ext>
            </a:extLst>
          </p:cNvPr>
          <p:cNvSpPr txBox="1"/>
          <p:nvPr/>
        </p:nvSpPr>
        <p:spPr>
          <a:xfrm>
            <a:off x="6604000" y="3200400"/>
            <a:ext cx="457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实体分类：</a:t>
            </a:r>
            <a:r>
              <a:rPr lang="en-US" altLang="zh-CN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 </a:t>
            </a:r>
            <a:r>
              <a:rPr lang="en-US" altLang="zh-CN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28</a:t>
            </a:r>
            <a:r>
              <a:rPr lang="zh-CN" altLang="en-US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F6918AC-4EB1-5B07-E9FF-B33ACB3ECEBA}"/>
              </a:ext>
            </a:extLst>
          </p:cNvPr>
          <p:cNvSpPr txBox="1"/>
          <p:nvPr/>
        </p:nvSpPr>
        <p:spPr>
          <a:xfrm>
            <a:off x="6604000" y="3556000"/>
            <a:ext cx="4572000" cy="24365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2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分级标签 </a:t>
            </a:r>
            <a:r>
              <a:rPr lang="en-US" altLang="zh-CN" sz="12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2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官方分类标签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FC362C2-F765-7B1A-9D24-66CD00075C5A}"/>
              </a:ext>
            </a:extLst>
          </p:cNvPr>
          <p:cNvSpPr txBox="1"/>
          <p:nvPr/>
        </p:nvSpPr>
        <p:spPr>
          <a:xfrm>
            <a:off x="6756400" y="3911600"/>
            <a:ext cx="1422400" cy="24365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非遗文化（</a:t>
            </a:r>
            <a:r>
              <a:rPr lang="en-US" altLang="zh-CN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C7DCAFB-1483-8B38-32AC-E6FFBE19EE8F}"/>
              </a:ext>
            </a:extLst>
          </p:cNvPr>
          <p:cNvSpPr txBox="1"/>
          <p:nvPr/>
        </p:nvSpPr>
        <p:spPr>
          <a:xfrm>
            <a:off x="8255000" y="3911600"/>
            <a:ext cx="27686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表演艺术、传统技艺、民俗节庆等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B3B8F89-9EC5-F9B2-1829-7A84C5CD6D4D}"/>
              </a:ext>
            </a:extLst>
          </p:cNvPr>
          <p:cNvCxnSpPr/>
          <p:nvPr/>
        </p:nvCxnSpPr>
        <p:spPr>
          <a:xfrm>
            <a:off x="6756400" y="4203700"/>
            <a:ext cx="4267200" cy="0"/>
          </a:xfrm>
          <a:prstGeom prst="line">
            <a:avLst/>
          </a:prstGeom>
          <a:ln w="9525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50126C7C-0309-8DC0-5474-052267AA348A}"/>
              </a:ext>
            </a:extLst>
          </p:cNvPr>
          <p:cNvSpPr txBox="1"/>
          <p:nvPr/>
        </p:nvSpPr>
        <p:spPr>
          <a:xfrm>
            <a:off x="6756400" y="4229100"/>
            <a:ext cx="1422400" cy="24365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</a:t>
            </a:r>
            <a:r>
              <a:rPr lang="zh-CN" altLang="en-US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物质遗产（</a:t>
            </a:r>
            <a:r>
              <a:rPr lang="en-US" altLang="zh-CN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4698BF2-6421-2470-E9B3-032CBA9D8AB8}"/>
              </a:ext>
            </a:extLst>
          </p:cNvPr>
          <p:cNvSpPr txBox="1"/>
          <p:nvPr/>
        </p:nvSpPr>
        <p:spPr>
          <a:xfrm>
            <a:off x="8255000" y="4229100"/>
            <a:ext cx="27686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古建筑、名人故居、古遗址等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584A0C2-B079-0E27-D08A-573CE2D7E85C}"/>
              </a:ext>
            </a:extLst>
          </p:cNvPr>
          <p:cNvCxnSpPr/>
          <p:nvPr/>
        </p:nvCxnSpPr>
        <p:spPr>
          <a:xfrm>
            <a:off x="6756400" y="4521200"/>
            <a:ext cx="4267200" cy="0"/>
          </a:xfrm>
          <a:prstGeom prst="line">
            <a:avLst/>
          </a:prstGeom>
          <a:ln w="9525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CCC47EED-7D4A-2304-9DEC-33F0428F3558}"/>
              </a:ext>
            </a:extLst>
          </p:cNvPr>
          <p:cNvSpPr txBox="1"/>
          <p:nvPr/>
        </p:nvSpPr>
        <p:spPr>
          <a:xfrm>
            <a:off x="6756400" y="4546600"/>
            <a:ext cx="1422400" cy="24365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 </a:t>
            </a:r>
            <a:r>
              <a:rPr lang="zh-CN" altLang="en-US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传承主体（</a:t>
            </a:r>
            <a:r>
              <a:rPr lang="en-US" altLang="zh-CN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2225827-4DC7-F194-AF1D-B3B818FA23D1}"/>
              </a:ext>
            </a:extLst>
          </p:cNvPr>
          <p:cNvSpPr txBox="1"/>
          <p:nvPr/>
        </p:nvSpPr>
        <p:spPr>
          <a:xfrm>
            <a:off x="8255000" y="4546600"/>
            <a:ext cx="27686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历史人物、传承人、宗族社群等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F8D5E15-D94F-F610-AF5C-EC5191A24BCE}"/>
              </a:ext>
            </a:extLst>
          </p:cNvPr>
          <p:cNvCxnSpPr/>
          <p:nvPr/>
        </p:nvCxnSpPr>
        <p:spPr>
          <a:xfrm>
            <a:off x="6756400" y="4838700"/>
            <a:ext cx="4267200" cy="0"/>
          </a:xfrm>
          <a:prstGeom prst="line">
            <a:avLst/>
          </a:prstGeom>
          <a:ln w="9525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602FA74E-ADC6-FF11-B91C-BB91A6FE2AB0}"/>
              </a:ext>
            </a:extLst>
          </p:cNvPr>
          <p:cNvSpPr txBox="1"/>
          <p:nvPr/>
        </p:nvSpPr>
        <p:spPr>
          <a:xfrm>
            <a:off x="6756400" y="4864100"/>
            <a:ext cx="1422400" cy="24365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 </a:t>
            </a:r>
            <a:r>
              <a:rPr lang="zh-CN" altLang="en-US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文化空间（</a:t>
            </a:r>
            <a:r>
              <a:rPr lang="en-US" altLang="zh-CN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F491F54-9D2A-C8A1-8C93-C9F97C78496B}"/>
              </a:ext>
            </a:extLst>
          </p:cNvPr>
          <p:cNvSpPr txBox="1"/>
          <p:nvPr/>
        </p:nvSpPr>
        <p:spPr>
          <a:xfrm>
            <a:off x="8255000" y="4864100"/>
            <a:ext cx="27686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山川水系、镇街圩市、历史街区等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9C09680-52E8-1290-A64E-38AC88E05537}"/>
              </a:ext>
            </a:extLst>
          </p:cNvPr>
          <p:cNvCxnSpPr/>
          <p:nvPr/>
        </p:nvCxnSpPr>
        <p:spPr>
          <a:xfrm>
            <a:off x="6756400" y="5156200"/>
            <a:ext cx="4267200" cy="0"/>
          </a:xfrm>
          <a:prstGeom prst="line">
            <a:avLst/>
          </a:prstGeom>
          <a:ln w="9525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E3A7F194-2289-9B75-1296-761F1B3CD502}"/>
              </a:ext>
            </a:extLst>
          </p:cNvPr>
          <p:cNvSpPr txBox="1"/>
          <p:nvPr/>
        </p:nvSpPr>
        <p:spPr>
          <a:xfrm>
            <a:off x="6756400" y="5181600"/>
            <a:ext cx="1422400" cy="24365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 </a:t>
            </a:r>
            <a:r>
              <a:rPr lang="zh-CN" altLang="en-US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文献记忆（</a:t>
            </a:r>
            <a:r>
              <a:rPr lang="en-US" altLang="zh-CN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7E6633F-389B-73B4-2972-27B2CE40951D}"/>
              </a:ext>
            </a:extLst>
          </p:cNvPr>
          <p:cNvSpPr txBox="1"/>
          <p:nvPr/>
        </p:nvSpPr>
        <p:spPr>
          <a:xfrm>
            <a:off x="8255000" y="5181600"/>
            <a:ext cx="27686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地方志、族谱、碑记、文集等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CF7ADB3-0338-84AC-B6FC-F00D88540C7C}"/>
              </a:ext>
            </a:extLst>
          </p:cNvPr>
          <p:cNvCxnSpPr/>
          <p:nvPr/>
        </p:nvCxnSpPr>
        <p:spPr>
          <a:xfrm>
            <a:off x="6756400" y="5473700"/>
            <a:ext cx="4267200" cy="0"/>
          </a:xfrm>
          <a:prstGeom prst="line">
            <a:avLst/>
          </a:prstGeom>
          <a:ln w="9525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555B4351-940C-BAFC-1187-A2B3292EE410}"/>
              </a:ext>
            </a:extLst>
          </p:cNvPr>
          <p:cNvSpPr txBox="1"/>
          <p:nvPr/>
        </p:nvSpPr>
        <p:spPr>
          <a:xfrm>
            <a:off x="6756400" y="5499100"/>
            <a:ext cx="1422400" cy="24365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 </a:t>
            </a:r>
            <a:r>
              <a:rPr lang="zh-CN" altLang="en-US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历史时序（</a:t>
            </a:r>
            <a:r>
              <a:rPr lang="en-US" altLang="zh-CN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25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67A02E1-12B7-F1B4-7A5F-55A8FAAC84DB}"/>
              </a:ext>
            </a:extLst>
          </p:cNvPr>
          <p:cNvSpPr txBox="1"/>
          <p:nvPr/>
        </p:nvSpPr>
        <p:spPr>
          <a:xfrm>
            <a:off x="8255000" y="5499100"/>
            <a:ext cx="27686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朝代年号、历史事件、发展阶段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D1B80367-BC8B-04F0-FDBB-A5C0FCEEABD1}"/>
              </a:ext>
            </a:extLst>
          </p:cNvPr>
          <p:cNvCxnSpPr/>
          <p:nvPr/>
        </p:nvCxnSpPr>
        <p:spPr>
          <a:xfrm>
            <a:off x="6756400" y="5791200"/>
            <a:ext cx="4267200" cy="0"/>
          </a:xfrm>
          <a:prstGeom prst="line">
            <a:avLst/>
          </a:prstGeom>
          <a:ln w="9525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50A66F78-13E9-A9F2-7717-738E041BD1D1}"/>
              </a:ext>
            </a:extLst>
          </p:cNvPr>
          <p:cNvSpPr txBox="1"/>
          <p:nvPr/>
        </p:nvSpPr>
        <p:spPr>
          <a:xfrm>
            <a:off x="6756400" y="5829300"/>
            <a:ext cx="4267200" cy="22826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用于衔接非遗、文物、历史名镇名村与公共文化资源。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F5552741-29EC-77A1-2EEB-958041E27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878130" y="0"/>
            <a:ext cx="1149927" cy="457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B1E6A9A-2A1F-A188-AF12-B8ADB079084A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自定义</PresentationFormat>
  <Paragraphs>28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2026-06-03T12:49:39Z</dcterms:created>
  <dcterms:modified xsi:type="dcterms:W3CDTF">2026-06-03T12:49:39Z</dcterms:modified>
</cp:coreProperties>
</file>