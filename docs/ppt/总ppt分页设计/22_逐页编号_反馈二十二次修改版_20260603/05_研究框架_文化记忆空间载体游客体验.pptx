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890B0-0FC1-42CA-AA7C-59CB1D78305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28EF0-F432-473E-B184-6C9D4A30B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122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843FE-F445-B30A-C131-329B02FB6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AEB5FA-2DEE-1A5E-B2C0-9F4717CED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31F902-7D33-4FA5-669B-D76472C1C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5D24-AD33-42F4-947D-AA92D19472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D8802B-9869-DCDA-2B76-10EEDFC4D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447931-A49C-65E5-D194-F9EA0AFE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1E29-531B-436C-B5FA-D890AEFF49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10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64D47-4329-3A3E-CD9F-EADCFF0B4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983A09-8A72-C50C-E6DB-EAED7D73F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0A4B35-75C2-11E2-4116-5E70B48B6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5D24-AD33-42F4-947D-AA92D19472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5F686A-3CF5-BE82-468E-3828FD45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4219D5-861F-B6B2-9403-976259B5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1E29-531B-436C-B5FA-D890AEFF49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54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C91814-4775-9D43-30C4-D9FDF770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F452E4-BEA9-E211-54CD-A236CDE89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F6B988-C073-5B82-E2F3-1E1F7CDE4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5D24-AD33-42F4-947D-AA92D19472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D4B27C-0D74-CC75-294B-258DDFA13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6D0F11-C80C-092F-FBEC-08F92AA8D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1E29-531B-436C-B5FA-D890AEFF49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746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9B1622-E14E-5349-B5DD-D0206826C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AFC0B1-6F5B-72EB-687F-7014080DF9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B2E7F8-B07F-3219-8DFD-B852C7691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978733-3169-B1EA-8FEA-229E55FEA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5D24-AD33-42F4-947D-AA92D19472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A516E0-6504-EB39-2059-BE33FA2A7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AC9F92-239B-E48C-B0C6-5E20A6EC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1E29-531B-436C-B5FA-D890AEFF49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663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099EA-B964-5536-6D66-EB0DFC5A5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119717-DC08-8705-C8D2-7B9E0C0F0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694E81-E249-495F-B1C9-A3C73F88B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71DBC7-16F0-17A5-D2E9-F6DE1B92D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74A1F4-8946-94A0-89CA-041A5BC6C5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E240DF-B135-4CC2-D49A-C8CCABAF9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5D24-AD33-42F4-947D-AA92D19472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25882F0-5F07-0098-463E-52CD5AAA9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70C1C94-7711-4CFB-414E-5B9E599D2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1E29-531B-436C-B5FA-D890AEFF49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977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9943C-E2C3-7B28-9B8A-4383DA56F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A22FD-F52C-2A59-61D7-D67B07B52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5D24-AD33-42F4-947D-AA92D19472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BA9CAB-88C2-339D-04D3-720E0FBB3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F2D70E-ADCC-62B1-E544-FF889658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1E29-531B-436C-B5FA-D890AEFF49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689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8C8118-73BB-2055-C017-EB0B7034D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5D24-AD33-42F4-947D-AA92D19472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CB6882-C794-B8B3-2B84-9A26459F3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599757-4FC0-4DD0-FF4E-52A5AD5DC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1E29-531B-436C-B5FA-D890AEFF49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592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AB02B-6043-2D10-DB2A-96EBDB2CF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D57C6-C18B-7722-8DF8-406CF6BEB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918EC3-ADD3-E4D8-67C2-5F07BCBCE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B23B35-1DF5-2910-ED5C-5AB2A4706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5D24-AD33-42F4-947D-AA92D19472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5CEC13-4098-4F61-2B33-77547B4F3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B4CACC-5CF0-A788-D3E9-D4479DF1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1E29-531B-436C-B5FA-D890AEFF49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013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7780B-565B-560F-2962-D3057C347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FA3D45D-F954-9E25-5F21-EC8FA2529B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D7B51E-0488-DBD6-6D7B-37A1414CC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5BF0F9-1D46-6C28-E73E-8F279B6A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5D24-AD33-42F4-947D-AA92D19472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B4DD10-B3D7-76BC-A8B2-6E64D2D54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FEC42B-FF6E-09CA-0699-B3485C29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1E29-531B-436C-B5FA-D890AEFF49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583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A6144E-F320-ED40-A0F5-8D363F30C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27196A-9B2B-7777-1417-509CB370D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5185A7-BC71-C4C8-80ED-6E76DCE1D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5D24-AD33-42F4-947D-AA92D19472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67C769-9674-856E-C794-B4DDC2D07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CA6291-8C49-724E-B2F3-AD08A851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1E29-531B-436C-B5FA-D890AEFF49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213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F491FE3-11F4-01B7-8303-F94B3C71F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80B0B3-DADE-7C8F-DD15-519DF7A53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AE55D4-FA5A-B47D-5459-9FDA71A7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D5D24-AD33-42F4-947D-AA92D19472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0FA7C1-CAC2-C4BA-EF1A-54FE289B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6C9D81-3873-C441-43C2-101F1DE52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41E29-531B-436C-B5FA-D890AEFF49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725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1619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601E7E5-5FA7-0B47-B811-E1004D23B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AF72B8-8F30-5393-BF21-3C14A0C9D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AA3D9D-57D5-EA11-DA4A-7025B870A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D5D24-AD33-42F4-947D-AA92D194727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A80517-8540-51AD-DA9D-E3445B640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137630-2800-D54C-097C-2E5265ACC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41E29-531B-436C-B5FA-D890AEFF49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81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B759B26-D622-1134-8D26-EE691418EB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4F275E-FE1F-C07C-B718-FCC635EFCA21}"/>
              </a:ext>
            </a:extLst>
          </p:cNvPr>
          <p:cNvSpPr txBox="1"/>
          <p:nvPr/>
        </p:nvSpPr>
        <p:spPr>
          <a:xfrm>
            <a:off x="571500" y="177800"/>
            <a:ext cx="6858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sz="140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研究问题与逻辑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CD2DF5-7BF2-22A4-4F62-B305BF9D08C2}"/>
              </a:ext>
            </a:extLst>
          </p:cNvPr>
          <p:cNvSpPr txBox="1"/>
          <p:nvPr/>
        </p:nvSpPr>
        <p:spPr>
          <a:xfrm>
            <a:off x="590550" y="55245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研究框架：文化记忆、空间载体与游客体验如何对接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29486AA-B330-A153-34F8-E851B014BCC8}"/>
              </a:ext>
            </a:extLst>
          </p:cNvPr>
          <p:cNvSpPr txBox="1"/>
          <p:nvPr/>
        </p:nvSpPr>
        <p:spPr>
          <a:xfrm>
            <a:off x="889000" y="1168400"/>
            <a:ext cx="10414000" cy="2385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用空间载体作为中间层，把典籍中的文化记忆与真实旅游体验放到同一张底图、同一组指标中比较。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F863E1C-677B-510C-6583-B347DF0A013F}"/>
              </a:ext>
            </a:extLst>
          </p:cNvPr>
          <p:cNvSpPr/>
          <p:nvPr/>
        </p:nvSpPr>
        <p:spPr>
          <a:xfrm>
            <a:off x="889000" y="1841500"/>
            <a:ext cx="2984500" cy="2844800"/>
          </a:xfrm>
          <a:prstGeom prst="roundRect">
            <a:avLst>
              <a:gd name="adj" fmla="val 10000"/>
            </a:avLst>
          </a:prstGeom>
          <a:solidFill>
            <a:srgbClr val="F9FAFC"/>
          </a:solidFill>
          <a:ln w="15240">
            <a:solidFill>
              <a:srgbClr val="D9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91DD0FB-65F3-F65C-4BD3-52A122D88C4C}"/>
              </a:ext>
            </a:extLst>
          </p:cNvPr>
          <p:cNvSpPr/>
          <p:nvPr/>
        </p:nvSpPr>
        <p:spPr>
          <a:xfrm>
            <a:off x="1943100" y="2120900"/>
            <a:ext cx="431800" cy="584200"/>
          </a:xfrm>
          <a:prstGeom prst="rect">
            <a:avLst/>
          </a:prstGeom>
          <a:solidFill>
            <a:srgbClr val="FFFFFF"/>
          </a:solidFill>
          <a:ln w="22860">
            <a:solidFill>
              <a:srgbClr val="5C3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34F395A-181B-A2D4-3FD3-494D955E5689}"/>
              </a:ext>
            </a:extLst>
          </p:cNvPr>
          <p:cNvSpPr/>
          <p:nvPr/>
        </p:nvSpPr>
        <p:spPr>
          <a:xfrm>
            <a:off x="2374900" y="2120900"/>
            <a:ext cx="431800" cy="584200"/>
          </a:xfrm>
          <a:prstGeom prst="rect">
            <a:avLst/>
          </a:prstGeom>
          <a:solidFill>
            <a:srgbClr val="FFFFFF"/>
          </a:solidFill>
          <a:ln w="22860">
            <a:solidFill>
              <a:srgbClr val="5C3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EBC2D1D-0A89-E8AF-27F2-FCA5C32944A4}"/>
              </a:ext>
            </a:extLst>
          </p:cNvPr>
          <p:cNvCxnSpPr/>
          <p:nvPr/>
        </p:nvCxnSpPr>
        <p:spPr>
          <a:xfrm>
            <a:off x="2044700" y="2273300"/>
            <a:ext cx="241300" cy="0"/>
          </a:xfrm>
          <a:prstGeom prst="line">
            <a:avLst/>
          </a:prstGeom>
          <a:ln w="13970">
            <a:solidFill>
              <a:srgbClr val="5C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D85DF4-6EFE-A615-AF53-9B8C35B1572E}"/>
              </a:ext>
            </a:extLst>
          </p:cNvPr>
          <p:cNvCxnSpPr/>
          <p:nvPr/>
        </p:nvCxnSpPr>
        <p:spPr>
          <a:xfrm>
            <a:off x="2476500" y="2273300"/>
            <a:ext cx="241300" cy="0"/>
          </a:xfrm>
          <a:prstGeom prst="line">
            <a:avLst/>
          </a:prstGeom>
          <a:ln w="13970">
            <a:solidFill>
              <a:srgbClr val="5C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6EC482D-70A0-3A9C-9315-3404B7D7BBE7}"/>
              </a:ext>
            </a:extLst>
          </p:cNvPr>
          <p:cNvCxnSpPr/>
          <p:nvPr/>
        </p:nvCxnSpPr>
        <p:spPr>
          <a:xfrm>
            <a:off x="2044700" y="2400300"/>
            <a:ext cx="241300" cy="0"/>
          </a:xfrm>
          <a:prstGeom prst="line">
            <a:avLst/>
          </a:prstGeom>
          <a:ln w="13970">
            <a:solidFill>
              <a:srgbClr val="5C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D26202B-807C-0904-7F1F-17A74430165F}"/>
              </a:ext>
            </a:extLst>
          </p:cNvPr>
          <p:cNvCxnSpPr/>
          <p:nvPr/>
        </p:nvCxnSpPr>
        <p:spPr>
          <a:xfrm>
            <a:off x="2476500" y="2400300"/>
            <a:ext cx="241300" cy="0"/>
          </a:xfrm>
          <a:prstGeom prst="line">
            <a:avLst/>
          </a:prstGeom>
          <a:ln w="13970">
            <a:solidFill>
              <a:srgbClr val="5C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91E45FE-FCFB-514B-2AEC-3DD355E56A19}"/>
              </a:ext>
            </a:extLst>
          </p:cNvPr>
          <p:cNvCxnSpPr/>
          <p:nvPr/>
        </p:nvCxnSpPr>
        <p:spPr>
          <a:xfrm>
            <a:off x="2044700" y="2527300"/>
            <a:ext cx="241300" cy="0"/>
          </a:xfrm>
          <a:prstGeom prst="line">
            <a:avLst/>
          </a:prstGeom>
          <a:ln w="13970">
            <a:solidFill>
              <a:srgbClr val="5C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ECC0B7C-2363-4E38-330A-5839C1D7D878}"/>
              </a:ext>
            </a:extLst>
          </p:cNvPr>
          <p:cNvCxnSpPr/>
          <p:nvPr/>
        </p:nvCxnSpPr>
        <p:spPr>
          <a:xfrm>
            <a:off x="2476500" y="2527300"/>
            <a:ext cx="241300" cy="0"/>
          </a:xfrm>
          <a:prstGeom prst="line">
            <a:avLst/>
          </a:prstGeom>
          <a:ln w="13970">
            <a:solidFill>
              <a:srgbClr val="5C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6025E31-52A3-6953-F073-04840E26C947}"/>
              </a:ext>
            </a:extLst>
          </p:cNvPr>
          <p:cNvSpPr txBox="1"/>
          <p:nvPr/>
        </p:nvSpPr>
        <p:spPr>
          <a:xfrm>
            <a:off x="1244600" y="3009900"/>
            <a:ext cx="228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5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E688CC9-1FA0-82CC-FC19-7235BC1F4D09}"/>
              </a:ext>
            </a:extLst>
          </p:cNvPr>
          <p:cNvSpPr txBox="1"/>
          <p:nvPr/>
        </p:nvSpPr>
        <p:spPr>
          <a:xfrm>
            <a:off x="1181100" y="3416300"/>
            <a:ext cx="2413000" cy="1969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8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典籍文献 </a:t>
            </a:r>
            <a:r>
              <a:rPr lang="en-US" altLang="zh-CN" sz="128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8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934F304-678D-F102-291C-3AA73EB94C58}"/>
              </a:ext>
            </a:extLst>
          </p:cNvPr>
          <p:cNvSpPr txBox="1"/>
          <p:nvPr/>
        </p:nvSpPr>
        <p:spPr>
          <a:xfrm>
            <a:off x="1193800" y="3797300"/>
            <a:ext cx="2387600" cy="76328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从地方文献、典籍、人物、事件、地点和技艺关系中提取文化线索，形成文化记忆指数（</a:t>
            </a:r>
            <a:r>
              <a:rPr lang="en-US" altLang="zh-CN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</a:t>
            </a:r>
            <a:r>
              <a:rPr lang="zh-CN" altLang="en-US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）与官方认定指数（</a:t>
            </a:r>
            <a:r>
              <a:rPr lang="en-US" altLang="zh-CN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</a:t>
            </a:r>
            <a:r>
              <a:rPr lang="zh-CN" altLang="en-US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）。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EB79D05-F86F-70EF-7F17-7C17A043D8E3}"/>
              </a:ext>
            </a:extLst>
          </p:cNvPr>
          <p:cNvSpPr/>
          <p:nvPr/>
        </p:nvSpPr>
        <p:spPr>
          <a:xfrm>
            <a:off x="4603750" y="1841500"/>
            <a:ext cx="2984500" cy="2844800"/>
          </a:xfrm>
          <a:prstGeom prst="roundRect">
            <a:avLst>
              <a:gd name="adj" fmla="val 10000"/>
            </a:avLst>
          </a:prstGeom>
          <a:solidFill>
            <a:srgbClr val="F9FAFC"/>
          </a:solidFill>
          <a:ln w="15240">
            <a:solidFill>
              <a:srgbClr val="D9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40D7AD88-FBDA-A441-A89B-B86079BA8A3E}"/>
              </a:ext>
            </a:extLst>
          </p:cNvPr>
          <p:cNvSpPr/>
          <p:nvPr/>
        </p:nvSpPr>
        <p:spPr>
          <a:xfrm>
            <a:off x="5721350" y="2019300"/>
            <a:ext cx="736600" cy="736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27CA67F3-F269-A21A-B2EA-419FCE86239E}"/>
              </a:ext>
            </a:extLst>
          </p:cNvPr>
          <p:cNvSpPr/>
          <p:nvPr/>
        </p:nvSpPr>
        <p:spPr>
          <a:xfrm>
            <a:off x="5975350" y="2247900"/>
            <a:ext cx="228600" cy="228600"/>
          </a:xfrm>
          <a:prstGeom prst="ellipse">
            <a:avLst/>
          </a:prstGeom>
          <a:solidFill>
            <a:srgbClr val="336699"/>
          </a:solidFill>
          <a:ln>
            <a:solidFill>
              <a:srgbClr val="33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等腰三角形 33">
            <a:extLst>
              <a:ext uri="{FF2B5EF4-FFF2-40B4-BE49-F238E27FC236}">
                <a16:creationId xmlns:a16="http://schemas.microsoft.com/office/drawing/2014/main" id="{8A11FFBD-1FE5-3468-FBF7-55F44763D9DE}"/>
              </a:ext>
            </a:extLst>
          </p:cNvPr>
          <p:cNvSpPr/>
          <p:nvPr/>
        </p:nvSpPr>
        <p:spPr>
          <a:xfrm rot="10800000">
            <a:off x="5899150" y="2552700"/>
            <a:ext cx="381000" cy="482600"/>
          </a:xfrm>
          <a:prstGeom prst="triangle">
            <a:avLst/>
          </a:prstGeom>
          <a:solidFill>
            <a:srgbClr val="336699"/>
          </a:solidFill>
          <a:ln>
            <a:solidFill>
              <a:srgbClr val="33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DACCE60-0132-29FF-DD5D-B340D5B5CF25}"/>
              </a:ext>
            </a:extLst>
          </p:cNvPr>
          <p:cNvSpPr txBox="1"/>
          <p:nvPr/>
        </p:nvSpPr>
        <p:spPr>
          <a:xfrm>
            <a:off x="4959350" y="3009900"/>
            <a:ext cx="228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5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空间载体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8B28705-E8C4-83CC-90AC-FBB2D3F036E5}"/>
              </a:ext>
            </a:extLst>
          </p:cNvPr>
          <p:cNvSpPr txBox="1"/>
          <p:nvPr/>
        </p:nvSpPr>
        <p:spPr>
          <a:xfrm>
            <a:off x="4895850" y="3416300"/>
            <a:ext cx="2413000" cy="1969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80" b="1">
                <a:solidFill>
                  <a:srgbClr val="336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r>
              <a:rPr lang="zh-CN" altLang="en-US" sz="1280" b="1">
                <a:solidFill>
                  <a:srgbClr val="336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条核心文化载体 </a:t>
            </a:r>
            <a:r>
              <a:rPr lang="en-US" altLang="zh-CN" sz="1280" b="1">
                <a:solidFill>
                  <a:srgbClr val="336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500m</a:t>
            </a:r>
            <a:r>
              <a:rPr lang="zh-CN" altLang="en-US" sz="1280" b="1">
                <a:solidFill>
                  <a:srgbClr val="336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ECB4FA3-E446-D1E5-8F19-4B3E58E8FF4A}"/>
              </a:ext>
            </a:extLst>
          </p:cNvPr>
          <p:cNvSpPr txBox="1"/>
          <p:nvPr/>
        </p:nvSpPr>
        <p:spPr>
          <a:xfrm>
            <a:off x="4908550" y="3797300"/>
            <a:ext cx="2387600" cy="5724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以坐标明确、类型可辨、可与旅游数据匹配的文化载体为锚点，连接文化谱系与旅游谱系。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F3A9AE1B-1441-B841-3EEC-93E417FAB9F7}"/>
              </a:ext>
            </a:extLst>
          </p:cNvPr>
          <p:cNvSpPr/>
          <p:nvPr/>
        </p:nvSpPr>
        <p:spPr>
          <a:xfrm>
            <a:off x="8318500" y="1841500"/>
            <a:ext cx="2984500" cy="2844800"/>
          </a:xfrm>
          <a:prstGeom prst="roundRect">
            <a:avLst>
              <a:gd name="adj" fmla="val 10000"/>
            </a:avLst>
          </a:prstGeom>
          <a:solidFill>
            <a:srgbClr val="F9FAFC"/>
          </a:solidFill>
          <a:ln w="15240">
            <a:solidFill>
              <a:srgbClr val="D9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A8E91863-CAC6-4D1B-A92B-7B977A812C28}"/>
              </a:ext>
            </a:extLst>
          </p:cNvPr>
          <p:cNvSpPr/>
          <p:nvPr/>
        </p:nvSpPr>
        <p:spPr>
          <a:xfrm>
            <a:off x="9359900" y="2120900"/>
            <a:ext cx="914400" cy="609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228F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>
            <a:extLst>
              <a:ext uri="{FF2B5EF4-FFF2-40B4-BE49-F238E27FC236}">
                <a16:creationId xmlns:a16="http://schemas.microsoft.com/office/drawing/2014/main" id="{D5D76870-662B-D4EB-7BA6-E6014B43CC72}"/>
              </a:ext>
            </a:extLst>
          </p:cNvPr>
          <p:cNvSpPr/>
          <p:nvPr/>
        </p:nvSpPr>
        <p:spPr>
          <a:xfrm rot="10800000">
            <a:off x="9588500" y="2628900"/>
            <a:ext cx="228600" cy="254000"/>
          </a:xfrm>
          <a:prstGeom prst="triangle">
            <a:avLst/>
          </a:prstGeom>
          <a:solidFill>
            <a:srgbClr val="FFFFFF"/>
          </a:solidFill>
          <a:ln w="22860">
            <a:solidFill>
              <a:srgbClr val="228F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F91A6D9A-3FB4-DA0A-F6CE-14CDD104DC51}"/>
              </a:ext>
            </a:extLst>
          </p:cNvPr>
          <p:cNvSpPr/>
          <p:nvPr/>
        </p:nvSpPr>
        <p:spPr>
          <a:xfrm>
            <a:off x="9588500" y="2374900"/>
            <a:ext cx="76200" cy="76200"/>
          </a:xfrm>
          <a:prstGeom prst="ellipse">
            <a:avLst/>
          </a:prstGeom>
          <a:solidFill>
            <a:srgbClr val="228F78"/>
          </a:solidFill>
          <a:ln>
            <a:solidFill>
              <a:srgbClr val="228F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805830B4-A701-2D8F-1458-505E826899AE}"/>
              </a:ext>
            </a:extLst>
          </p:cNvPr>
          <p:cNvSpPr/>
          <p:nvPr/>
        </p:nvSpPr>
        <p:spPr>
          <a:xfrm>
            <a:off x="9817100" y="2374900"/>
            <a:ext cx="76200" cy="76200"/>
          </a:xfrm>
          <a:prstGeom prst="ellipse">
            <a:avLst/>
          </a:prstGeom>
          <a:solidFill>
            <a:srgbClr val="228F78"/>
          </a:solidFill>
          <a:ln>
            <a:solidFill>
              <a:srgbClr val="228F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4621975D-5BE6-3591-F7F4-CDF4DB04B2AD}"/>
              </a:ext>
            </a:extLst>
          </p:cNvPr>
          <p:cNvSpPr/>
          <p:nvPr/>
        </p:nvSpPr>
        <p:spPr>
          <a:xfrm>
            <a:off x="10045700" y="2374900"/>
            <a:ext cx="76200" cy="76200"/>
          </a:xfrm>
          <a:prstGeom prst="ellipse">
            <a:avLst/>
          </a:prstGeom>
          <a:solidFill>
            <a:srgbClr val="228F78"/>
          </a:solidFill>
          <a:ln>
            <a:solidFill>
              <a:srgbClr val="228F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3807978-AE2A-D471-94CB-09B7D25DFE46}"/>
              </a:ext>
            </a:extLst>
          </p:cNvPr>
          <p:cNvSpPr txBox="1"/>
          <p:nvPr/>
        </p:nvSpPr>
        <p:spPr>
          <a:xfrm>
            <a:off x="8674100" y="3009900"/>
            <a:ext cx="228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5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游客体验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BBFA05D-AAAF-8EE9-4EF8-D46E1F47F8B9}"/>
              </a:ext>
            </a:extLst>
          </p:cNvPr>
          <p:cNvSpPr txBox="1"/>
          <p:nvPr/>
        </p:nvSpPr>
        <p:spPr>
          <a:xfrm>
            <a:off x="8610600" y="3416300"/>
            <a:ext cx="2413000" cy="1969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80" b="1">
                <a:solidFill>
                  <a:srgbClr val="228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景区</a:t>
            </a:r>
            <a:r>
              <a:rPr lang="en-US" altLang="zh-CN" sz="1280" b="1">
                <a:solidFill>
                  <a:srgbClr val="228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/ </a:t>
            </a:r>
            <a:r>
              <a:rPr lang="zh-CN" altLang="en-US" sz="1280" b="1">
                <a:solidFill>
                  <a:srgbClr val="228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评分 </a:t>
            </a:r>
            <a:r>
              <a:rPr lang="en-US" altLang="zh-CN" sz="1280" b="1">
                <a:solidFill>
                  <a:srgbClr val="228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80" b="1">
                <a:solidFill>
                  <a:srgbClr val="228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B0462CF-A7D9-B272-B68B-B6AE1E629934}"/>
              </a:ext>
            </a:extLst>
          </p:cNvPr>
          <p:cNvSpPr txBox="1"/>
          <p:nvPr/>
        </p:nvSpPr>
        <p:spPr>
          <a:xfrm>
            <a:off x="8623300" y="3797300"/>
            <a:ext cx="2387600" cy="5724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用旅游热度指数（</a:t>
            </a:r>
            <a:r>
              <a:rPr lang="en-US" altLang="zh-CN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</a:t>
            </a:r>
            <a:r>
              <a:rPr lang="zh-CN" altLang="en-US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）描述游客到达、评分与评论强弱，避免只按资源名录判断转化效果。</a:t>
            </a: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BE9DAAB4-B5CE-DEDD-488A-81B0F0278554}"/>
              </a:ext>
            </a:extLst>
          </p:cNvPr>
          <p:cNvCxnSpPr/>
          <p:nvPr/>
        </p:nvCxnSpPr>
        <p:spPr>
          <a:xfrm>
            <a:off x="4000500" y="3149600"/>
            <a:ext cx="533400" cy="0"/>
          </a:xfrm>
          <a:prstGeom prst="line">
            <a:avLst/>
          </a:prstGeom>
          <a:ln w="19050">
            <a:solidFill>
              <a:srgbClr val="D9DD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EB16FFF5-FA53-49EB-C3F9-37BD5FCA1880}"/>
              </a:ext>
            </a:extLst>
          </p:cNvPr>
          <p:cNvCxnSpPr/>
          <p:nvPr/>
        </p:nvCxnSpPr>
        <p:spPr>
          <a:xfrm>
            <a:off x="7708900" y="3149600"/>
            <a:ext cx="546100" cy="0"/>
          </a:xfrm>
          <a:prstGeom prst="line">
            <a:avLst/>
          </a:prstGeom>
          <a:ln w="19050">
            <a:solidFill>
              <a:srgbClr val="D9DD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351C68FD-4B69-F219-398A-63FE7C8069F4}"/>
              </a:ext>
            </a:extLst>
          </p:cNvPr>
          <p:cNvSpPr/>
          <p:nvPr/>
        </p:nvSpPr>
        <p:spPr>
          <a:xfrm>
            <a:off x="1168400" y="4978400"/>
            <a:ext cx="9855200" cy="889000"/>
          </a:xfrm>
          <a:prstGeom prst="roundRect">
            <a:avLst>
              <a:gd name="adj" fmla="val 10000"/>
            </a:avLst>
          </a:prstGeom>
          <a:solidFill>
            <a:srgbClr val="FBFAF7"/>
          </a:solidFill>
          <a:ln w="15240">
            <a:solidFill>
              <a:srgbClr val="E7E0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0D042B1-4A0A-E0A6-F3D5-00BDB5601AAD}"/>
              </a:ext>
            </a:extLst>
          </p:cNvPr>
          <p:cNvSpPr txBox="1"/>
          <p:nvPr/>
        </p:nvSpPr>
        <p:spPr>
          <a:xfrm>
            <a:off x="1473200" y="5219700"/>
            <a:ext cx="13335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BC83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输出口径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D51133C-7B80-EDD5-A8CF-38B666C366A4}"/>
              </a:ext>
            </a:extLst>
          </p:cNvPr>
          <p:cNvSpPr txBox="1"/>
          <p:nvPr/>
        </p:nvSpPr>
        <p:spPr>
          <a:xfrm>
            <a:off x="2819400" y="5168900"/>
            <a:ext cx="7620000" cy="45550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错位指数（</a:t>
            </a:r>
            <a:r>
              <a:rPr lang="en-US" altLang="zh-CN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</a:t>
            </a:r>
            <a:r>
              <a:rPr lang="zh-CN" altLang="en-US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）比较文化基础与旅游热度：高匹配形成核心耦合，文化强但热度弱形成沉睡潜力，热度强但文化弱形成空心景点。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112A7C2-5695-ABC7-A22A-42FF334529F1}"/>
              </a:ext>
            </a:extLst>
          </p:cNvPr>
          <p:cNvSpPr txBox="1"/>
          <p:nvPr/>
        </p:nvSpPr>
        <p:spPr>
          <a:xfrm>
            <a:off x="889000" y="6451600"/>
            <a:ext cx="5461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论文依据：第</a:t>
            </a:r>
            <a:r>
              <a:rPr lang="en-US" altLang="zh-CN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章研究方法、第</a:t>
            </a:r>
            <a:r>
              <a:rPr lang="en-US" altLang="zh-CN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章指标计算与错位分类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721B069-F562-4705-469B-44866E0F7DE3}"/>
              </a:ext>
            </a:extLst>
          </p:cNvPr>
          <p:cNvSpPr txBox="1"/>
          <p:nvPr/>
        </p:nvSpPr>
        <p:spPr>
          <a:xfrm>
            <a:off x="8667750" y="6496050"/>
            <a:ext cx="24765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孟帅 </a:t>
            </a:r>
            <a:r>
              <a:rPr lang="en-US" altLang="zh-CN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本科毕业设计答辩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ACB25B1-BD2D-FD62-4A40-7F18444865F2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自定义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2026-06-03T12:49:38Z</dcterms:created>
  <dcterms:modified xsi:type="dcterms:W3CDTF">2026-06-03T12:49:38Z</dcterms:modified>
</cp:coreProperties>
</file>