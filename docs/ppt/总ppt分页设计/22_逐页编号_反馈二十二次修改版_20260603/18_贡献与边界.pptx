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73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A85F29-6BC2-49EE-A889-A539C2E6D642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905CAD-E3B7-491C-8055-5383E5D9CD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8508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1C40C0-5C91-3BD1-C567-2A889FBDEB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CDB2B25-2535-FD31-595A-B1127FF85D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93E253-ABFC-2897-1463-FC9B74102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C66AC-A9FC-466B-8AE6-6767ACABF0C8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08A618-7A82-CCAC-AF28-11E5E46F6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C919DB-DEE4-AEE2-3C63-B0C5E39FA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008F7-A57E-497A-A33F-A9E174E1D2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4060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6608C3-C86A-AB06-062C-80F1574B0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BEC940-36E7-C3AD-9777-59F0C79DFA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4D615A-8CBD-F670-9BD2-77D227F7B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C66AC-A9FC-466B-8AE6-6767ACABF0C8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0F76D0-F099-E999-243A-237C39FDC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E3D7F2-26B0-9830-8E3D-43D0C814B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008F7-A57E-497A-A33F-A9E174E1D2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3360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A615CF-301C-CE41-043B-127E470DB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B987FF4-7301-BA36-CF3B-9A59892F28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D2DCAA-8995-017B-A0A6-0BB4A5776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C66AC-A9FC-466B-8AE6-6767ACABF0C8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16427F-0C0D-F1F4-D281-A5581B286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34D2B6-FFD2-3C2E-13A6-9D4BAE676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008F7-A57E-497A-A33F-A9E174E1D2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6440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3EC52A-725D-51C5-CC77-E3C7350E5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97B7C0-EB5F-8AC5-7194-C110DB49B7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7725721-C1C5-5866-B530-D7FBA72DB9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893880D-912B-48B2-BD83-62D08E424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C66AC-A9FC-466B-8AE6-6767ACABF0C8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30A9635-15E3-CEC7-24FC-C1963B105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642D495-B8A0-516A-432E-2096BF643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008F7-A57E-497A-A33F-A9E174E1D2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3032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1BDD1F-6FF5-B427-8142-51C4F4346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F80D71C-FEFD-52C8-DF78-1D4C258D31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144044B-8BD7-1CE7-A7C0-197892E57B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DC25754-2D88-9F51-F0CD-41D2DE8428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4EB4AA9-838C-160A-C30C-2D731FED5D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533EC6C-0ABA-3299-5314-A7B0D8A4E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C66AC-A9FC-466B-8AE6-6767ACABF0C8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33BDCA8-E5A5-FE88-E019-021074C5E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F5813B2-C8E7-4546-DCF8-93D9F3A69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008F7-A57E-497A-A33F-A9E174E1D2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1187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212C9B-39CA-2B9E-CEE3-32C4B6267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7556C6E-EE7E-E79F-144A-23CA281DB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C66AC-A9FC-466B-8AE6-6767ACABF0C8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6DFD309-F111-9EE4-1AA8-3AF643329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660F005-63E7-43BF-93A5-C937E420B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008F7-A57E-497A-A33F-A9E174E1D2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9032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A9FFC22-9E6A-9DFF-B891-05C48846B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C66AC-A9FC-466B-8AE6-6767ACABF0C8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8F84148-07A0-B9C3-0258-756D3A992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FEDD30E-1001-76EF-FB89-82231AF75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008F7-A57E-497A-A33F-A9E174E1D2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6926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378E2C-44E8-DD62-BC01-4844FA5F8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A51C8C-9E91-3136-FF46-8B91CAC411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A1D9EF2-C0D2-5D97-131C-50B3138737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BFBCBBA-76B3-42C1-C0B9-0B75998A0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C66AC-A9FC-466B-8AE6-6767ACABF0C8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DE541BE-1283-E9A9-A2F5-87B97B98D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E7CFC18-D4F1-9C88-5FF1-6F8651208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008F7-A57E-497A-A33F-A9E174E1D2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0456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0F9770-585A-3437-34E3-1A4A8D532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1DBD373-435B-17D2-5B5B-350AB4AE0B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1E22779-D64E-694B-F5A8-9C2FED4C61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5BEACBD-2CDB-EB0F-3FCA-29C22B560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C66AC-A9FC-466B-8AE6-6767ACABF0C8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A35BAC4-F595-921F-45D4-B862EC99A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3B345B9-46D6-4AC4-E105-72FA87B68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008F7-A57E-497A-A33F-A9E174E1D2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3197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D36B8B-A5EC-43F5-8C33-C804D30A3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C79559A-54C0-BDD1-88CB-93BF4E4794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2BE06B-B0C0-4412-E3DD-8BF2C740C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C66AC-A9FC-466B-8AE6-6767ACABF0C8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2EB54F-E79C-EEE8-51CA-C2442947C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9B7C9C-51A5-9296-6D37-D836F707C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008F7-A57E-497A-A33F-A9E174E1D2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2133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292071C-4A53-E6EC-2554-08D8900892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4E9EE47-EF9A-F1DE-98AE-FD546AF8D3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B103B24-2090-B8DC-C547-7084B19BF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C66AC-A9FC-466B-8AE6-6767ACABF0C8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5F9997-3865-0EB7-1378-70BB5284C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605E09-9C26-331F-F7CD-394C380FA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008F7-A57E-497A-A33F-A9E174E1D2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37136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1185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4531F34-6462-2EC8-FFBC-03AC2B683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2749A2B-6D6E-0586-84D8-8BE3B6E987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7425B1-FF37-31E1-2C29-DFB247C1BB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0C66AC-A9FC-466B-8AE6-6767ACABF0C8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0E24A5-F810-C92D-4547-57B60E22B6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1AA7D8-BFCA-E9CC-4091-1FDBBCBCF9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D008F7-A57E-497A-A33F-A9E174E1D2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9717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9F2CD69-0AA9-474E-8D81-C4477A0C70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E4AE2FF-A4D1-4713-867B-1197911D5FD0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AE67CD8-F365-4434-9BF1-E4F2B17CCEFE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7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章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19C6C48-7311-4FB4-9788-70E11E58C489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25889FA-8080-41A3-98B0-11EC90C8DA3C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3000" b="1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贡献与边界</a:t>
            </a:r>
            <a:endParaRPr sz="3000" b="1">
              <a:solidFill>
                <a:srgbClr val="22222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F80FEBAC-8358-4EA2-81A1-060DF08858CB}"/>
              </a:ext>
            </a:extLst>
          </p:cNvPr>
          <p:cNvSpPr>
            <a:spLocks noGrp="1"/>
          </p:cNvSpPr>
          <p:nvPr/>
        </p:nvSpPr>
        <p:spPr>
          <a:xfrm>
            <a:off x="1238250" y="2686050"/>
            <a:ext cx="1714500" cy="2857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6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主要贡献</a:t>
            </a:r>
            <a:endParaRPr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40BF9B4A-7CE0-4721-B4CD-3F38E1A6381B}"/>
              </a:ext>
            </a:extLst>
          </p:cNvPr>
          <p:cNvSpPr>
            <a:spLocks noGrp="1"/>
          </p:cNvSpPr>
          <p:nvPr/>
        </p:nvSpPr>
        <p:spPr>
          <a:xfrm>
            <a:off x="7143750" y="2686050"/>
            <a:ext cx="1714500" cy="2857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6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研究边界</a:t>
            </a:r>
            <a:endParaRPr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08E7B54-47A6-4B26-A10E-3EA01A39A8B0}"/>
              </a:ext>
            </a:extLst>
          </p:cNvPr>
          <p:cNvSpPr>
            <a:spLocks noGrp="1"/>
          </p:cNvSpPr>
          <p:nvPr/>
        </p:nvSpPr>
        <p:spPr>
          <a:xfrm>
            <a:off x="1257300" y="332422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0D59E653-0BA6-4D11-8AA6-ABAD94916635}"/>
              </a:ext>
            </a:extLst>
          </p:cNvPr>
          <p:cNvSpPr>
            <a:spLocks noGrp="1"/>
          </p:cNvSpPr>
          <p:nvPr/>
        </p:nvSpPr>
        <p:spPr>
          <a:xfrm>
            <a:off x="1409700" y="325755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对象下沉到景点级文旅载体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649BF5C-60F2-4619-9470-716D3397146F}"/>
              </a:ext>
            </a:extLst>
          </p:cNvPr>
          <p:cNvSpPr>
            <a:spLocks noGrp="1"/>
          </p:cNvSpPr>
          <p:nvPr/>
        </p:nvSpPr>
        <p:spPr>
          <a:xfrm>
            <a:off x="1257300" y="372427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987A6DA2-7A5F-4186-8E10-204FB0ECE628}"/>
              </a:ext>
            </a:extLst>
          </p:cNvPr>
          <p:cNvSpPr>
            <a:spLocks noGrp="1"/>
          </p:cNvSpPr>
          <p:nvPr/>
        </p:nvSpPr>
        <p:spPr>
          <a:xfrm>
            <a:off x="1409700" y="365760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建立文化</a:t>
            </a:r>
            <a:r>
              <a:rPr lang="en-US" altLang="zh-CN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—</a:t>
            </a: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旅游双谱系对照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24AF04B-B021-49CF-B7BE-3615D0852CA1}"/>
              </a:ext>
            </a:extLst>
          </p:cNvPr>
          <p:cNvSpPr>
            <a:spLocks noGrp="1"/>
          </p:cNvSpPr>
          <p:nvPr/>
        </p:nvSpPr>
        <p:spPr>
          <a:xfrm>
            <a:off x="1257300" y="412432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5AE7A728-F4F5-40DD-90B8-E09273A2F6B2}"/>
              </a:ext>
            </a:extLst>
          </p:cNvPr>
          <p:cNvSpPr>
            <a:spLocks noGrp="1"/>
          </p:cNvSpPr>
          <p:nvPr/>
        </p:nvSpPr>
        <p:spPr>
          <a:xfrm>
            <a:off x="1409700" y="405765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把错位结果转译为空间与规划建议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1FD7D03-CFF4-4E2D-B4F0-6B2E1F012FE5}"/>
              </a:ext>
            </a:extLst>
          </p:cNvPr>
          <p:cNvSpPr>
            <a:spLocks noGrp="1"/>
          </p:cNvSpPr>
          <p:nvPr/>
        </p:nvSpPr>
        <p:spPr>
          <a:xfrm>
            <a:off x="7162800" y="3324225"/>
            <a:ext cx="57150" cy="5715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2F87C4FF-0937-4BCC-8CB2-3B6BF86B2A5E}"/>
              </a:ext>
            </a:extLst>
          </p:cNvPr>
          <p:cNvSpPr>
            <a:spLocks noGrp="1"/>
          </p:cNvSpPr>
          <p:nvPr/>
        </p:nvSpPr>
        <p:spPr>
          <a:xfrm>
            <a:off x="7315200" y="325755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餐饮与夜间活力数据仍需补充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3F981CD-16F2-4580-B302-1343921B8780}"/>
              </a:ext>
            </a:extLst>
          </p:cNvPr>
          <p:cNvSpPr>
            <a:spLocks noGrp="1"/>
          </p:cNvSpPr>
          <p:nvPr/>
        </p:nvSpPr>
        <p:spPr>
          <a:xfrm>
            <a:off x="7162800" y="3724275"/>
            <a:ext cx="57150" cy="5715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C5F245E6-823F-4F22-B7A2-8DB208E2538C}"/>
              </a:ext>
            </a:extLst>
          </p:cNvPr>
          <p:cNvSpPr>
            <a:spLocks noGrp="1"/>
          </p:cNvSpPr>
          <p:nvPr/>
        </p:nvSpPr>
        <p:spPr>
          <a:xfrm>
            <a:off x="7315200" y="365760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 algn="ctr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20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样本、权重和评论语义仍有简化，后续可补充更多时段与消费数据</a:t>
            </a:r>
            <a:endParaRPr sz="1320">
              <a:solidFill>
                <a:srgbClr val="22222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DDCF792-3596-4056-826E-13953E63B11A}"/>
              </a:ext>
            </a:extLst>
          </p:cNvPr>
          <p:cNvSpPr>
            <a:spLocks noGrp="1"/>
          </p:cNvSpPr>
          <p:nvPr/>
        </p:nvSpPr>
        <p:spPr>
          <a:xfrm>
            <a:off x="7162800" y="4124325"/>
            <a:ext cx="57150" cy="5715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B1AE4976-D4EE-4422-B72D-C75A2C876B16}"/>
              </a:ext>
            </a:extLst>
          </p:cNvPr>
          <p:cNvSpPr>
            <a:spLocks noGrp="1"/>
          </p:cNvSpPr>
          <p:nvPr/>
        </p:nvSpPr>
        <p:spPr>
          <a:xfrm>
            <a:off x="7315200" y="405765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评论语义仍是补充检验而非全量模型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25D1B32E-1494-461B-9127-6F82094FA85B}"/>
              </a:ext>
            </a:extLst>
          </p:cNvPr>
          <p:cNvSpPr>
            <a:spLocks noGrp="1"/>
          </p:cNvSpPr>
          <p:nvPr/>
        </p:nvSpPr>
        <p:spPr>
          <a:xfrm>
            <a:off x="2857500" y="5334000"/>
            <a:ext cx="6477000" cy="4191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7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8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文化记忆能否通过空间载体进入游客体验</a:t>
            </a:r>
            <a:endParaRPr sz="18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B38CAC7-645E-AE62-0548-9C4D7C923B9B}"/>
              </a:ext>
            </a:extLst>
          </p:cNvPr>
          <p:cNvSpPr txBox="1"/>
          <p:nvPr/>
        </p:nvSpPr>
        <p:spPr>
          <a:xfrm>
            <a:off x="571500" y="177800"/>
            <a:ext cx="6858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500" b="1">
                <a:solidFill>
                  <a:srgbClr val="663D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05 | </a:t>
            </a:r>
            <a:r>
              <a:rPr lang="zh-CN" altLang="en-US" sz="1500" b="1">
                <a:solidFill>
                  <a:srgbClr val="663D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规划转译与结论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AE2D4D0-BF9F-FD02-BEB8-B3D9CDBF9C12}"/>
              </a:ext>
            </a:extLst>
          </p:cNvPr>
          <p:cNvSpPr txBox="1"/>
          <p:nvPr/>
        </p:nvSpPr>
        <p:spPr>
          <a:xfrm>
            <a:off x="11353800" y="6457950"/>
            <a:ext cx="5334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950" b="1">
                <a:solidFill>
                  <a:srgbClr val="5C3D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18</a:t>
            </a:r>
            <a:endParaRPr lang="zh-CN" altLang="en-US" sz="950" b="1">
              <a:solidFill>
                <a:srgbClr val="5C3D8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834482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</Words>
  <Application>Microsoft Office PowerPoint</Application>
  <PresentationFormat>自定义</PresentationFormat>
  <Paragraphs>14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帅 孟</dc:creator>
  <cp:lastModifiedBy>帅 孟</cp:lastModifiedBy>
  <cp:revision>1</cp:revision>
  <dcterms:created xsi:type="dcterms:W3CDTF">2026-06-03T12:49:43Z</dcterms:created>
  <dcterms:modified xsi:type="dcterms:W3CDTF">2026-06-03T12:49:43Z</dcterms:modified>
</cp:coreProperties>
</file>