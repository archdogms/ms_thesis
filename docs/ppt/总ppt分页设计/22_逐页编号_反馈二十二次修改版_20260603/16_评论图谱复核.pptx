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91E38-ED2B-4482-AA4C-801BBFD2A1C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91527-3141-41A6-9222-F931BD1DBD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439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42E100-1E78-E763-1CA4-61A596353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FF0FD7-2E3D-9891-B252-9A560C3B93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12FDCE-1A15-B928-3162-519849D8A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A1E7-3130-4790-98DE-15CF41E825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AC839D-5516-6B28-38B2-CC7875E9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3FC701-6C5C-05D5-D25C-F31AA6EAB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ED83-9E7C-4573-BBEB-CCD3DD399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329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FD27C-070F-C4D3-3153-7A3CFA8BA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CF3A51-BBFB-AE0D-88C4-552863171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6162F2-939E-27A6-05D2-6EA64C608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A1E7-3130-4790-98DE-15CF41E825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2189F6-EB7E-F6BE-38BA-3E7C1D9F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D1C88A-49DD-D9E9-083D-81410DDEB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ED83-9E7C-4573-BBEB-CCD3DD399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821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89E44D-1D62-CB84-D48A-22A35245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058BF4-5B28-05C1-D681-2003E0D3C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29E646-3D56-BBED-7C4E-FDDE08C1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A1E7-3130-4790-98DE-15CF41E825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23C0F2-6D74-4318-4EBF-4012C1B91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9A627A-55DC-4419-429C-123A5572B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ED83-9E7C-4573-BBEB-CCD3DD399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449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87B6D9-39B9-A1FA-4ACB-90AFFDC2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5F4497-89AE-925A-C32C-AD40C4658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15F7D3-01C9-9501-96BF-BCCD9DDA5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4C2C22-CD12-D519-2A4E-CCA890DA3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A1E7-3130-4790-98DE-15CF41E825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5DB4DC-4B59-DDD9-46B0-132382704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FF0616-7D2A-7049-709E-760041B6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ED83-9E7C-4573-BBEB-CCD3DD399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061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A9BE49-C1CA-79B4-D431-2D64545D1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68E216-A6E5-7973-1D4B-907770DD5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0F8F15-490F-BFB5-AE9B-DF75FA336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0CF02D-C803-891F-F730-710E97492E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708B72-052C-CE7A-B133-FBA2E96079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FE38D1D-A198-3999-2F86-E900D8AD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A1E7-3130-4790-98DE-15CF41E825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158C482-07B9-669D-5C07-68247B9BA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40A974-199C-2AD5-BE98-30305E1F2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ED83-9E7C-4573-BBEB-CCD3DD399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28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1A5A67-4DE1-B61C-A576-9CF63348F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0E00F6-305A-E328-2AF1-FF2462FA2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A1E7-3130-4790-98DE-15CF41E825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DABFF1-553D-90D1-59B5-0260C96FE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94D358-C3F1-14F7-3333-01FC43134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ED83-9E7C-4573-BBEB-CCD3DD399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839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D799055-7B2F-3368-CF4E-FE43EC08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A1E7-3130-4790-98DE-15CF41E825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09E118-76D5-9119-D12D-DC9DF5F3D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1FB4D9-21F6-87A6-5BBF-96CA5F85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ED83-9E7C-4573-BBEB-CCD3DD399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54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B6C87-A93D-F967-58D2-9D53AF4CA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C9AA77-421B-B27F-A48A-C180217DC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B01AF7-FA0F-FEC4-4EC2-D43899248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9A0FD0-5464-739B-BAFC-E9C0F5A8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A1E7-3130-4790-98DE-15CF41E825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4D6B07-1390-4E8E-C010-E7C8ADEA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F47225-2F4F-2CEE-A287-11095F06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ED83-9E7C-4573-BBEB-CCD3DD399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317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47A5B-0C8C-87AE-F3F4-5157CB28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1C411B0-6BF7-FC8E-75B4-D87499ECD6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F96BFE-C7BE-760F-F427-47F39CDCB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452578-093C-8CF7-6CBF-43EB71A39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A1E7-3130-4790-98DE-15CF41E825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EDED88-F507-1F19-7E92-542B3834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5269FF-24CD-1FB4-D3CF-182A1425B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ED83-9E7C-4573-BBEB-CCD3DD399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549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52F309-EF3B-5702-A458-E2C7043E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1C15C2-4942-32C1-64DD-07A755FF8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1E5791-76C7-7921-CB1E-955FA8B4A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A1E7-3130-4790-98DE-15CF41E825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BA27E1-3459-3229-9C93-BF561FEE7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1A3DBD-71D5-EA8A-D1C2-09BFA1F9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ED83-9E7C-4573-BBEB-CCD3DD399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20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7E63D7C-F07F-0236-2CAE-A19708EAF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63D01B-2451-1BD9-CB2E-E2FE6AD14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24132C-B73A-6473-768F-7F023A2E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A1E7-3130-4790-98DE-15CF41E825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7B00CF-CC0C-D395-6682-B55B4DD54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F934E4-8135-53B6-0A39-5ED35F4BC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ED83-9E7C-4573-BBEB-CCD3DD399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386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927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4321749-6379-E1ED-8253-8F3BC6171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E498F5-D616-6749-4D61-BC5DAC12F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ACE519-757F-B476-26EE-EF266B7998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2A1E7-3130-4790-98DE-15CF41E825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84C8FF-D12A-37DA-C42F-F7D9A1635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556822-70FC-6301-DFB5-F3DD757DB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6ED83-9E7C-4573-BBEB-CCD3DD399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44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6.6.2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评论图谱复核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90106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90106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评论实体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90106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90106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90106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高识别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90106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90106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总图看整体结构，子图看具体景点的文化感知线索；评论量不能直接替代文化识别。</a:t>
            </a:r>
            <a:endParaRPr sz="110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F7F5-D709-4855-53B7-34344B0C1BF0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9 Slide16 CoreClaim">
            <a:extLst>
              <a:ext uri="{FF2B5EF4-FFF2-40B4-BE49-F238E27FC236}">
                <a16:creationId xmlns:a16="http://schemas.microsoft.com/office/drawing/2014/main" id="{87159F43-43EB-BA83-CC5F-A7B7B5DEA23F}"/>
              </a:ext>
            </a:extLst>
          </p:cNvPr>
          <p:cNvSpPr txBox="1"/>
          <p:nvPr/>
        </p:nvSpPr>
        <p:spPr>
          <a:xfrm>
            <a:off x="889000" y="1147836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评论图谱回答游客实际感知到了什么。</a:t>
            </a:r>
          </a:p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子图进一步呈现文化关键词如何落到具体景点。</a:t>
            </a:r>
          </a:p>
        </p:txBody>
      </p:sp>
      <p:cxnSp>
        <p:nvCxnSpPr>
          <p:cNvPr id="32" name="Round9 Slide16 CoreClaim Rule">
            <a:extLst>
              <a:ext uri="{FF2B5EF4-FFF2-40B4-BE49-F238E27FC236}">
                <a16:creationId xmlns:a16="http://schemas.microsoft.com/office/drawing/2014/main" id="{295EF48F-6002-8751-4722-8124496D462C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90106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严格匹配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90106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90106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90106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未形成明确文化识别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90106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90106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关系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90106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90106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ound11 Slide16 KG Shadow">
            <a:extLst>
              <a:ext uri="{FF2B5EF4-FFF2-40B4-BE49-F238E27FC236}">
                <a16:creationId xmlns:a16="http://schemas.microsoft.com/office/drawing/2014/main" id="{39D40DAD-6C12-6393-DE54-D807115BED44}"/>
              </a:ext>
            </a:extLst>
          </p:cNvPr>
          <p:cNvSpPr/>
          <p:nvPr/>
        </p:nvSpPr>
        <p:spPr>
          <a:xfrm>
            <a:off x="787400" y="1924050"/>
            <a:ext cx="7823200" cy="4368800"/>
          </a:xfrm>
          <a:prstGeom prst="roundRect">
            <a:avLst/>
          </a:prstGeom>
          <a:solidFill>
            <a:srgbClr val="ECE2F0">
              <a:alpha val="85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ound11 Slide16 KG Frame">
            <a:extLst>
              <a:ext uri="{FF2B5EF4-FFF2-40B4-BE49-F238E27FC236}">
                <a16:creationId xmlns:a16="http://schemas.microsoft.com/office/drawing/2014/main" id="{F8E2F55A-D413-64C9-84FD-C330F07F0A9E}"/>
              </a:ext>
            </a:extLst>
          </p:cNvPr>
          <p:cNvSpPr/>
          <p:nvPr/>
        </p:nvSpPr>
        <p:spPr>
          <a:xfrm>
            <a:off x="711200" y="1847850"/>
            <a:ext cx="7823200" cy="436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Round11 Slide16 KG Label">
            <a:extLst>
              <a:ext uri="{FF2B5EF4-FFF2-40B4-BE49-F238E27FC236}">
                <a16:creationId xmlns:a16="http://schemas.microsoft.com/office/drawing/2014/main" id="{F1E20F4A-4E51-075D-C683-703F2784CB3B}"/>
              </a:ext>
            </a:extLst>
          </p:cNvPr>
          <p:cNvSpPr txBox="1"/>
          <p:nvPr/>
        </p:nvSpPr>
        <p:spPr>
          <a:xfrm>
            <a:off x="1244600" y="5664200"/>
            <a:ext cx="330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评论知识图谱总图</a:t>
            </a:r>
          </a:p>
        </p:txBody>
      </p:sp>
      <p:sp>
        <p:nvSpPr>
          <p:cNvPr id="46" name="Round11 Slide16 KG Label">
            <a:extLst>
              <a:ext uri="{FF2B5EF4-FFF2-40B4-BE49-F238E27FC236}">
                <a16:creationId xmlns:a16="http://schemas.microsoft.com/office/drawing/2014/main" id="{1F54C150-D085-3939-16F8-25D31C1A056D}"/>
              </a:ext>
            </a:extLst>
          </p:cNvPr>
          <p:cNvSpPr txBox="1"/>
          <p:nvPr/>
        </p:nvSpPr>
        <p:spPr>
          <a:xfrm>
            <a:off x="5613400" y="39243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：西樵山风景名胜区</a:t>
            </a:r>
          </a:p>
        </p:txBody>
      </p:sp>
      <p:sp>
        <p:nvSpPr>
          <p:cNvPr id="47" name="Round11 Slide16 KG Label">
            <a:extLst>
              <a:ext uri="{FF2B5EF4-FFF2-40B4-BE49-F238E27FC236}">
                <a16:creationId xmlns:a16="http://schemas.microsoft.com/office/drawing/2014/main" id="{5B04C94F-B8F3-AD45-0FA4-2A5545D47D8D}"/>
              </a:ext>
            </a:extLst>
          </p:cNvPr>
          <p:cNvSpPr txBox="1"/>
          <p:nvPr/>
        </p:nvSpPr>
        <p:spPr>
          <a:xfrm>
            <a:off x="5613400" y="59309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：黄飞鸿狮艺武术馆</a:t>
            </a:r>
          </a:p>
        </p:txBody>
      </p:sp>
      <p:pic>
        <p:nvPicPr>
          <p:cNvPr id="13" name="WhiteBG Comment Graph">
            <a:extLst>
              <a:ext uri="{FF2B5EF4-FFF2-40B4-BE49-F238E27FC236}">
                <a16:creationId xmlns:a16="http://schemas.microsoft.com/office/drawing/2014/main" id="{44231890-E68F-B2DD-0B19-5239AAA3F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2032000"/>
            <a:ext cx="3581400" cy="3581400"/>
          </a:xfrm>
          <a:prstGeom prst="rect">
            <a:avLst/>
          </a:prstGeom>
        </p:spPr>
      </p:pic>
      <p:pic>
        <p:nvPicPr>
          <p:cNvPr id="35" name="WhiteBG Comment Subgraph 1">
            <a:extLst>
              <a:ext uri="{FF2B5EF4-FFF2-40B4-BE49-F238E27FC236}">
                <a16:creationId xmlns:a16="http://schemas.microsoft.com/office/drawing/2014/main" id="{02142083-8DD4-807D-1DD4-3A7D2B1E6F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2006600"/>
            <a:ext cx="1879600" cy="1879600"/>
          </a:xfrm>
          <a:prstGeom prst="rect">
            <a:avLst/>
          </a:prstGeom>
        </p:spPr>
      </p:pic>
      <p:pic>
        <p:nvPicPr>
          <p:cNvPr id="38" name="WhiteBG Comment Subgraph 2">
            <a:extLst>
              <a:ext uri="{FF2B5EF4-FFF2-40B4-BE49-F238E27FC236}">
                <a16:creationId xmlns:a16="http://schemas.microsoft.com/office/drawing/2014/main" id="{945E487C-8443-8E70-51F9-5541B8DD42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4013200"/>
            <a:ext cx="1879600" cy="18796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AD6A2D1-7D89-136E-1861-A6B5B637DB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878130" y="0"/>
            <a:ext cx="1149927" cy="457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9183997-8645-0870-BEA0-2E371F9CCBC8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自定义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2026-06-03T12:49:42Z</dcterms:created>
  <dcterms:modified xsi:type="dcterms:W3CDTF">2026-06-03T12:49:42Z</dcterms:modified>
</cp:coreProperties>
</file>