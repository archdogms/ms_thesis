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72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19BE25-9939-40F6-8153-6685F0B53143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A3B737-FC19-4677-BD57-918B09356F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74795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7578F3-2CE8-DFB2-6FAF-1572986D32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F5020DE-7A68-A1D8-E8F1-20069D6D01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1711EA-F42F-7C47-1E46-988272F1B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54729-5BBF-498B-B93E-9CDF911CD32E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2AE1AA-34C1-78DF-4B34-A51B836E0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FA9DEEC-671D-F69F-68C2-579BCF642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F7CA4-4806-4C5B-848D-4811D0FA54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66273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D795DA-9F9C-58F9-071A-AD68B5749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9795638-9D8B-C600-8B47-2DCD68554A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5BDEED-88DD-5812-EC2D-6EDD44357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54729-5BBF-498B-B93E-9CDF911CD32E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CE710B-2FF8-A194-7976-0B3712358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72BAAF9-74D8-D17B-A088-C8081B24E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F7CA4-4806-4C5B-848D-4811D0FA54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80449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16578B-27BA-2375-7B75-B52368C62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E5FEF0A-1E74-4AF9-1D00-61AD401F9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1A144D2-0A4D-D1A1-3077-E6BF920A9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54729-5BBF-498B-B93E-9CDF911CD32E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E6DCD20-5E4E-BC64-23F5-EFE45D8CF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F5A87AD-A170-B722-CF16-035EB25B2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F7CA4-4806-4C5B-848D-4811D0FA54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94724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5FE76F-5D90-DF2F-50C6-8735DD843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4937C8F-C4DE-7541-E930-32A036EA46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34316F9-4427-9B6C-E50C-D606DA7108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3E68DA5-4D3F-9485-7EF8-4F0362DCE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54729-5BBF-498B-B93E-9CDF911CD32E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0C57DA8-3989-83F6-55AF-986187589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531FE1F-D2FD-CC82-6D62-B31EA8581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F7CA4-4806-4C5B-848D-4811D0FA54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61871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45E80B-25B0-A33B-356B-E27848BA08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228693-216E-E7A7-A79C-EC6657F176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E63099A-BB65-3434-4AA8-B9F54CF350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F4EA9D4-C0CA-1996-04E2-2D627959E8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AF6CDB7-EDC1-C17F-658D-771FF876DD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D9D98CC-24D5-87FB-9AF1-209ECD2F5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54729-5BBF-498B-B93E-9CDF911CD32E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6E29D7D-4067-5311-D119-B7C1F4DC5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702D231-2490-F297-A159-70D1CD07B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F7CA4-4806-4C5B-848D-4811D0FA54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84863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45402A-A46D-2181-4841-0AF7FD46B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214B870-F402-66B1-E79C-2FB55C3B0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54729-5BBF-498B-B93E-9CDF911CD32E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09EF360-B660-FE1B-4ADE-53279D965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43A2BFA-B473-809B-14C3-868C9EE54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F7CA4-4806-4C5B-848D-4811D0FA54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00855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17DCE2B-FAD2-9F24-DCF6-4727B2D67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54729-5BBF-498B-B93E-9CDF911CD32E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205573B-5A5E-1DB4-AFF2-D80B1B8C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CF5411B-800F-DE8E-2B4E-B33FA18D1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F7CA4-4806-4C5B-848D-4811D0FA54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8246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D57463-B109-1DBF-2298-9F0E452B2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16A5347-90C0-06D4-9259-8A4FCD5E72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6D85976-FA3A-D796-3670-91E46E3132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B518112-4001-18DF-821B-B30A5EE9D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54729-5BBF-498B-B93E-9CDF911CD32E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D1780D5-1CDF-BB02-14FA-4019C7A08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22325FB-5AC2-27DA-3F7F-CE8FC2929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F7CA4-4806-4C5B-848D-4811D0FA54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71037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B6B61F-62A1-092D-20F7-A3894C600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C23F892-2689-CC9F-0263-F1DC12A264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A5B8EF9-E126-2E7E-E822-AFADB07EAA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90BA65B-9502-D3A5-A056-3AAECA55F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54729-5BBF-498B-B93E-9CDF911CD32E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988564A-30DB-F3BD-5D96-8291BE7D9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953B222-BC95-0F06-B87D-E86E4F504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F7CA4-4806-4C5B-848D-4811D0FA54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2499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EF4A11-2FCC-6CC7-D12C-73FE398C4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1D25582-404D-566B-EBBB-A5F510007B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EF05DAF-5781-336A-510A-655916D26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54729-5BBF-498B-B93E-9CDF911CD32E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AAE8962-FE2F-65FB-097E-33203BF73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657709A-01D7-E5BF-EA98-29A3EE7E5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F7CA4-4806-4C5B-848D-4811D0FA54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4061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0B0F189-B41B-1A1C-8133-CA48A69D4F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4CE30FB-DECD-53CE-EF3C-4D106F953E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2943796-5BEF-3210-941D-09E889BB7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54729-5BBF-498B-B93E-9CDF911CD32E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DBCAF29-F41F-7197-78D2-317D69588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99DAB1F-02C7-D288-911C-7ADA82DBD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F7CA4-4806-4C5B-848D-4811D0FA54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41314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7892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B8A3E00-0D12-52F5-37B6-77D1EF3FD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1F9CA81-24FD-0FDB-58FE-6CC8A3EE66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4EC7AB-AE2E-19F0-5E32-F1A859B866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F54729-5BBF-498B-B93E-9CDF911CD32E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CE71B77-F39D-C073-A1F4-93E575E3EC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8B6CB65-0FB7-2EA8-0286-2563A97613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BF7CA4-4806-4C5B-848D-4811D0FA54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4687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图片 32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B7A09998-06A8-4604-9C07-48FB1351CEF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CD3E81A-98E2-413B-9D03-2F36AAE50DE3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DEBF6AD-0948-4C2C-BE7A-1BFB005EE60D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7.2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节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9DF7DF1-4EFE-47AF-B3B7-49581E02CBCC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C63A04B-751E-4B0D-B1E6-6DD386D2CD6E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50800" rIns="76200" bIns="50800" anchor="t"/>
          <a:lstStyle/>
          <a:p>
            <a:pPr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3000" b="1">
                <a:solidFill>
                  <a:srgbClr val="2222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三类行动策略</a:t>
            </a:r>
            <a:endParaRPr sz="3000" b="1">
              <a:solidFill>
                <a:srgbClr val="222228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891B033E-CE79-40DC-A5DC-5EFD50EFD626}"/>
              </a:ext>
            </a:extLst>
          </p:cNvPr>
          <p:cNvSpPr>
            <a:spLocks noGrp="1"/>
          </p:cNvSpPr>
          <p:nvPr/>
        </p:nvSpPr>
        <p:spPr>
          <a:xfrm>
            <a:off x="952500" y="2190750"/>
            <a:ext cx="1733550" cy="59055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600070"/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77A15712-E909-4C9A-ACD0-C64412F3A382}"/>
              </a:ext>
            </a:extLst>
          </p:cNvPr>
          <p:cNvSpPr>
            <a:spLocks noGrp="1"/>
          </p:cNvSpPr>
          <p:nvPr/>
        </p:nvSpPr>
        <p:spPr>
          <a:xfrm>
            <a:off x="1162050" y="2371725"/>
            <a:ext cx="1295400" cy="2476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28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沉睡潜力</a:t>
            </a:r>
            <a:endParaRPr sz="128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8FD12AF-D04E-4E1D-AE87-637C87E50114}"/>
              </a:ext>
            </a:extLst>
          </p:cNvPr>
          <p:cNvSpPr>
            <a:spLocks noGrp="1"/>
          </p:cNvSpPr>
          <p:nvPr/>
        </p:nvSpPr>
        <p:spPr>
          <a:xfrm>
            <a:off x="3000375" y="2486025"/>
            <a:ext cx="1619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77916B7E-8EE9-4787-A626-CFD5CB746BF0}"/>
              </a:ext>
            </a:extLst>
          </p:cNvPr>
          <p:cNvSpPr>
            <a:spLocks noGrp="1"/>
          </p:cNvSpPr>
          <p:nvPr/>
        </p:nvSpPr>
        <p:spPr>
          <a:xfrm>
            <a:off x="4857750" y="2381250"/>
            <a:ext cx="20002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50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文化强、热度弱</a:t>
            </a:r>
            <a:endParaRPr sz="150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ED7015B-AD50-425F-A3D5-88CD4382199B}"/>
              </a:ext>
            </a:extLst>
          </p:cNvPr>
          <p:cNvSpPr>
            <a:spLocks noGrp="1"/>
          </p:cNvSpPr>
          <p:nvPr/>
        </p:nvSpPr>
        <p:spPr>
          <a:xfrm>
            <a:off x="7048500" y="2486025"/>
            <a:ext cx="1619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F6818B8E-DEC4-4728-8A84-FD0A2EAFB3DF}"/>
              </a:ext>
            </a:extLst>
          </p:cNvPr>
          <p:cNvSpPr>
            <a:spLocks noGrp="1"/>
          </p:cNvSpPr>
          <p:nvPr/>
        </p:nvSpPr>
        <p:spPr>
          <a:xfrm>
            <a:off x="8905875" y="2114550"/>
            <a:ext cx="2438400" cy="80010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EA2CADD8-E850-4D05-8745-C2661AF9854C}"/>
              </a:ext>
            </a:extLst>
          </p:cNvPr>
          <p:cNvSpPr>
            <a:spLocks noGrp="1"/>
          </p:cNvSpPr>
          <p:nvPr/>
        </p:nvSpPr>
        <p:spPr>
          <a:xfrm>
            <a:off x="9105900" y="2324100"/>
            <a:ext cx="2000250" cy="4000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补可达性、展示空间、解说系统、活动运营</a:t>
            </a:r>
            <a:endParaRPr sz="13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39CCF69D-1944-43CA-8DFB-3C912CFBE462}"/>
              </a:ext>
            </a:extLst>
          </p:cNvPr>
          <p:cNvSpPr>
            <a:spLocks noGrp="1"/>
          </p:cNvSpPr>
          <p:nvPr/>
        </p:nvSpPr>
        <p:spPr>
          <a:xfrm>
            <a:off x="952500" y="3257550"/>
            <a:ext cx="1733550" cy="59055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AFE2A670-F840-4627-B8AF-91AEFC2392A7}"/>
              </a:ext>
            </a:extLst>
          </p:cNvPr>
          <p:cNvSpPr>
            <a:spLocks noGrp="1"/>
          </p:cNvSpPr>
          <p:nvPr/>
        </p:nvSpPr>
        <p:spPr>
          <a:xfrm>
            <a:off x="1162050" y="3438525"/>
            <a:ext cx="1295400" cy="2476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7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28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空心景点</a:t>
            </a:r>
            <a:endParaRPr sz="128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15E6BEC-53AD-440F-A71A-55F33668D99B}"/>
              </a:ext>
            </a:extLst>
          </p:cNvPr>
          <p:cNvSpPr>
            <a:spLocks noGrp="1"/>
          </p:cNvSpPr>
          <p:nvPr/>
        </p:nvSpPr>
        <p:spPr>
          <a:xfrm>
            <a:off x="3000375" y="3552825"/>
            <a:ext cx="1619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85121F82-E693-4A35-83E0-23286EBDEDD7}"/>
              </a:ext>
            </a:extLst>
          </p:cNvPr>
          <p:cNvSpPr>
            <a:spLocks noGrp="1"/>
          </p:cNvSpPr>
          <p:nvPr/>
        </p:nvSpPr>
        <p:spPr>
          <a:xfrm>
            <a:off x="4857750" y="3448050"/>
            <a:ext cx="20002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50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热度强、叙事弱</a:t>
            </a:r>
            <a:endParaRPr sz="150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43BED60-7666-4869-99D3-16D95DC3E5E9}"/>
              </a:ext>
            </a:extLst>
          </p:cNvPr>
          <p:cNvSpPr>
            <a:spLocks noGrp="1"/>
          </p:cNvSpPr>
          <p:nvPr/>
        </p:nvSpPr>
        <p:spPr>
          <a:xfrm>
            <a:off x="7048500" y="3552825"/>
            <a:ext cx="1619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39EC83EA-EC9C-45A1-89F2-05419F3F3914}"/>
              </a:ext>
            </a:extLst>
          </p:cNvPr>
          <p:cNvSpPr>
            <a:spLocks noGrp="1"/>
          </p:cNvSpPr>
          <p:nvPr/>
        </p:nvSpPr>
        <p:spPr>
          <a:xfrm>
            <a:off x="8905875" y="3181350"/>
            <a:ext cx="2438400" cy="80010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EA4F8AFA-8FC3-4AF4-864F-D0B0D09F46F7}"/>
              </a:ext>
            </a:extLst>
          </p:cNvPr>
          <p:cNvSpPr>
            <a:spLocks noGrp="1"/>
          </p:cNvSpPr>
          <p:nvPr/>
        </p:nvSpPr>
        <p:spPr>
          <a:xfrm>
            <a:off x="9105900" y="3390900"/>
            <a:ext cx="2000250" cy="4000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补地方叙事、非遗活动、解说与文化内容</a:t>
            </a:r>
            <a:endParaRPr sz="13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3FAF0210-E22E-423E-A53E-683FB236889A}"/>
              </a:ext>
            </a:extLst>
          </p:cNvPr>
          <p:cNvSpPr>
            <a:spLocks noGrp="1"/>
          </p:cNvSpPr>
          <p:nvPr/>
        </p:nvSpPr>
        <p:spPr>
          <a:xfrm>
            <a:off x="952500" y="4324350"/>
            <a:ext cx="1733550" cy="59055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28EF7A1C-5064-4111-B370-E5F0C55DFA9A}"/>
              </a:ext>
            </a:extLst>
          </p:cNvPr>
          <p:cNvSpPr>
            <a:spLocks noGrp="1"/>
          </p:cNvSpPr>
          <p:nvPr/>
        </p:nvSpPr>
        <p:spPr>
          <a:xfrm>
            <a:off x="1162050" y="4505325"/>
            <a:ext cx="1295400" cy="2476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28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核心耦合</a:t>
            </a:r>
            <a:endParaRPr sz="128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32ACB9B-8D0D-47AB-B2C0-6E877172F361}"/>
              </a:ext>
            </a:extLst>
          </p:cNvPr>
          <p:cNvSpPr>
            <a:spLocks noGrp="1"/>
          </p:cNvSpPr>
          <p:nvPr/>
        </p:nvSpPr>
        <p:spPr>
          <a:xfrm>
            <a:off x="3000375" y="4619625"/>
            <a:ext cx="1619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C366EAB8-E914-4400-8ED9-8B898860D768}"/>
              </a:ext>
            </a:extLst>
          </p:cNvPr>
          <p:cNvSpPr>
            <a:spLocks noGrp="1"/>
          </p:cNvSpPr>
          <p:nvPr/>
        </p:nvSpPr>
        <p:spPr>
          <a:xfrm>
            <a:off x="4857750" y="4514850"/>
            <a:ext cx="20002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50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双高但未必成熟</a:t>
            </a:r>
            <a:endParaRPr sz="150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A45FD30-BCD9-4658-96BC-C5AF8B04A44C}"/>
              </a:ext>
            </a:extLst>
          </p:cNvPr>
          <p:cNvSpPr>
            <a:spLocks noGrp="1"/>
          </p:cNvSpPr>
          <p:nvPr/>
        </p:nvSpPr>
        <p:spPr>
          <a:xfrm>
            <a:off x="7048500" y="4619625"/>
            <a:ext cx="1619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87768B21-AF54-4305-9C5D-2606BB607645}"/>
              </a:ext>
            </a:extLst>
          </p:cNvPr>
          <p:cNvSpPr>
            <a:spLocks noGrp="1"/>
          </p:cNvSpPr>
          <p:nvPr/>
        </p:nvSpPr>
        <p:spPr>
          <a:xfrm>
            <a:off x="8905875" y="4248150"/>
            <a:ext cx="2438400" cy="80010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FD111162-60DE-471E-B8B4-963C8E3CB05E}"/>
              </a:ext>
            </a:extLst>
          </p:cNvPr>
          <p:cNvSpPr>
            <a:spLocks noGrp="1"/>
          </p:cNvSpPr>
          <p:nvPr/>
        </p:nvSpPr>
        <p:spPr>
          <a:xfrm>
            <a:off x="9105900" y="4457700"/>
            <a:ext cx="2000250" cy="4000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作为线路节点继续验证游客文化识别</a:t>
            </a:r>
            <a:endParaRPr sz="13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A192E912-8F38-44C8-A913-A14D1E74B89A}"/>
              </a:ext>
            </a:extLst>
          </p:cNvPr>
          <p:cNvSpPr>
            <a:spLocks noGrp="1"/>
          </p:cNvSpPr>
          <p:nvPr/>
        </p:nvSpPr>
        <p:spPr>
          <a:xfrm>
            <a:off x="2971800" y="5753100"/>
            <a:ext cx="61912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0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4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研究结果最终要转成风景园林的空间组织、游线设计和内容运营语言。</a:t>
            </a:r>
            <a:endParaRPr sz="145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40779AB-B6B0-4BDD-7677-38761A2FC88E}"/>
              </a:ext>
            </a:extLst>
          </p:cNvPr>
          <p:cNvSpPr txBox="1"/>
          <p:nvPr/>
        </p:nvSpPr>
        <p:spPr>
          <a:xfrm>
            <a:off x="571500" y="177800"/>
            <a:ext cx="6858000" cy="33342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500" b="1">
                <a:solidFill>
                  <a:srgbClr val="663D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05 | </a:t>
            </a:r>
            <a:r>
              <a:rPr lang="zh-CN" altLang="en-US" sz="1500" b="1">
                <a:solidFill>
                  <a:srgbClr val="663D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规划转译与结论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8192726-E180-A9FE-EEDF-C70E842754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878130" y="0"/>
            <a:ext cx="1149927" cy="4572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ED638ABA-9735-3135-0482-D4E7AF44EE0D}"/>
              </a:ext>
            </a:extLst>
          </p:cNvPr>
          <p:cNvSpPr txBox="1"/>
          <p:nvPr/>
        </p:nvSpPr>
        <p:spPr>
          <a:xfrm>
            <a:off x="11353800" y="6457950"/>
            <a:ext cx="533400" cy="14619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950" b="1">
                <a:solidFill>
                  <a:srgbClr val="5C3D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17</a:t>
            </a:r>
            <a:endParaRPr lang="zh-CN" altLang="en-US" sz="950" b="1">
              <a:solidFill>
                <a:srgbClr val="5C3D8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957993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</Words>
  <Application>Microsoft Office PowerPoint</Application>
  <PresentationFormat>自定义</PresentationFormat>
  <Paragraphs>15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Microsoft YaHei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帅 孟</dc:creator>
  <cp:lastModifiedBy>帅 孟</cp:lastModifiedBy>
  <cp:revision>1</cp:revision>
  <dcterms:created xsi:type="dcterms:W3CDTF">2026-06-03T12:49:43Z</dcterms:created>
  <dcterms:modified xsi:type="dcterms:W3CDTF">2026-06-03T12:49:43Z</dcterms:modified>
</cp:coreProperties>
</file>