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FE04-F7A0-4046-A3C7-4FCFA7EB86B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5B167-4153-46B9-AAF4-B796714137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9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24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604DA-0C8F-5E80-CFBB-011D7E1A8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1EB28B-FD81-8BC1-27BD-B05D9B6D9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566B6-3C4E-5F05-112B-3FC32699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42A9E8-AD10-A128-EB8E-85AE930F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0C794-3B94-AEEA-4799-8D670171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30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A1F15-70D6-56B0-00AF-279867123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1AF22A-5170-BAB5-E510-74BBD8B37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D7D36-AD31-69C3-42A1-976A1268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C59447-13DF-5B5E-7874-5C88F6BE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AFE63-F0EA-B4A3-0815-B35BCFC1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13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D7B1A-E875-9910-75C8-79AE5901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0D2D28-3455-2534-4DCA-0816C011C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614BDE-D70C-12F3-52BF-2D8CB052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B5631B-0260-AD16-B388-C2A23B5C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249761-281B-F78B-0D1A-1E2879EE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3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BD8B1-2618-7E50-7879-61FF23C0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8BF53-0FA5-B8CD-BE2B-8DF781345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D91025-096A-904C-4A55-73A126A57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FAF6C-2952-F9D7-AC61-DC51055A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592F6-6150-974D-CAF7-F18473FD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AFF25-19E2-7192-8A82-EB933C45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7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D5009-359E-6E40-4A01-439B0D0D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2EBE51-86D0-9DAD-3707-CD61A5585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64A5AA-96FF-C3B0-9EB9-79BB5F2F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88C171-CAC5-6F8E-ED9A-1BD492682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65F31D-9494-4354-5F0F-187117611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6965E3-C969-79A9-461F-5A031687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C20C0C-88BC-AA9A-1D0E-EECE5F50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5F7F45-2CF2-11A6-17A1-6C9DAD55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13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5D0B1-D0F5-2A8F-A490-50545CF7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3E5035-399E-4B55-C60C-AB113A88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93DDD8-7D70-3188-0F66-2B3554B9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620CCC-F6D9-9D04-C9C3-FC1E2669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57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DB2967-0157-3BE3-4B27-1153A29F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308059-6F24-87E8-B7B6-9F77FB9C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9182E-EC16-59C9-37A7-9BEECD28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22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3AEA5-EA4D-C293-58E0-589A49DF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683DB9-269E-865E-9308-622B04378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1D5F52-38AD-6BCF-B8C5-92DDBA08F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5B082-6859-DEB9-D187-6C743AF0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1440BF-B3DB-49AE-2F91-2AE44870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4F6541-8EC0-C4AE-3716-312D6BFE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7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55BCC-E7D7-4EA0-A1E5-D3207FB9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CDD39B-216A-028E-AD89-6459DED23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1E749E-F2D9-6201-E7B6-0F65B47AA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EBFAB-904A-269A-9830-4990BE07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988772-C45F-0E34-6D9C-578EE526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22A71F-5A79-89FE-EC24-2F87C6B8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62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A377A-E320-4DA9-2F8D-CAFBC47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F7FFC3-CBD2-95AE-4873-25FBF36A8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01B11-5E13-4130-0E0A-82F70F49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8A1C7-9237-7B32-1F4F-A8B8245B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B3C728-8D5D-3136-F1EB-A53920C8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30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1CAE9B-FB78-7C2A-90FE-11D076AD7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153884-2E13-DC2C-CEDB-C1FD0B113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1735A-0ECD-AA62-3C7A-30D1F7EC9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21714-AB72-DB48-AD5E-0F3299A8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D17E4-78B0-A4C5-D3C0-C6190B7C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171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58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D1F240-897A-52D8-C0CE-B82C232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7B8C6D-A8C5-DB90-A7C3-F7428E48A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B7FE8-5E89-5EFA-2CAB-5B260BA0D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D7C5C-4520-4F2B-8BA1-C7AF4D1B05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9B7E1-5A30-F7D2-033C-52ED2D343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2766B9-8560-FC68-BB61-24ABBF7E3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00B93-2130-4218-ABEB-74EFB9A73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29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10" name="R15 S5 TopBullets">
            <a:extLst>
              <a:ext uri="{FF2B5EF4-FFF2-40B4-BE49-F238E27FC236}">
                <a16:creationId xmlns:a16="http://schemas.microsoft.com/office/drawing/2014/main" id="{5958F64A-8DFF-E164-BEDC-B11C45ACBA8A}"/>
              </a:ext>
            </a:extLst>
          </p:cNvPr>
          <p:cNvSpPr txBox="1"/>
          <p:nvPr/>
        </p:nvSpPr>
        <p:spPr>
          <a:xfrm>
            <a:off x="990600" y="1193800"/>
            <a:ext cx="10287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数据处理先统一来源、坐标、名称，再进入载体锚点匹配。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500 m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网格把文化侧与旅游侧放到同一空间口径。</a:t>
            </a:r>
          </a:p>
        </p:txBody>
      </p:sp>
      <p:cxnSp>
        <p:nvCxnSpPr>
          <p:cNvPr id="35" name="R15 S5 Rule">
            <a:extLst>
              <a:ext uri="{FF2B5EF4-FFF2-40B4-BE49-F238E27FC236}">
                <a16:creationId xmlns:a16="http://schemas.microsoft.com/office/drawing/2014/main" id="{96D177D1-3EDF-7A86-2FAE-6E31E18252F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15 S5 Canvas">
            <a:extLst>
              <a:ext uri="{FF2B5EF4-FFF2-40B4-BE49-F238E27FC236}">
                <a16:creationId xmlns:a16="http://schemas.microsoft.com/office/drawing/2014/main" id="{722E60BD-31EA-9E0A-DA3C-CE3679ACEF03}"/>
              </a:ext>
            </a:extLst>
          </p:cNvPr>
          <p:cNvSpPr/>
          <p:nvPr/>
        </p:nvSpPr>
        <p:spPr>
          <a:xfrm>
            <a:off x="889000" y="1955800"/>
            <a:ext cx="7696200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15 S5 FlowTitle">
            <a:extLst>
              <a:ext uri="{FF2B5EF4-FFF2-40B4-BE49-F238E27FC236}">
                <a16:creationId xmlns:a16="http://schemas.microsoft.com/office/drawing/2014/main" id="{8F483D83-EACB-7CC7-D4A9-D286B7E46501}"/>
              </a:ext>
            </a:extLst>
          </p:cNvPr>
          <p:cNvSpPr txBox="1"/>
          <p:nvPr/>
        </p:nvSpPr>
        <p:spPr>
          <a:xfrm>
            <a:off x="1193800" y="2247900"/>
            <a:ext cx="6858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统一流程：来源 → 清洗 → 锚点 → 网格 → 指数</a:t>
            </a:r>
          </a:p>
        </p:txBody>
      </p:sp>
      <p:sp>
        <p:nvSpPr>
          <p:cNvPr id="46" name="R15 S5 Flow Card">
            <a:extLst>
              <a:ext uri="{FF2B5EF4-FFF2-40B4-BE49-F238E27FC236}">
                <a16:creationId xmlns:a16="http://schemas.microsoft.com/office/drawing/2014/main" id="{0D1BB21F-54F6-62F3-A131-8CC9F3E7C5C5}"/>
              </a:ext>
            </a:extLst>
          </p:cNvPr>
          <p:cNvSpPr/>
          <p:nvPr/>
        </p:nvSpPr>
        <p:spPr>
          <a:xfrm>
            <a:off x="11938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15 S5 Flow Accent">
            <a:extLst>
              <a:ext uri="{FF2B5EF4-FFF2-40B4-BE49-F238E27FC236}">
                <a16:creationId xmlns:a16="http://schemas.microsoft.com/office/drawing/2014/main" id="{9FC561D7-792C-E106-7F3F-E1FE2EF9FFE1}"/>
              </a:ext>
            </a:extLst>
          </p:cNvPr>
          <p:cNvSpPr/>
          <p:nvPr/>
        </p:nvSpPr>
        <p:spPr>
          <a:xfrm>
            <a:off x="11938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15 S5 Flow Head">
            <a:extLst>
              <a:ext uri="{FF2B5EF4-FFF2-40B4-BE49-F238E27FC236}">
                <a16:creationId xmlns:a16="http://schemas.microsoft.com/office/drawing/2014/main" id="{1B1B7622-5B69-9F35-601C-BFB97DE118DC}"/>
              </a:ext>
            </a:extLst>
          </p:cNvPr>
          <p:cNvSpPr txBox="1"/>
          <p:nvPr/>
        </p:nvSpPr>
        <p:spPr>
          <a:xfrm>
            <a:off x="13081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文化数据</a:t>
            </a:r>
          </a:p>
        </p:txBody>
      </p:sp>
      <p:sp>
        <p:nvSpPr>
          <p:cNvPr id="56" name="R15 S5 Flow Body">
            <a:extLst>
              <a:ext uri="{FF2B5EF4-FFF2-40B4-BE49-F238E27FC236}">
                <a16:creationId xmlns:a16="http://schemas.microsoft.com/office/drawing/2014/main" id="{DF9B3CAE-081F-6519-6F4C-F2FC2D2246AC}"/>
              </a:ext>
            </a:extLst>
          </p:cNvPr>
          <p:cNvSpPr txBox="1"/>
          <p:nvPr/>
        </p:nvSpPr>
        <p:spPr>
          <a:xfrm>
            <a:off x="13081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官方名录</a:t>
            </a:r>
          </a:p>
        </p:txBody>
      </p:sp>
      <p:sp>
        <p:nvSpPr>
          <p:cNvPr id="57" name="R15 S5 Flow Card">
            <a:extLst>
              <a:ext uri="{FF2B5EF4-FFF2-40B4-BE49-F238E27FC236}">
                <a16:creationId xmlns:a16="http://schemas.microsoft.com/office/drawing/2014/main" id="{39FFEA8F-DBEB-3EF9-599D-1F551B3CE273}"/>
              </a:ext>
            </a:extLst>
          </p:cNvPr>
          <p:cNvSpPr/>
          <p:nvPr/>
        </p:nvSpPr>
        <p:spPr>
          <a:xfrm>
            <a:off x="27305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5 Flow Accent">
            <a:extLst>
              <a:ext uri="{FF2B5EF4-FFF2-40B4-BE49-F238E27FC236}">
                <a16:creationId xmlns:a16="http://schemas.microsoft.com/office/drawing/2014/main" id="{36CAAE09-D7B6-A393-DD38-37986A9679B1}"/>
              </a:ext>
            </a:extLst>
          </p:cNvPr>
          <p:cNvSpPr/>
          <p:nvPr/>
        </p:nvSpPr>
        <p:spPr>
          <a:xfrm>
            <a:off x="2730500" y="2806700"/>
            <a:ext cx="13208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15 S5 Flow Head">
            <a:extLst>
              <a:ext uri="{FF2B5EF4-FFF2-40B4-BE49-F238E27FC236}">
                <a16:creationId xmlns:a16="http://schemas.microsoft.com/office/drawing/2014/main" id="{E31520B2-B570-0F0C-9EDE-5366F13E359A}"/>
              </a:ext>
            </a:extLst>
          </p:cNvPr>
          <p:cNvSpPr txBox="1"/>
          <p:nvPr/>
        </p:nvSpPr>
        <p:spPr>
          <a:xfrm>
            <a:off x="28448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旅游数据</a:t>
            </a:r>
          </a:p>
        </p:txBody>
      </p:sp>
      <p:sp>
        <p:nvSpPr>
          <p:cNvPr id="60" name="R15 S5 Flow Body">
            <a:extLst>
              <a:ext uri="{FF2B5EF4-FFF2-40B4-BE49-F238E27FC236}">
                <a16:creationId xmlns:a16="http://schemas.microsoft.com/office/drawing/2014/main" id="{5525B89A-FE27-BE01-19D8-098837A597BD}"/>
              </a:ext>
            </a:extLst>
          </p:cNvPr>
          <p:cNvSpPr txBox="1"/>
          <p:nvPr/>
        </p:nvSpPr>
        <p:spPr>
          <a:xfrm>
            <a:off x="28448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61" name="R15 S5 Flow Card">
            <a:extLst>
              <a:ext uri="{FF2B5EF4-FFF2-40B4-BE49-F238E27FC236}">
                <a16:creationId xmlns:a16="http://schemas.microsoft.com/office/drawing/2014/main" id="{4F48E5F5-4542-590E-8F2F-1E9541FFCE96}"/>
              </a:ext>
            </a:extLst>
          </p:cNvPr>
          <p:cNvSpPr/>
          <p:nvPr/>
        </p:nvSpPr>
        <p:spPr>
          <a:xfrm>
            <a:off x="42672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R15 S5 Flow Accent">
            <a:extLst>
              <a:ext uri="{FF2B5EF4-FFF2-40B4-BE49-F238E27FC236}">
                <a16:creationId xmlns:a16="http://schemas.microsoft.com/office/drawing/2014/main" id="{7B729836-AEC6-A5F5-7723-EEC643E2DE01}"/>
              </a:ext>
            </a:extLst>
          </p:cNvPr>
          <p:cNvSpPr/>
          <p:nvPr/>
        </p:nvSpPr>
        <p:spPr>
          <a:xfrm>
            <a:off x="42672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R15 S5 Flow Head">
            <a:extLst>
              <a:ext uri="{FF2B5EF4-FFF2-40B4-BE49-F238E27FC236}">
                <a16:creationId xmlns:a16="http://schemas.microsoft.com/office/drawing/2014/main" id="{E468DDE9-D4A3-298B-0ED1-CCCF68B1FF32}"/>
              </a:ext>
            </a:extLst>
          </p:cNvPr>
          <p:cNvSpPr txBox="1"/>
          <p:nvPr/>
        </p:nvSpPr>
        <p:spPr>
          <a:xfrm>
            <a:off x="43815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</a:t>
            </a:r>
          </a:p>
        </p:txBody>
      </p:sp>
      <p:sp>
        <p:nvSpPr>
          <p:cNvPr id="64" name="R15 S5 Flow Body">
            <a:extLst>
              <a:ext uri="{FF2B5EF4-FFF2-40B4-BE49-F238E27FC236}">
                <a16:creationId xmlns:a16="http://schemas.microsoft.com/office/drawing/2014/main" id="{9319486D-8A4C-FEB6-8973-C24773E8BD72}"/>
              </a:ext>
            </a:extLst>
          </p:cNvPr>
          <p:cNvSpPr txBox="1"/>
          <p:nvPr/>
        </p:nvSpPr>
        <p:spPr>
          <a:xfrm>
            <a:off x="43815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65" name="R15 S5 Flow Card">
            <a:extLst>
              <a:ext uri="{FF2B5EF4-FFF2-40B4-BE49-F238E27FC236}">
                <a16:creationId xmlns:a16="http://schemas.microsoft.com/office/drawing/2014/main" id="{6872A016-BB2D-B216-A847-C973857B473E}"/>
              </a:ext>
            </a:extLst>
          </p:cNvPr>
          <p:cNvSpPr/>
          <p:nvPr/>
        </p:nvSpPr>
        <p:spPr>
          <a:xfrm>
            <a:off x="58039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15 S5 Flow Accent">
            <a:extLst>
              <a:ext uri="{FF2B5EF4-FFF2-40B4-BE49-F238E27FC236}">
                <a16:creationId xmlns:a16="http://schemas.microsoft.com/office/drawing/2014/main" id="{B8D09290-AD99-8E71-7376-AF5E8AD9B4AF}"/>
              </a:ext>
            </a:extLst>
          </p:cNvPr>
          <p:cNvSpPr/>
          <p:nvPr/>
        </p:nvSpPr>
        <p:spPr>
          <a:xfrm>
            <a:off x="58039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15 S5 Flow Head">
            <a:extLst>
              <a:ext uri="{FF2B5EF4-FFF2-40B4-BE49-F238E27FC236}">
                <a16:creationId xmlns:a16="http://schemas.microsoft.com/office/drawing/2014/main" id="{CCF06B1A-DCF1-7875-8781-83E5084ED84A}"/>
              </a:ext>
            </a:extLst>
          </p:cNvPr>
          <p:cNvSpPr txBox="1"/>
          <p:nvPr/>
        </p:nvSpPr>
        <p:spPr>
          <a:xfrm>
            <a:off x="59182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</a:t>
            </a:r>
          </a:p>
        </p:txBody>
      </p:sp>
      <p:sp>
        <p:nvSpPr>
          <p:cNvPr id="68" name="R15 S5 Flow Body">
            <a:extLst>
              <a:ext uri="{FF2B5EF4-FFF2-40B4-BE49-F238E27FC236}">
                <a16:creationId xmlns:a16="http://schemas.microsoft.com/office/drawing/2014/main" id="{FBD60DA7-DAA2-BEF8-6DBA-7C85D606F0DC}"/>
              </a:ext>
            </a:extLst>
          </p:cNvPr>
          <p:cNvSpPr txBox="1"/>
          <p:nvPr/>
        </p:nvSpPr>
        <p:spPr>
          <a:xfrm>
            <a:off x="59182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坐标统一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69" name="R15 S5 Flow Card">
            <a:extLst>
              <a:ext uri="{FF2B5EF4-FFF2-40B4-BE49-F238E27FC236}">
                <a16:creationId xmlns:a16="http://schemas.microsoft.com/office/drawing/2014/main" id="{3AAB2DE8-EA31-D757-A439-C9F489981F0F}"/>
              </a:ext>
            </a:extLst>
          </p:cNvPr>
          <p:cNvSpPr/>
          <p:nvPr/>
        </p:nvSpPr>
        <p:spPr>
          <a:xfrm>
            <a:off x="73406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15 S5 Flow Accent">
            <a:extLst>
              <a:ext uri="{FF2B5EF4-FFF2-40B4-BE49-F238E27FC236}">
                <a16:creationId xmlns:a16="http://schemas.microsoft.com/office/drawing/2014/main" id="{4417514C-1688-DC1A-BF77-2E6CAB1FCF5F}"/>
              </a:ext>
            </a:extLst>
          </p:cNvPr>
          <p:cNvSpPr/>
          <p:nvPr/>
        </p:nvSpPr>
        <p:spPr>
          <a:xfrm>
            <a:off x="73406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15 S5 Flow Head">
            <a:extLst>
              <a:ext uri="{FF2B5EF4-FFF2-40B4-BE49-F238E27FC236}">
                <a16:creationId xmlns:a16="http://schemas.microsoft.com/office/drawing/2014/main" id="{50C4449F-A4DC-9D47-D48E-6EFA0038A115}"/>
              </a:ext>
            </a:extLst>
          </p:cNvPr>
          <p:cNvSpPr txBox="1"/>
          <p:nvPr/>
        </p:nvSpPr>
        <p:spPr>
          <a:xfrm>
            <a:off x="74549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指数输出</a:t>
            </a:r>
          </a:p>
        </p:txBody>
      </p:sp>
      <p:sp>
        <p:nvSpPr>
          <p:cNvPr id="72" name="R15 S5 Flow Body">
            <a:extLst>
              <a:ext uri="{FF2B5EF4-FFF2-40B4-BE49-F238E27FC236}">
                <a16:creationId xmlns:a16="http://schemas.microsoft.com/office/drawing/2014/main" id="{73A82F73-C635-5E73-DA5F-83DB423CD376}"/>
              </a:ext>
            </a:extLst>
          </p:cNvPr>
          <p:cNvSpPr txBox="1"/>
          <p:nvPr/>
        </p:nvSpPr>
        <p:spPr>
          <a:xfrm>
            <a:off x="74549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/ MI</a:t>
            </a:r>
            <a:endParaRPr lang="zh-CN" altLang="en-US" sz="9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R15 Arrow">
            <a:extLst>
              <a:ext uri="{FF2B5EF4-FFF2-40B4-BE49-F238E27FC236}">
                <a16:creationId xmlns:a16="http://schemas.microsoft.com/office/drawing/2014/main" id="{B20B139A-88A1-4DFC-76A0-8E0E42A95338}"/>
              </a:ext>
            </a:extLst>
          </p:cNvPr>
          <p:cNvCxnSpPr/>
          <p:nvPr/>
        </p:nvCxnSpPr>
        <p:spPr>
          <a:xfrm>
            <a:off x="25400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R15 Arrow">
            <a:extLst>
              <a:ext uri="{FF2B5EF4-FFF2-40B4-BE49-F238E27FC236}">
                <a16:creationId xmlns:a16="http://schemas.microsoft.com/office/drawing/2014/main" id="{CDF74CA2-9DDB-9C4F-621E-C12DD5ECC9F9}"/>
              </a:ext>
            </a:extLst>
          </p:cNvPr>
          <p:cNvCxnSpPr/>
          <p:nvPr/>
        </p:nvCxnSpPr>
        <p:spPr>
          <a:xfrm>
            <a:off x="40767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15 Arrow">
            <a:extLst>
              <a:ext uri="{FF2B5EF4-FFF2-40B4-BE49-F238E27FC236}">
                <a16:creationId xmlns:a16="http://schemas.microsoft.com/office/drawing/2014/main" id="{D86385CB-7D86-1BDA-31C7-ADBBF6D85E36}"/>
              </a:ext>
            </a:extLst>
          </p:cNvPr>
          <p:cNvCxnSpPr/>
          <p:nvPr/>
        </p:nvCxnSpPr>
        <p:spPr>
          <a:xfrm>
            <a:off x="56134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R15 Arrow">
            <a:extLst>
              <a:ext uri="{FF2B5EF4-FFF2-40B4-BE49-F238E27FC236}">
                <a16:creationId xmlns:a16="http://schemas.microsoft.com/office/drawing/2014/main" id="{98213BF5-B09E-9C44-D66E-E871230CB6D1}"/>
              </a:ext>
            </a:extLst>
          </p:cNvPr>
          <p:cNvCxnSpPr/>
          <p:nvPr/>
        </p:nvCxnSpPr>
        <p:spPr>
          <a:xfrm>
            <a:off x="71501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15 S5 Flow Card">
            <a:extLst>
              <a:ext uri="{FF2B5EF4-FFF2-40B4-BE49-F238E27FC236}">
                <a16:creationId xmlns:a16="http://schemas.microsoft.com/office/drawing/2014/main" id="{78C3A0EA-FAAF-7149-56EB-966426A28CBE}"/>
              </a:ext>
            </a:extLst>
          </p:cNvPr>
          <p:cNvSpPr/>
          <p:nvPr/>
        </p:nvSpPr>
        <p:spPr>
          <a:xfrm>
            <a:off x="13208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R15 S5 Flow Accent">
            <a:extLst>
              <a:ext uri="{FF2B5EF4-FFF2-40B4-BE49-F238E27FC236}">
                <a16:creationId xmlns:a16="http://schemas.microsoft.com/office/drawing/2014/main" id="{E71DF795-595F-B643-003F-55156E479E7C}"/>
              </a:ext>
            </a:extLst>
          </p:cNvPr>
          <p:cNvSpPr/>
          <p:nvPr/>
        </p:nvSpPr>
        <p:spPr>
          <a:xfrm>
            <a:off x="1320800" y="4343400"/>
            <a:ext cx="1981200" cy="50800"/>
          </a:xfrm>
          <a:prstGeom prst="rect">
            <a:avLst/>
          </a:prstGeom>
          <a:solidFill>
            <a:srgbClr val="58525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R15 S5 Flow Head">
            <a:extLst>
              <a:ext uri="{FF2B5EF4-FFF2-40B4-BE49-F238E27FC236}">
                <a16:creationId xmlns:a16="http://schemas.microsoft.com/office/drawing/2014/main" id="{48A924E3-0DA2-E5F0-C12B-2121BAEA959A}"/>
              </a:ext>
            </a:extLst>
          </p:cNvPr>
          <p:cNvSpPr txBox="1"/>
          <p:nvPr/>
        </p:nvSpPr>
        <p:spPr>
          <a:xfrm>
            <a:off x="14351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80" name="R15 S5 Flow Body">
            <a:extLst>
              <a:ext uri="{FF2B5EF4-FFF2-40B4-BE49-F238E27FC236}">
                <a16:creationId xmlns:a16="http://schemas.microsoft.com/office/drawing/2014/main" id="{A0F8CF9F-0A2C-237D-B3EB-3C03EF9192CF}"/>
              </a:ext>
            </a:extLst>
          </p:cNvPr>
          <p:cNvSpPr txBox="1"/>
          <p:nvPr/>
        </p:nvSpPr>
        <p:spPr>
          <a:xfrm>
            <a:off x="14351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名称与坐标统一</a:t>
            </a:r>
          </a:p>
        </p:txBody>
      </p:sp>
      <p:sp>
        <p:nvSpPr>
          <p:cNvPr id="81" name="R15 S5 Flow Card">
            <a:extLst>
              <a:ext uri="{FF2B5EF4-FFF2-40B4-BE49-F238E27FC236}">
                <a16:creationId xmlns:a16="http://schemas.microsoft.com/office/drawing/2014/main" id="{AC447215-B6E7-53C5-0BFE-873C367D3B2E}"/>
              </a:ext>
            </a:extLst>
          </p:cNvPr>
          <p:cNvSpPr/>
          <p:nvPr/>
        </p:nvSpPr>
        <p:spPr>
          <a:xfrm>
            <a:off x="40005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15 S5 Flow Accent">
            <a:extLst>
              <a:ext uri="{FF2B5EF4-FFF2-40B4-BE49-F238E27FC236}">
                <a16:creationId xmlns:a16="http://schemas.microsoft.com/office/drawing/2014/main" id="{1D2C1691-5BDC-AEAF-0255-6F381DC3566C}"/>
              </a:ext>
            </a:extLst>
          </p:cNvPr>
          <p:cNvSpPr/>
          <p:nvPr/>
        </p:nvSpPr>
        <p:spPr>
          <a:xfrm>
            <a:off x="4000500" y="4343400"/>
            <a:ext cx="19812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15 S5 Flow Head">
            <a:extLst>
              <a:ext uri="{FF2B5EF4-FFF2-40B4-BE49-F238E27FC236}">
                <a16:creationId xmlns:a16="http://schemas.microsoft.com/office/drawing/2014/main" id="{8ED8625E-49ED-5A4B-5C6F-89380B474112}"/>
              </a:ext>
            </a:extLst>
          </p:cNvPr>
          <p:cNvSpPr txBox="1"/>
          <p:nvPr/>
        </p:nvSpPr>
        <p:spPr>
          <a:xfrm>
            <a:off x="41148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</p:txBody>
      </p:sp>
      <p:sp>
        <p:nvSpPr>
          <p:cNvPr id="84" name="R15 S5 Flow Body">
            <a:extLst>
              <a:ext uri="{FF2B5EF4-FFF2-40B4-BE49-F238E27FC236}">
                <a16:creationId xmlns:a16="http://schemas.microsoft.com/office/drawing/2014/main" id="{5E0866DD-0441-408E-2A51-DE3FEA067E9D}"/>
              </a:ext>
            </a:extLst>
          </p:cNvPr>
          <p:cNvSpPr txBox="1"/>
          <p:nvPr/>
        </p:nvSpPr>
        <p:spPr>
          <a:xfrm>
            <a:off x="41148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sp>
        <p:nvSpPr>
          <p:cNvPr id="85" name="R15 S5 Flow Card">
            <a:extLst>
              <a:ext uri="{FF2B5EF4-FFF2-40B4-BE49-F238E27FC236}">
                <a16:creationId xmlns:a16="http://schemas.microsoft.com/office/drawing/2014/main" id="{AC13214E-3937-6B7B-D286-C4ED9AE12828}"/>
              </a:ext>
            </a:extLst>
          </p:cNvPr>
          <p:cNvSpPr/>
          <p:nvPr/>
        </p:nvSpPr>
        <p:spPr>
          <a:xfrm>
            <a:off x="6680200" y="4343400"/>
            <a:ext cx="1600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R15 S5 Flow Accent">
            <a:extLst>
              <a:ext uri="{FF2B5EF4-FFF2-40B4-BE49-F238E27FC236}">
                <a16:creationId xmlns:a16="http://schemas.microsoft.com/office/drawing/2014/main" id="{4B7D4A1F-00A4-87FE-E36D-2426A8B77430}"/>
              </a:ext>
            </a:extLst>
          </p:cNvPr>
          <p:cNvSpPr/>
          <p:nvPr/>
        </p:nvSpPr>
        <p:spPr>
          <a:xfrm>
            <a:off x="6680200" y="4343400"/>
            <a:ext cx="16002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R15 S5 Flow Head">
            <a:extLst>
              <a:ext uri="{FF2B5EF4-FFF2-40B4-BE49-F238E27FC236}">
                <a16:creationId xmlns:a16="http://schemas.microsoft.com/office/drawing/2014/main" id="{38B01822-B669-59E9-1C79-950BB8F8753A}"/>
              </a:ext>
            </a:extLst>
          </p:cNvPr>
          <p:cNvSpPr txBox="1"/>
          <p:nvPr/>
        </p:nvSpPr>
        <p:spPr>
          <a:xfrm>
            <a:off x="6794500" y="4483100"/>
            <a:ext cx="1371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</p:txBody>
      </p:sp>
      <p:sp>
        <p:nvSpPr>
          <p:cNvPr id="88" name="R15 S5 Flow Body">
            <a:extLst>
              <a:ext uri="{FF2B5EF4-FFF2-40B4-BE49-F238E27FC236}">
                <a16:creationId xmlns:a16="http://schemas.microsoft.com/office/drawing/2014/main" id="{1837E3A3-E01E-A671-6434-F2C6199150A5}"/>
              </a:ext>
            </a:extLst>
          </p:cNvPr>
          <p:cNvSpPr txBox="1"/>
          <p:nvPr/>
        </p:nvSpPr>
        <p:spPr>
          <a:xfrm>
            <a:off x="6794500" y="4762500"/>
            <a:ext cx="1371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89" name="R15 Arrow">
            <a:extLst>
              <a:ext uri="{FF2B5EF4-FFF2-40B4-BE49-F238E27FC236}">
                <a16:creationId xmlns:a16="http://schemas.microsoft.com/office/drawing/2014/main" id="{35A6A3AD-F1CF-2CC9-E63D-D6B7AB7BDC90}"/>
              </a:ext>
            </a:extLst>
          </p:cNvPr>
          <p:cNvCxnSpPr/>
          <p:nvPr/>
        </p:nvCxnSpPr>
        <p:spPr>
          <a:xfrm>
            <a:off x="5283200" y="3746500"/>
            <a:ext cx="0" cy="596900"/>
          </a:xfrm>
          <a:prstGeom prst="line">
            <a:avLst/>
          </a:prstGeom>
          <a:ln w="2032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15 Arrow">
            <a:extLst>
              <a:ext uri="{FF2B5EF4-FFF2-40B4-BE49-F238E27FC236}">
                <a16:creationId xmlns:a16="http://schemas.microsoft.com/office/drawing/2014/main" id="{76958A37-07A7-3FAF-3A35-7FAAE110D321}"/>
              </a:ext>
            </a:extLst>
          </p:cNvPr>
          <p:cNvCxnSpPr/>
          <p:nvPr/>
        </p:nvCxnSpPr>
        <p:spPr>
          <a:xfrm>
            <a:off x="33020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15 Arrow">
            <a:extLst>
              <a:ext uri="{FF2B5EF4-FFF2-40B4-BE49-F238E27FC236}">
                <a16:creationId xmlns:a16="http://schemas.microsoft.com/office/drawing/2014/main" id="{5739C2A6-7907-0184-B6D4-620C0DBB3A53}"/>
              </a:ext>
            </a:extLst>
          </p:cNvPr>
          <p:cNvCxnSpPr/>
          <p:nvPr/>
        </p:nvCxnSpPr>
        <p:spPr>
          <a:xfrm>
            <a:off x="59817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15 S5 Caption">
            <a:extLst>
              <a:ext uri="{FF2B5EF4-FFF2-40B4-BE49-F238E27FC236}">
                <a16:creationId xmlns:a16="http://schemas.microsoft.com/office/drawing/2014/main" id="{2B275703-3A27-C47D-3B1B-6861E3F9D457}"/>
              </a:ext>
            </a:extLst>
          </p:cNvPr>
          <p:cNvSpPr txBox="1"/>
          <p:nvPr/>
        </p:nvSpPr>
        <p:spPr>
          <a:xfrm>
            <a:off x="1193800" y="5461000"/>
            <a:ext cx="68580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3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数据处理链条：来源清洗、锚点匹配、网格归一与指数输出保持同一空间口径。</a:t>
            </a:r>
          </a:p>
        </p:txBody>
      </p:sp>
      <p:sp>
        <p:nvSpPr>
          <p:cNvPr id="93" name="R15 S5 MetricsTitle">
            <a:extLst>
              <a:ext uri="{FF2B5EF4-FFF2-40B4-BE49-F238E27FC236}">
                <a16:creationId xmlns:a16="http://schemas.microsoft.com/office/drawing/2014/main" id="{66DDC045-A7D6-7D4D-2A35-974963C0FF29}"/>
              </a:ext>
            </a:extLst>
          </p:cNvPr>
          <p:cNvSpPr txBox="1"/>
          <p:nvPr/>
        </p:nvSpPr>
        <p:spPr>
          <a:xfrm>
            <a:off x="9017000" y="1955800"/>
            <a:ext cx="1905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数据规模</a:t>
            </a:r>
          </a:p>
        </p:txBody>
      </p:sp>
      <p:sp>
        <p:nvSpPr>
          <p:cNvPr id="94" name="R15 S5 Metric Num">
            <a:extLst>
              <a:ext uri="{FF2B5EF4-FFF2-40B4-BE49-F238E27FC236}">
                <a16:creationId xmlns:a16="http://schemas.microsoft.com/office/drawing/2014/main" id="{7344A118-61EB-64D0-DF82-11595724F843}"/>
              </a:ext>
            </a:extLst>
          </p:cNvPr>
          <p:cNvSpPr txBox="1"/>
          <p:nvPr/>
        </p:nvSpPr>
        <p:spPr>
          <a:xfrm>
            <a:off x="9017000" y="23622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5" name="R15 S5 Metric Rule">
            <a:extLst>
              <a:ext uri="{FF2B5EF4-FFF2-40B4-BE49-F238E27FC236}">
                <a16:creationId xmlns:a16="http://schemas.microsoft.com/office/drawing/2014/main" id="{691234D3-D5BE-E33D-5A3C-BE0AAB98CAF4}"/>
              </a:ext>
            </a:extLst>
          </p:cNvPr>
          <p:cNvCxnSpPr/>
          <p:nvPr/>
        </p:nvCxnSpPr>
        <p:spPr>
          <a:xfrm>
            <a:off x="9017000" y="27432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15 S5 Metric Label">
            <a:extLst>
              <a:ext uri="{FF2B5EF4-FFF2-40B4-BE49-F238E27FC236}">
                <a16:creationId xmlns:a16="http://schemas.microsoft.com/office/drawing/2014/main" id="{5D41D327-BE6E-2096-C428-0F12D0976B9C}"/>
              </a:ext>
            </a:extLst>
          </p:cNvPr>
          <p:cNvSpPr txBox="1"/>
          <p:nvPr/>
        </p:nvSpPr>
        <p:spPr>
          <a:xfrm>
            <a:off x="9017000" y="28448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标准化典籍语料</a:t>
            </a:r>
          </a:p>
        </p:txBody>
      </p:sp>
      <p:sp>
        <p:nvSpPr>
          <p:cNvPr id="97" name="R15 S5 Metric Num">
            <a:extLst>
              <a:ext uri="{FF2B5EF4-FFF2-40B4-BE49-F238E27FC236}">
                <a16:creationId xmlns:a16="http://schemas.microsoft.com/office/drawing/2014/main" id="{91B52758-2DC0-E28A-003E-C25F500EF154}"/>
              </a:ext>
            </a:extLst>
          </p:cNvPr>
          <p:cNvSpPr txBox="1"/>
          <p:nvPr/>
        </p:nvSpPr>
        <p:spPr>
          <a:xfrm>
            <a:off x="9017000" y="32258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8" name="R15 S5 Metric Rule">
            <a:extLst>
              <a:ext uri="{FF2B5EF4-FFF2-40B4-BE49-F238E27FC236}">
                <a16:creationId xmlns:a16="http://schemas.microsoft.com/office/drawing/2014/main" id="{FB7B3989-A01D-D15D-FE4B-C9C77F998BB5}"/>
              </a:ext>
            </a:extLst>
          </p:cNvPr>
          <p:cNvCxnSpPr/>
          <p:nvPr/>
        </p:nvCxnSpPr>
        <p:spPr>
          <a:xfrm>
            <a:off x="9017000" y="36068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15 S5 Metric Label">
            <a:extLst>
              <a:ext uri="{FF2B5EF4-FFF2-40B4-BE49-F238E27FC236}">
                <a16:creationId xmlns:a16="http://schemas.microsoft.com/office/drawing/2014/main" id="{B5D38B1B-893F-D0F1-B8E0-AC67B11B655D}"/>
              </a:ext>
            </a:extLst>
          </p:cNvPr>
          <p:cNvSpPr txBox="1"/>
          <p:nvPr/>
        </p:nvSpPr>
        <p:spPr>
          <a:xfrm>
            <a:off x="9017000" y="37084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114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R15 S5 Metric Num">
            <a:extLst>
              <a:ext uri="{FF2B5EF4-FFF2-40B4-BE49-F238E27FC236}">
                <a16:creationId xmlns:a16="http://schemas.microsoft.com/office/drawing/2014/main" id="{3E434595-23FE-E870-914D-23D86FA16FB1}"/>
              </a:ext>
            </a:extLst>
          </p:cNvPr>
          <p:cNvSpPr txBox="1"/>
          <p:nvPr/>
        </p:nvSpPr>
        <p:spPr>
          <a:xfrm>
            <a:off x="9017000" y="40894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1" name="R15 S5 Metric Rule">
            <a:extLst>
              <a:ext uri="{FF2B5EF4-FFF2-40B4-BE49-F238E27FC236}">
                <a16:creationId xmlns:a16="http://schemas.microsoft.com/office/drawing/2014/main" id="{E1E9E7B1-E36A-0064-27B6-55235675502C}"/>
              </a:ext>
            </a:extLst>
          </p:cNvPr>
          <p:cNvCxnSpPr/>
          <p:nvPr/>
        </p:nvCxnSpPr>
        <p:spPr>
          <a:xfrm>
            <a:off x="9017000" y="44704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15 S5 Metric Label">
            <a:extLst>
              <a:ext uri="{FF2B5EF4-FFF2-40B4-BE49-F238E27FC236}">
                <a16:creationId xmlns:a16="http://schemas.microsoft.com/office/drawing/2014/main" id="{0B3AE6D6-1F4C-F2AA-741E-601E26220F9F}"/>
              </a:ext>
            </a:extLst>
          </p:cNvPr>
          <p:cNvSpPr txBox="1"/>
          <p:nvPr/>
        </p:nvSpPr>
        <p:spPr>
          <a:xfrm>
            <a:off x="9017000" y="45720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103" name="R15 S5 Metric Num">
            <a:extLst>
              <a:ext uri="{FF2B5EF4-FFF2-40B4-BE49-F238E27FC236}">
                <a16:creationId xmlns:a16="http://schemas.microsoft.com/office/drawing/2014/main" id="{0471C50C-473C-010F-F4D9-DA75F88A5C4F}"/>
              </a:ext>
            </a:extLst>
          </p:cNvPr>
          <p:cNvSpPr txBox="1"/>
          <p:nvPr/>
        </p:nvSpPr>
        <p:spPr>
          <a:xfrm>
            <a:off x="9017000" y="49530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/ 165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4" name="R15 S5 Metric Rule">
            <a:extLst>
              <a:ext uri="{FF2B5EF4-FFF2-40B4-BE49-F238E27FC236}">
                <a16:creationId xmlns:a16="http://schemas.microsoft.com/office/drawing/2014/main" id="{28777764-96C8-FFCB-1E47-062AD586B201}"/>
              </a:ext>
            </a:extLst>
          </p:cNvPr>
          <p:cNvCxnSpPr/>
          <p:nvPr/>
        </p:nvCxnSpPr>
        <p:spPr>
          <a:xfrm>
            <a:off x="9017000" y="53340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15 S5 Metric Label">
            <a:extLst>
              <a:ext uri="{FF2B5EF4-FFF2-40B4-BE49-F238E27FC236}">
                <a16:creationId xmlns:a16="http://schemas.microsoft.com/office/drawing/2014/main" id="{7F66B908-0410-CB51-D07E-7D6C53A7A29C}"/>
              </a:ext>
            </a:extLst>
          </p:cNvPr>
          <p:cNvSpPr txBox="1"/>
          <p:nvPr/>
        </p:nvSpPr>
        <p:spPr>
          <a:xfrm>
            <a:off x="9017000" y="54356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471A79-DA83-5DD7-8883-334ACB1D8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83C5624-9B70-3CD8-C861-7B535C188848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129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2026-06-03T12:49:38Z</dcterms:created>
  <dcterms:modified xsi:type="dcterms:W3CDTF">2026-06-03T12:49:38Z</dcterms:modified>
</cp:coreProperties>
</file>