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3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C5A1F6D-502A-4A79-A1ED-76B838C82F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D2E851-9117-4B8A-AE27-C738D7C7FE6A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520866-5C2C-490D-94A8-50FABE26EE1F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3022600" cy="279400"/>
          </a:xfrm>
          <a:prstGeom prst="rect">
            <a:avLst/>
          </a:prstGeom>
          <a:solidFill>
            <a:srgbClr val="56166F"/>
          </a:solidFill>
          <a:ln w="0">
            <a:noFill/>
            <a:prstDash val="solid"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114300" tIns="12700" rIns="101600" bIns="1270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02 | </a:t>
            </a:r>
            <a:r>
              <a:rPr lang="zh-CN" altLang="en-US"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数据基础与处理方法</a:t>
            </a:r>
            <a:endParaRPr sz="105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461A921-137A-4F50-9AB9-707E179B6955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08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3E3B3E0-71CF-4D09-BFB8-161DDCD5B0E0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4.3.2 节、图 4.3、图 4.4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34D4A68-F63D-4D3D-8999-830698D7897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6C34604-27ED-49CC-841B-0BE0A5F8F69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8890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人物子图呈现关系网络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121950B-6511-4BB6-BE61-3669FCD462D5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9652000" cy="736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核心判断：人物、地点与技艺的连接说明文化记忆并非散点，而是可以组织为地方关系网络。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讲述时强调：黄飞鸿子图展示叙事如何从文本走向空间锚点，为后续文旅转译提供线索。</a:t>
            </a:r>
            <a:endParaRPr sz="920" dirty="0" err="1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EE3E200-3086-4F06-8780-73D6635973B3}"/>
              </a:ext>
            </a:extLst>
          </p:cNvPr>
          <p:cNvSpPr>
            <a:spLocks noGrp="1"/>
          </p:cNvSpPr>
          <p:nvPr/>
        </p:nvSpPr>
        <p:spPr>
          <a:xfrm>
            <a:off x="742950" y="2114550"/>
            <a:ext cx="4762500" cy="340995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7D2AD61-A13E-41D6-87A1-AEE9277C7CC5}"/>
              </a:ext>
            </a:extLst>
          </p:cNvPr>
          <p:cNvSpPr>
            <a:spLocks noGrp="1"/>
          </p:cNvSpPr>
          <p:nvPr/>
        </p:nvSpPr>
        <p:spPr>
          <a:xfrm>
            <a:off x="819150" y="52197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 dirty="0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人物关联总图</a:t>
            </a:r>
            <a:endParaRPr sz="713" b="1" dirty="0">
              <a:solidFill>
                <a:srgbClr val="600070"/>
              </a:solidFill>
              <a:latin typeface="Microsoft YaHei UI"/>
              <a:ea typeface="Microsoft YaHei UI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A025EA7-441A-4146-9505-428CEDF1C16A}"/>
              </a:ext>
            </a:extLst>
          </p:cNvPr>
          <p:cNvSpPr>
            <a:spLocks noGrp="1"/>
          </p:cNvSpPr>
          <p:nvPr/>
        </p:nvSpPr>
        <p:spPr>
          <a:xfrm>
            <a:off x="5810250" y="2114550"/>
            <a:ext cx="4762500" cy="340995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366371" y="2171700"/>
            <a:ext cx="3497857" cy="3009900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126C096B-149F-4DFE-A979-F72238EA7DE7}"/>
              </a:ext>
            </a:extLst>
          </p:cNvPr>
          <p:cNvSpPr>
            <a:spLocks noGrp="1"/>
          </p:cNvSpPr>
          <p:nvPr/>
        </p:nvSpPr>
        <p:spPr>
          <a:xfrm>
            <a:off x="5886450" y="52197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黄飞鸿人物子图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3673C72-FB6E-46CB-BE4B-247E78DBC365}"/>
              </a:ext>
            </a:extLst>
          </p:cNvPr>
          <p:cNvSpPr>
            <a:spLocks noGrp="1"/>
          </p:cNvSpPr>
          <p:nvPr/>
        </p:nvSpPr>
        <p:spPr>
          <a:xfrm>
            <a:off x="10687050" y="2190750"/>
            <a:ext cx="838200" cy="552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DA6DCD6-28B0-45F8-B41A-88B18E064A61}"/>
              </a:ext>
            </a:extLst>
          </p:cNvPr>
          <p:cNvSpPr>
            <a:spLocks noGrp="1"/>
          </p:cNvSpPr>
          <p:nvPr/>
        </p:nvSpPr>
        <p:spPr>
          <a:xfrm>
            <a:off x="10763250" y="22860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人物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DCD72C2-D884-4D4E-B364-795D60E6A7A9}"/>
              </a:ext>
            </a:extLst>
          </p:cNvPr>
          <p:cNvSpPr>
            <a:spLocks noGrp="1"/>
          </p:cNvSpPr>
          <p:nvPr/>
        </p:nvSpPr>
        <p:spPr>
          <a:xfrm>
            <a:off x="10763250" y="2495550"/>
            <a:ext cx="68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人物关系进入图谱结构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3A1F2E3-7773-472E-94B2-F26F1575CF7F}"/>
              </a:ext>
            </a:extLst>
          </p:cNvPr>
          <p:cNvSpPr>
            <a:spLocks noGrp="1"/>
          </p:cNvSpPr>
          <p:nvPr/>
        </p:nvSpPr>
        <p:spPr>
          <a:xfrm>
            <a:off x="10687050" y="3048000"/>
            <a:ext cx="838200" cy="552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A0827CF-197B-44B9-A3B8-EFC8B1A8C2F0}"/>
              </a:ext>
            </a:extLst>
          </p:cNvPr>
          <p:cNvSpPr>
            <a:spLocks noGrp="1"/>
          </p:cNvSpPr>
          <p:nvPr/>
        </p:nvSpPr>
        <p:spPr>
          <a:xfrm>
            <a:off x="10763250" y="314325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地点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EC7C91D-2B70-47AC-9B59-4EA0B1C14256}"/>
              </a:ext>
            </a:extLst>
          </p:cNvPr>
          <p:cNvSpPr>
            <a:spLocks noGrp="1"/>
          </p:cNvSpPr>
          <p:nvPr/>
        </p:nvSpPr>
        <p:spPr>
          <a:xfrm>
            <a:off x="10763250" y="3352800"/>
            <a:ext cx="68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文化记忆可追溯到空间锚点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EAF7CFF-1C31-4214-8663-BB628BF18689}"/>
              </a:ext>
            </a:extLst>
          </p:cNvPr>
          <p:cNvSpPr>
            <a:spLocks noGrp="1"/>
          </p:cNvSpPr>
          <p:nvPr/>
        </p:nvSpPr>
        <p:spPr>
          <a:xfrm>
            <a:off x="10687050" y="3905250"/>
            <a:ext cx="838200" cy="552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1F5DD30-F609-48E5-B576-A0FEFE07ADB5}"/>
              </a:ext>
            </a:extLst>
          </p:cNvPr>
          <p:cNvSpPr>
            <a:spLocks noGrp="1"/>
          </p:cNvSpPr>
          <p:nvPr/>
        </p:nvSpPr>
        <p:spPr>
          <a:xfrm>
            <a:off x="10763250" y="40005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技艺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F5CD4F8-68CF-4E47-9E99-EC3BD2709CC3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8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非遗与地方叙事发生关联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FF5F0A2C-9C73-8CE5-AF00-6948F43C86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728" y="2165587"/>
            <a:ext cx="3626544" cy="300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67788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86</Words>
  <Application>Microsoft Office PowerPoint</Application>
  <DocSecurity>0</DocSecurity>
  <PresentationFormat>宽屏</PresentationFormat>
  <Paragraphs>15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15</cp:revision>
  <dcterms:created xsi:type="dcterms:W3CDTF">2026-06-02T06:15:18Z</dcterms:created>
  <dcterms:modified xsi:type="dcterms:W3CDTF">2026-06-02T12:36:41Z</dcterms:modified>
</cp:coreProperties>
</file>