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09566C8-5949-4632-9965-FE38006633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EED79F-680A-4D3E-8DED-EC4BFA4058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BDD00DA-7106-4DD1-9E9E-D68AC24E0F00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3022600" cy="279400"/>
          </a:xfrm>
          <a:prstGeom prst="rect">
            <a:avLst/>
          </a:prstGeom>
          <a:solidFill>
            <a:srgbClr val="56166F"/>
          </a:solidFill>
          <a:ln w="0">
            <a:noFill/>
            <a:prstDash val="solid"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114300" tIns="12700" rIns="101600" bIns="1270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0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CD9B71-2741-4848-8C5B-4B66E53149F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09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FC6DA7F-F51C-4316-A14D-EF4FDB8D057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5.1 节、图 5.1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B6E46-A02C-4F1E-BB84-9D2DA188048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68A9FE-ABAA-46C4-8E11-A09F807E3EA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8890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强，文化入口薄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5C181DA-7DFA-4631-965A-04AA9D33EC50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9652000" cy="736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核心判断：南海并不缺旅游供给，但文化体验入口在 </a:t>
            </a:r>
            <a:r>
              <a:rPr lang="en-US" altLang="zh-CN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类型结构中占比偏低。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讲述时强调：公园绿地和自然景观占主导，非遗体验、文化场馆和特色街区仍是薄弱入口。</a:t>
            </a:r>
            <a:endParaRPr sz="92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08834F-FA97-47CA-A321-0F5ACC3DFDCE}"/>
              </a:ext>
            </a:extLst>
          </p:cNvPr>
          <p:cNvSpPr>
            <a:spLocks noGrp="1"/>
          </p:cNvSpPr>
          <p:nvPr/>
        </p:nvSpPr>
        <p:spPr>
          <a:xfrm>
            <a:off x="3505200" y="2114550"/>
            <a:ext cx="7239000" cy="339090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5F716AE-EFBA-4CD0-97DC-9236CE04BC45}"/>
              </a:ext>
            </a:extLst>
          </p:cNvPr>
          <p:cNvSpPr>
            <a:spLocks noGrp="1"/>
          </p:cNvSpPr>
          <p:nvPr/>
        </p:nvSpPr>
        <p:spPr>
          <a:xfrm>
            <a:off x="3429000" y="2038350"/>
            <a:ext cx="7239000" cy="3390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56942" y="2171700"/>
            <a:ext cx="5383116" cy="299085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374DB6B3-3318-40A8-9A0E-3D6D58E9ED0D}"/>
              </a:ext>
            </a:extLst>
          </p:cNvPr>
          <p:cNvSpPr>
            <a:spLocks noGrp="1"/>
          </p:cNvSpPr>
          <p:nvPr/>
        </p:nvSpPr>
        <p:spPr>
          <a:xfrm>
            <a:off x="3562350" y="2171700"/>
            <a:ext cx="6972300" cy="29908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E05708F-9117-41BC-A7E3-9F3E04750ADA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70.8%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1AFAF73-4A8B-439E-9C95-FBBE276C48A2}"/>
              </a:ext>
            </a:extLst>
          </p:cNvPr>
          <p:cNvSpPr>
            <a:spLocks noGrp="1"/>
          </p:cNvSpPr>
          <p:nvPr/>
        </p:nvSpPr>
        <p:spPr>
          <a:xfrm>
            <a:off x="742950" y="24003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143B26-83C4-4865-B75F-98941F38CE77}"/>
              </a:ext>
            </a:extLst>
          </p:cNvPr>
          <p:cNvSpPr>
            <a:spLocks noGrp="1"/>
          </p:cNvSpPr>
          <p:nvPr/>
        </p:nvSpPr>
        <p:spPr>
          <a:xfrm>
            <a:off x="742950" y="24765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公园绿地 + 自然景观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F8472AA-CCF4-42DB-AF84-1EAD709BC351}"/>
              </a:ext>
            </a:extLst>
          </p:cNvPr>
          <p:cNvSpPr>
            <a:spLocks noGrp="1"/>
          </p:cNvSpPr>
          <p:nvPr/>
        </p:nvSpPr>
        <p:spPr>
          <a:xfrm>
            <a:off x="742950" y="28194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3.8%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C430E1B-83B7-47A6-A91B-5CF3F8F06A69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E8E670C-7621-469D-A525-B351F1A8EC50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非遗体验 + 文化场馆 + 特色街区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B7C399C-1C25-468D-AF61-694759AE5374}"/>
              </a:ext>
            </a:extLst>
          </p:cNvPr>
          <p:cNvSpPr>
            <a:spLocks noGrp="1"/>
          </p:cNvSpPr>
          <p:nvPr/>
        </p:nvSpPr>
        <p:spPr>
          <a:xfrm>
            <a:off x="742950" y="360045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82.1%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50F6341-5ED3-44CA-8233-C49B6D7CE5E2}"/>
              </a:ext>
            </a:extLst>
          </p:cNvPr>
          <p:cNvSpPr>
            <a:spLocks noGrp="1"/>
          </p:cNvSpPr>
          <p:nvPr/>
        </p:nvSpPr>
        <p:spPr>
          <a:xfrm>
            <a:off x="742950" y="39624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94A3799-443D-4515-B099-7282EB78CAB6}"/>
              </a:ext>
            </a:extLst>
          </p:cNvPr>
          <p:cNvSpPr>
            <a:spLocks noGrp="1"/>
          </p:cNvSpPr>
          <p:nvPr/>
        </p:nvSpPr>
        <p:spPr>
          <a:xfrm>
            <a:off x="742950" y="40386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桂城、里水、狮山、大沥 POI 合计占比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32D1C45-B2D7-472F-94F4-D690FC14E3D4}"/>
              </a:ext>
            </a:extLst>
          </p:cNvPr>
          <p:cNvSpPr>
            <a:spLocks noGrp="1"/>
          </p:cNvSpPr>
          <p:nvPr/>
        </p:nvSpPr>
        <p:spPr>
          <a:xfrm>
            <a:off x="742950" y="5219700"/>
            <a:ext cx="228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九江仅 259 条 / 1.92%，提醒不能只按总体热度判断。</a:t>
            </a:r>
          </a:p>
        </p:txBody>
      </p:sp>
    </p:spTree>
    <p:extLst>
      <p:ext uri="{BB962C8B-B14F-4D97-AF65-F5344CB8AC3E}">
        <p14:creationId xmlns:p14="http://schemas.microsoft.com/office/powerpoint/2010/main" val="11734133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101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15</cp:revision>
  <dcterms:created xsi:type="dcterms:W3CDTF">2026-06-02T06:15:18Z</dcterms:created>
  <dcterms:modified xsi:type="dcterms:W3CDTF">2026-06-02T12:36:41Z</dcterms:modified>
</cp:coreProperties>
</file>