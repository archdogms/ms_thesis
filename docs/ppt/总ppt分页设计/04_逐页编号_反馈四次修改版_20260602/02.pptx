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132DDB1-7A26-406B-A31C-E2B7A58EC9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3584DC-1465-4FC8-943F-F607DBEA616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1D2C03A-5D6A-458D-A8CC-4120A823F5B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4C18070-636E-4B5A-9024-5935E78866E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 dirty="0" err="1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终版论文第 1、3、5、6、7 章</a:t>
            </a:r>
            <a:r>
              <a:rPr sz="638" b="0" dirty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
              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993D70-DDB6-4989-893D-DDA22F99C79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FE3D34-1F12-4BE1-B46B-3404F4C59604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3066006" cy="106001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6000" b="1" dirty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目录</a:t>
            </a:r>
            <a:endParaRPr lang="en-US" altLang="zh-CN" sz="6000" b="1" dirty="0">
              <a:solidFill>
                <a:srgbClr val="FFFFFF"/>
              </a:solidFill>
              <a:latin typeface="Microsoft YaHei UI"/>
              <a:ea typeface="Microsoft YaHei UI"/>
              <a:cs typeface="Microsoft YaHei U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2D1ADB1-2960-4A9B-B98F-EFBCFE7DDEEE}"/>
              </a:ext>
            </a:extLst>
          </p:cNvPr>
          <p:cNvSpPr>
            <a:spLocks noGrp="1"/>
          </p:cNvSpPr>
          <p:nvPr/>
        </p:nvSpPr>
        <p:spPr>
          <a:xfrm>
            <a:off x="708503" y="4267853"/>
            <a:ext cx="2583493" cy="54566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E9E1F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 dirty="0" err="1">
                <a:solidFill>
                  <a:srgbClr val="E9E1F7"/>
                </a:solidFill>
                <a:latin typeface="Microsoft YaHei UI"/>
                <a:ea typeface="Microsoft YaHei UI"/>
                <a:cs typeface="Microsoft YaHei UI"/>
              </a:rPr>
              <a:t>从开题/中期的双谱系问题出发，沿数据处理、结果诊断和规划转译逐步展开。</a:t>
            </a:r>
            <a:r>
              <a:rPr sz="1050" b="0" dirty="0">
                <a:solidFill>
                  <a:srgbClr val="E9E1F7"/>
                </a:solidFill>
                <a:latin typeface="Microsoft YaHei UI"/>
                <a:ea typeface="Microsoft YaHei UI"/>
                <a:cs typeface="Microsoft YaHei UI"/>
              </a:rPr>
              <a:t>
              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11E3E44-7BBF-4037-A618-13369A1C21D7}"/>
              </a:ext>
            </a:extLst>
          </p:cNvPr>
          <p:cNvSpPr>
            <a:spLocks noGrp="1"/>
          </p:cNvSpPr>
          <p:nvPr/>
        </p:nvSpPr>
        <p:spPr>
          <a:xfrm>
            <a:off x="4602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研究回顾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E4A3BBF-C3F1-4263-9ED4-6B548E071B3A}"/>
              </a:ext>
            </a:extLst>
          </p:cNvPr>
          <p:cNvSpPr>
            <a:spLocks noGrp="1"/>
          </p:cNvSpPr>
          <p:nvPr/>
        </p:nvSpPr>
        <p:spPr>
          <a:xfrm>
            <a:off x="4602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开题背景与中期问题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FBFC87D-3BA6-4385-8230-4D4CB17A0C0E}"/>
              </a:ext>
            </a:extLst>
          </p:cNvPr>
          <p:cNvSpPr>
            <a:spLocks noGrp="1"/>
          </p:cNvSpPr>
          <p:nvPr/>
        </p:nvSpPr>
        <p:spPr>
          <a:xfrm>
            <a:off x="6126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数据方法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4323C5C-4F73-4F9A-B92E-4921DD09F8AA}"/>
              </a:ext>
            </a:extLst>
          </p:cNvPr>
          <p:cNvSpPr>
            <a:spLocks noGrp="1"/>
          </p:cNvSpPr>
          <p:nvPr/>
        </p:nvSpPr>
        <p:spPr>
          <a:xfrm>
            <a:off x="6126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OCR、POI、评论与指数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76C46B8-CC2B-4F43-9990-11D990B487C4}"/>
              </a:ext>
            </a:extLst>
          </p:cNvPr>
          <p:cNvSpPr>
            <a:spLocks noGrp="1"/>
          </p:cNvSpPr>
          <p:nvPr/>
        </p:nvSpPr>
        <p:spPr>
          <a:xfrm>
            <a:off x="7650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结果诊断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8AAE0EC-6D4E-4102-8103-8252F7D15B36}"/>
              </a:ext>
            </a:extLst>
          </p:cNvPr>
          <p:cNvSpPr>
            <a:spLocks noGrp="1"/>
          </p:cNvSpPr>
          <p:nvPr/>
        </p:nvSpPr>
        <p:spPr>
          <a:xfrm>
            <a:off x="7650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载体分层与空间格局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8871438-59E7-4045-A027-0F9A6AF4971D}"/>
              </a:ext>
            </a:extLst>
          </p:cNvPr>
          <p:cNvSpPr>
            <a:spLocks noGrp="1"/>
          </p:cNvSpPr>
          <p:nvPr/>
        </p:nvSpPr>
        <p:spPr>
          <a:xfrm>
            <a:off x="9174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规划转译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3D8258F-31C3-4276-95B7-2D630754A280}"/>
              </a:ext>
            </a:extLst>
          </p:cNvPr>
          <p:cNvSpPr>
            <a:spLocks noGrp="1"/>
          </p:cNvSpPr>
          <p:nvPr/>
        </p:nvSpPr>
        <p:spPr>
          <a:xfrm>
            <a:off x="9174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分区策略与研究边界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B62457C-4F7C-468F-83CB-C93D4B536474}"/>
              </a:ext>
            </a:extLst>
          </p:cNvPr>
          <p:cNvSpPr>
            <a:spLocks noGrp="1"/>
          </p:cNvSpPr>
          <p:nvPr/>
        </p:nvSpPr>
        <p:spPr>
          <a:xfrm>
            <a:off x="5030778" y="5941158"/>
            <a:ext cx="4667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6DAC28E-8B0D-4BD3-BEFC-05CF6F43FCA4}"/>
              </a:ext>
            </a:extLst>
          </p:cNvPr>
          <p:cNvSpPr>
            <a:spLocks noGrp="1"/>
          </p:cNvSpPr>
          <p:nvPr/>
        </p:nvSpPr>
        <p:spPr>
          <a:xfrm>
            <a:off x="4602153" y="4769583"/>
            <a:ext cx="495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核心判断：不是证明南海「有文化」，而是判断文化资源如何被旅游空间看见、承接和转化。</a:t>
            </a:r>
            <a:endParaRPr sz="88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7104B45-0FCF-DFB4-3A4F-F386F459A2B2}"/>
              </a:ext>
            </a:extLst>
          </p:cNvPr>
          <p:cNvSpPr txBox="1"/>
          <p:nvPr/>
        </p:nvSpPr>
        <p:spPr>
          <a:xfrm>
            <a:off x="419100" y="2668280"/>
            <a:ext cx="32572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4800" b="1" dirty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CONTENT</a:t>
            </a:r>
            <a:endParaRPr lang="zh-CN" altLang="en-US" sz="4800" b="1" dirty="0">
              <a:solidFill>
                <a:srgbClr val="FFFFFF"/>
              </a:solidFill>
              <a:latin typeface="Microsoft YaHei UI"/>
              <a:ea typeface="Microsoft YaHei UI"/>
              <a:cs typeface="Microsoft YaHei UI"/>
            </a:endParaRPr>
          </a:p>
        </p:txBody>
      </p:sp>
      <p:sp>
        <p:nvSpPr>
          <p:cNvPr id="47" name="Text 0">
            <a:extLst>
              <a:ext uri="{FF2B5EF4-FFF2-40B4-BE49-F238E27FC236}">
                <a16:creationId xmlns:a16="http://schemas.microsoft.com/office/drawing/2014/main" id="{B8BA803D-B542-98C7-AB43-17F107C0F834}"/>
              </a:ext>
            </a:extLst>
          </p:cNvPr>
          <p:cNvSpPr/>
          <p:nvPr/>
        </p:nvSpPr>
        <p:spPr>
          <a:xfrm>
            <a:off x="4569677" y="1206742"/>
            <a:ext cx="362279" cy="3592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lang="en-US" sz="2400"/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8EAF7C4B-61B7-79B9-D92E-F2768BB0A864}"/>
              </a:ext>
            </a:extLst>
          </p:cNvPr>
          <p:cNvSpPr/>
          <p:nvPr/>
        </p:nvSpPr>
        <p:spPr>
          <a:xfrm>
            <a:off x="4569677" y="2046834"/>
            <a:ext cx="362279" cy="3592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lang="en-US" sz="2400"/>
          </a:p>
        </p:txBody>
      </p:sp>
      <p:sp>
        <p:nvSpPr>
          <p:cNvPr id="53" name="Text 2">
            <a:extLst>
              <a:ext uri="{FF2B5EF4-FFF2-40B4-BE49-F238E27FC236}">
                <a16:creationId xmlns:a16="http://schemas.microsoft.com/office/drawing/2014/main" id="{1319A0C2-A040-D354-411F-3B57B2D8B4CE}"/>
              </a:ext>
            </a:extLst>
          </p:cNvPr>
          <p:cNvSpPr/>
          <p:nvPr/>
        </p:nvSpPr>
        <p:spPr>
          <a:xfrm>
            <a:off x="4569677" y="2886929"/>
            <a:ext cx="362279" cy="3592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lang="en-US" sz="2400"/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4CB49BA7-8BD3-C877-04BD-89B11344607E}"/>
              </a:ext>
            </a:extLst>
          </p:cNvPr>
          <p:cNvSpPr/>
          <p:nvPr/>
        </p:nvSpPr>
        <p:spPr>
          <a:xfrm>
            <a:off x="4569677" y="3727022"/>
            <a:ext cx="362279" cy="3592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  <a:endParaRPr lang="en-US" sz="2400"/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5F561089-AE37-EDA3-DFC3-02F1FF9B9C93}"/>
              </a:ext>
            </a:extLst>
          </p:cNvPr>
          <p:cNvSpPr/>
          <p:nvPr/>
        </p:nvSpPr>
        <p:spPr>
          <a:xfrm>
            <a:off x="5150141" y="2067355"/>
            <a:ext cx="4377413" cy="26590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118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第二部分：数据基础与处理方法</a:t>
            </a:r>
            <a:endParaRPr lang="zh-CN" altLang="en-US" sz="1180" b="1" dirty="0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471FACF7-4FB8-36CC-BDE7-F072455C7EBD}"/>
              </a:ext>
            </a:extLst>
          </p:cNvPr>
          <p:cNvSpPr/>
          <p:nvPr/>
        </p:nvSpPr>
        <p:spPr>
          <a:xfrm>
            <a:off x="5140943" y="1227260"/>
            <a:ext cx="4386613" cy="26590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118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第一部分：研究回顾与问题收束</a:t>
            </a:r>
            <a:endParaRPr lang="en-US" sz="1180" b="1" dirty="0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DE2442D3-1163-A3C3-01AA-885AEAA9332E}"/>
              </a:ext>
            </a:extLst>
          </p:cNvPr>
          <p:cNvSpPr/>
          <p:nvPr/>
        </p:nvSpPr>
        <p:spPr>
          <a:xfrm>
            <a:off x="5140943" y="2907447"/>
            <a:ext cx="4414210" cy="26590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118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第三部分：结果诊断与空间格局</a:t>
            </a:r>
            <a:endParaRPr lang="zh-CN" altLang="en-US" sz="1180" b="1" dirty="0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EB2B1419-679A-98AA-1016-5B16FF8ECCB4}"/>
              </a:ext>
            </a:extLst>
          </p:cNvPr>
          <p:cNvSpPr/>
          <p:nvPr/>
        </p:nvSpPr>
        <p:spPr>
          <a:xfrm>
            <a:off x="5140943" y="3747540"/>
            <a:ext cx="4386613" cy="26590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118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第四部分：规划转译与结论边界</a:t>
            </a:r>
            <a:endParaRPr lang="zh-CN" altLang="en-US" sz="1180" b="1" dirty="0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809756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94</Words>
  <Application>Microsoft Office PowerPoint</Application>
  <DocSecurity>0</DocSecurity>
  <PresentationFormat>宽屏</PresentationFormat>
  <Paragraphs>23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Microsoft YaHei UI</vt:lpstr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19</cp:revision>
  <dcterms:created xsi:type="dcterms:W3CDTF">2026-06-02T06:15:18Z</dcterms:created>
  <dcterms:modified xsi:type="dcterms:W3CDTF">2026-06-02T13:24:59Z</dcterms:modified>
</cp:coreProperties>
</file>