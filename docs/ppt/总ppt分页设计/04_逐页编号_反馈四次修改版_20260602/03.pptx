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58" r:id="rId2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>
        <p:scale>
          <a:sx n="125" d="100"/>
          <a:sy n="125" d="100"/>
        </p:scale>
        <p:origin x="1416" y="7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图片 35"/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3EE79864-D31A-4C35-B446-898E1C55EC4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33333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7898EE0C-E849-4D2F-B790-26CDBCEA8D99}"/>
              </a:ext>
            </a:extLst>
          </p:cNvPr>
          <p:cNvSpPr>
            <a:spLocks noGrp="1"/>
          </p:cNvSpPr>
          <p:nvPr/>
        </p:nvSpPr>
        <p:spPr>
          <a:xfrm>
            <a:off x="419100" y="400050"/>
            <a:ext cx="66675" cy="552450"/>
          </a:xfrm>
          <a:prstGeom prst="rect">
            <a:avLst/>
          </a:prstGeom>
          <a:solidFill>
            <a:srgbClr val="6000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5C8F7B0-0AD1-4480-B1AB-2AF7811204A4}"/>
              </a:ext>
            </a:extLst>
          </p:cNvPr>
          <p:cNvSpPr>
            <a:spLocks noGrp="1"/>
          </p:cNvSpPr>
          <p:nvPr/>
        </p:nvSpPr>
        <p:spPr>
          <a:xfrm>
            <a:off x="571500" y="190500"/>
            <a:ext cx="5461000" cy="279400"/>
          </a:xfrm>
          <a:prstGeom prst="rect">
            <a:avLst/>
          </a:prstGeom>
          <a:noFill/>
          <a:ln w="0">
            <a:noFill/>
            <a:prstDash val="solid"/>
          </a:ln>
          <a:extLst>
            <a:ext uri="{909E8E84-426E-40DD-AFC4-6F175D3DCCD1}">
              <a14:hiddenFill xmlns:a14="http://schemas.microsoft.com/office/drawing/2010/main">
                <a:solidFill>
                  <a:srgbClr val="56166F"/>
                </a:solidFill>
              </a14:hiddenFill>
            </a:ext>
            <a:ext uri="{91240B29-F687-4F45-9708-019B960494DF}">
              <a14:hiddenLine xmlns:a14="http://schemas.microsoft.com/office/drawing/2010/main" w="0">
                <a:solidFill>
                  <a:srgbClr val="000000">
                    <a:alpha val="0"/>
                  </a:srgbClr>
                </a:solidFill>
                <a:prstDash val="solid"/>
              </a14:hiddenLine>
            </a:ext>
          </a:extLst>
        </p:spPr>
        <p:txBody>
          <a:bodyPr lIns="0" tIns="0" rIns="101600" bIns="0" anchor="ctr"/>
          <a:lstStyle/>
          <a:p>
            <a:pPr algn="l">
              <a:defRPr sz="7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en-US" altLang="zh-CN" sz="1600" b="1">
                <a:solidFill>
                  <a:srgbClr val="5616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01 | </a:t>
            </a:r>
            <a:r>
              <a:rPr lang="zh-CN" altLang="en-US" sz="1600" b="1">
                <a:solidFill>
                  <a:srgbClr val="5616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研究回顾与问题收束</a:t>
            </a:r>
            <a:endParaRPr sz="1600" b="1">
              <a:solidFill>
                <a:srgbClr val="56166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7B4034F-C31A-46DE-9A18-9D8E01291E4C}"/>
              </a:ext>
            </a:extLst>
          </p:cNvPr>
          <p:cNvSpPr>
            <a:spLocks noGrp="1"/>
          </p:cNvSpPr>
          <p:nvPr/>
        </p:nvSpPr>
        <p:spPr>
          <a:xfrm>
            <a:off x="11525250" y="6457950"/>
            <a:ext cx="2667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7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rPr>
              <a:t>03</a:t>
            </a: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0026361" y="266700"/>
            <a:ext cx="1149927" cy="457200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3389F96B-9DEA-4146-8244-BC9C0D3C148F}"/>
              </a:ext>
            </a:extLst>
          </p:cNvPr>
          <p:cNvSpPr>
            <a:spLocks noGrp="1"/>
          </p:cNvSpPr>
          <p:nvPr/>
        </p:nvSpPr>
        <p:spPr>
          <a:xfrm>
            <a:off x="514350" y="6496050"/>
            <a:ext cx="72390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rPr>
              <a:t>开题/中期原始背景与终版论文第 1 章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6EC9A084-416A-4954-B45A-88B9DE9BAFA7}"/>
              </a:ext>
            </a:extLst>
          </p:cNvPr>
          <p:cNvSpPr>
            <a:spLocks noGrp="1"/>
          </p:cNvSpPr>
          <p:nvPr/>
        </p:nvSpPr>
        <p:spPr>
          <a:xfrm>
            <a:off x="8667750" y="6496050"/>
            <a:ext cx="24765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rPr>
              <a:t>孟帅 · 本科毕业设计答辩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2F3D1EB-429F-40A0-A170-1F8D23904265}"/>
              </a:ext>
            </a:extLst>
          </p:cNvPr>
          <p:cNvSpPr>
            <a:spLocks noGrp="1"/>
          </p:cNvSpPr>
          <p:nvPr/>
        </p:nvSpPr>
        <p:spPr>
          <a:xfrm>
            <a:off x="590550" y="552450"/>
            <a:ext cx="9144000" cy="431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/>
          <a:lstStyle/>
          <a:p>
            <a:pPr algn="l">
              <a:defRPr sz="2025" b="1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2200" b="1">
                <a:solidFill>
                  <a:srgbClr val="1E1E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从双谱系到错位诊断</a:t>
            </a:r>
            <a:endParaRPr sz="2200" b="1">
              <a:solidFill>
                <a:srgbClr val="1E1E22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0E26342F-EEBA-4AD0-B732-58F64BED5DA3}"/>
              </a:ext>
            </a:extLst>
          </p:cNvPr>
          <p:cNvSpPr>
            <a:spLocks noGrp="1"/>
          </p:cNvSpPr>
          <p:nvPr/>
        </p:nvSpPr>
        <p:spPr>
          <a:xfrm>
            <a:off x="609600" y="1168400"/>
            <a:ext cx="9652000" cy="660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/>
          <a:lstStyle/>
          <a:p>
            <a:pPr algn="l">
              <a:defRPr sz="938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880">
                <a:solidFill>
                  <a:srgbClr val="524E5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核心判断：开题的「双谱系」没有停留在概念层面，而是被收束成可落位的空间错位诊断。</a:t>
            </a:r>
          </a:p>
          <a:p>
            <a:pPr algn="l">
              <a:defRPr sz="938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880">
                <a:solidFill>
                  <a:srgbClr val="524E5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讲述时强调：中期跑通 </a:t>
            </a:r>
            <a:r>
              <a:rPr lang="en-US" altLang="zh-CN" sz="880">
                <a:solidFill>
                  <a:srgbClr val="524E5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OCR</a:t>
            </a:r>
            <a:r>
              <a:rPr lang="zh-CN" altLang="en-US" sz="880">
                <a:solidFill>
                  <a:srgbClr val="524E5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、</a:t>
            </a:r>
            <a:r>
              <a:rPr lang="en-US" altLang="zh-CN" sz="880">
                <a:solidFill>
                  <a:srgbClr val="524E5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POI</a:t>
            </a:r>
            <a:r>
              <a:rPr lang="zh-CN" altLang="en-US" sz="880">
                <a:solidFill>
                  <a:srgbClr val="524E5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、评论与图谱，定稿再用 </a:t>
            </a:r>
            <a:r>
              <a:rPr lang="en-US" altLang="zh-CN" sz="880">
                <a:solidFill>
                  <a:srgbClr val="524E5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165 </a:t>
            </a:r>
            <a:r>
              <a:rPr lang="zh-CN" altLang="en-US" sz="880">
                <a:solidFill>
                  <a:srgbClr val="524E5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条载体和 </a:t>
            </a:r>
            <a:r>
              <a:rPr lang="en-US" altLang="zh-CN" sz="880">
                <a:solidFill>
                  <a:srgbClr val="524E5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500 m </a:t>
            </a:r>
            <a:r>
              <a:rPr lang="zh-CN" altLang="en-US" sz="880">
                <a:solidFill>
                  <a:srgbClr val="524E5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网格复核。</a:t>
            </a:r>
            <a:endParaRPr sz="880">
              <a:solidFill>
                <a:srgbClr val="524E56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EA7E5E03-442C-4743-9A9C-8DACBFA139C8}"/>
              </a:ext>
            </a:extLst>
          </p:cNvPr>
          <p:cNvSpPr>
            <a:spLocks noGrp="1"/>
          </p:cNvSpPr>
          <p:nvPr/>
        </p:nvSpPr>
        <p:spPr>
          <a:xfrm>
            <a:off x="876300" y="2266950"/>
            <a:ext cx="2724150" cy="2971800"/>
          </a:xfrm>
          <a:prstGeom prst="rect">
            <a:avLst/>
          </a:prstGeom>
          <a:solidFill>
            <a:srgbClr val="FFFFFF">
              <a:alpha val="90980"/>
            </a:srgbClr>
          </a:solidFill>
          <a:ln w="9525">
            <a:solidFill>
              <a:srgbClr val="D8C8E2"/>
            </a:solidFill>
            <a:prstDash val="solid"/>
          </a:ln>
        </p:spPr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C4C4612F-B566-4082-9C0C-AB150F28FE3F}"/>
              </a:ext>
            </a:extLst>
          </p:cNvPr>
          <p:cNvSpPr>
            <a:spLocks noGrp="1"/>
          </p:cNvSpPr>
          <p:nvPr/>
        </p:nvSpPr>
        <p:spPr>
          <a:xfrm>
            <a:off x="1085850" y="2038350"/>
            <a:ext cx="781050" cy="247650"/>
          </a:xfrm>
          <a:prstGeom prst="roundRect">
            <a:avLst>
              <a:gd name="adj" fmla="val 30769"/>
            </a:avLst>
          </a:prstGeom>
          <a:solidFill>
            <a:srgbClr val="6000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FADCD683-B72F-4E34-8E38-086624DF0D24}"/>
              </a:ext>
            </a:extLst>
          </p:cNvPr>
          <p:cNvSpPr>
            <a:spLocks noGrp="1"/>
          </p:cNvSpPr>
          <p:nvPr/>
        </p:nvSpPr>
        <p:spPr>
          <a:xfrm>
            <a:off x="1200150" y="2085975"/>
            <a:ext cx="5524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88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88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rPr>
              <a:t>政策导向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5B9DEB9F-DC90-4C09-8097-38AA11B22FC0}"/>
              </a:ext>
            </a:extLst>
          </p:cNvPr>
          <p:cNvSpPr>
            <a:spLocks noGrp="1"/>
          </p:cNvSpPr>
          <p:nvPr/>
        </p:nvSpPr>
        <p:spPr>
          <a:xfrm>
            <a:off x="1104900" y="2571750"/>
            <a:ext cx="226695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rPr>
              <a:t>文旅融合成为区域高质量发展的重要方向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C9BBF1EC-14CE-44F0-BAFF-60592C774A66}"/>
              </a:ext>
            </a:extLst>
          </p:cNvPr>
          <p:cNvSpPr>
            <a:spLocks noGrp="1"/>
          </p:cNvSpPr>
          <p:nvPr/>
        </p:nvSpPr>
        <p:spPr>
          <a:xfrm>
            <a:off x="1104900" y="3657600"/>
            <a:ext cx="2247900" cy="819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75" b="0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rPr>
              <a:t>文化资源需要从名录与文本，转化为可到达、可参与、可体验的旅游产品。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DC30408F-F964-48D2-BF21-D87B2EA848BA}"/>
              </a:ext>
            </a:extLst>
          </p:cNvPr>
          <p:cNvSpPr>
            <a:spLocks noGrp="1"/>
          </p:cNvSpPr>
          <p:nvPr/>
        </p:nvSpPr>
        <p:spPr>
          <a:xfrm>
            <a:off x="1104900" y="4324350"/>
            <a:ext cx="10477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025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rPr>
              <a:t>01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D3491ADA-533C-4153-A35A-04890D255980}"/>
              </a:ext>
            </a:extLst>
          </p:cNvPr>
          <p:cNvSpPr>
            <a:spLocks noGrp="1"/>
          </p:cNvSpPr>
          <p:nvPr/>
        </p:nvSpPr>
        <p:spPr>
          <a:xfrm>
            <a:off x="1104900" y="4686300"/>
            <a:ext cx="990600" cy="9525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107F2399-7D0E-4722-ACB8-C02C5C368A07}"/>
              </a:ext>
            </a:extLst>
          </p:cNvPr>
          <p:cNvSpPr>
            <a:spLocks noGrp="1"/>
          </p:cNvSpPr>
          <p:nvPr/>
        </p:nvSpPr>
        <p:spPr>
          <a:xfrm>
            <a:off x="1104900" y="4762500"/>
            <a:ext cx="1047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rPr>
              <a:t>开题背景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434CEFC1-EC67-4944-A6C2-1378707F0B15}"/>
              </a:ext>
            </a:extLst>
          </p:cNvPr>
          <p:cNvSpPr>
            <a:spLocks noGrp="1"/>
          </p:cNvSpPr>
          <p:nvPr/>
        </p:nvSpPr>
        <p:spPr>
          <a:xfrm>
            <a:off x="4333875" y="2266950"/>
            <a:ext cx="2724150" cy="2971800"/>
          </a:xfrm>
          <a:prstGeom prst="rect">
            <a:avLst/>
          </a:prstGeom>
          <a:solidFill>
            <a:srgbClr val="FFFFFF">
              <a:alpha val="90980"/>
            </a:srgbClr>
          </a:solidFill>
          <a:ln w="9525">
            <a:solidFill>
              <a:srgbClr val="D8C8E2"/>
            </a:solidFill>
            <a:prstDash val="solid"/>
          </a:ln>
        </p:spPr>
      </p:sp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BD3D4830-8616-49B8-8FFD-647B658BC357}"/>
              </a:ext>
            </a:extLst>
          </p:cNvPr>
          <p:cNvSpPr>
            <a:spLocks noGrp="1"/>
          </p:cNvSpPr>
          <p:nvPr/>
        </p:nvSpPr>
        <p:spPr>
          <a:xfrm>
            <a:off x="4543425" y="2038350"/>
            <a:ext cx="781050" cy="247650"/>
          </a:xfrm>
          <a:prstGeom prst="roundRect">
            <a:avLst>
              <a:gd name="adj" fmla="val 30769"/>
            </a:avLst>
          </a:prstGeom>
          <a:solidFill>
            <a:srgbClr val="6000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C6823F2B-36F9-4867-AF66-6445B5675A92}"/>
              </a:ext>
            </a:extLst>
          </p:cNvPr>
          <p:cNvSpPr>
            <a:spLocks noGrp="1"/>
          </p:cNvSpPr>
          <p:nvPr/>
        </p:nvSpPr>
        <p:spPr>
          <a:xfrm>
            <a:off x="4657725" y="2085975"/>
            <a:ext cx="5524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88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88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rPr>
              <a:t>区域现状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5CE25CEE-2288-410C-9879-111F7C1A7A18}"/>
              </a:ext>
            </a:extLst>
          </p:cNvPr>
          <p:cNvSpPr>
            <a:spLocks noGrp="1"/>
          </p:cNvSpPr>
          <p:nvPr/>
        </p:nvSpPr>
        <p:spPr>
          <a:xfrm>
            <a:off x="4562475" y="2571750"/>
            <a:ext cx="226695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rPr>
              <a:t>南海文化资源丰富，但与旅游体验整合不足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7543F559-F23E-4214-997F-7407C71EF586}"/>
              </a:ext>
            </a:extLst>
          </p:cNvPr>
          <p:cNvSpPr>
            <a:spLocks noGrp="1"/>
          </p:cNvSpPr>
          <p:nvPr/>
        </p:nvSpPr>
        <p:spPr>
          <a:xfrm>
            <a:off x="4562475" y="3657600"/>
            <a:ext cx="2247900" cy="819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75" b="0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rPr>
              <a:t>南海拥有90项非遗、80处文物和12个名村，但文化体验的系统性仍需提升。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F447F1E3-1CC0-43CC-B815-BB7CDBEFF1B6}"/>
              </a:ext>
            </a:extLst>
          </p:cNvPr>
          <p:cNvSpPr>
            <a:spLocks noGrp="1"/>
          </p:cNvSpPr>
          <p:nvPr/>
        </p:nvSpPr>
        <p:spPr>
          <a:xfrm>
            <a:off x="4562475" y="4324350"/>
            <a:ext cx="10477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025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rPr>
              <a:t>02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36E0DEA8-318E-4286-836D-4445CE7D5115}"/>
              </a:ext>
            </a:extLst>
          </p:cNvPr>
          <p:cNvSpPr>
            <a:spLocks noGrp="1"/>
          </p:cNvSpPr>
          <p:nvPr/>
        </p:nvSpPr>
        <p:spPr>
          <a:xfrm>
            <a:off x="4562475" y="4686300"/>
            <a:ext cx="990600" cy="9525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F5E4BF31-37E8-4C50-B03C-2C7E5EAEC627}"/>
              </a:ext>
            </a:extLst>
          </p:cNvPr>
          <p:cNvSpPr>
            <a:spLocks noGrp="1"/>
          </p:cNvSpPr>
          <p:nvPr/>
        </p:nvSpPr>
        <p:spPr>
          <a:xfrm>
            <a:off x="4562475" y="4762500"/>
            <a:ext cx="1047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rPr>
              <a:t>开题背景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9A3A4B76-352B-4124-930E-9E74909A76E3}"/>
              </a:ext>
            </a:extLst>
          </p:cNvPr>
          <p:cNvSpPr>
            <a:spLocks noGrp="1"/>
          </p:cNvSpPr>
          <p:nvPr/>
        </p:nvSpPr>
        <p:spPr>
          <a:xfrm>
            <a:off x="7791450" y="2266950"/>
            <a:ext cx="2724150" cy="2971800"/>
          </a:xfrm>
          <a:prstGeom prst="rect">
            <a:avLst/>
          </a:prstGeom>
          <a:solidFill>
            <a:srgbClr val="FFFFFF">
              <a:alpha val="90980"/>
            </a:srgbClr>
          </a:solidFill>
          <a:ln w="9525">
            <a:solidFill>
              <a:srgbClr val="D8C8E2"/>
            </a:solidFill>
            <a:prstDash val="solid"/>
          </a:ln>
        </p:spPr>
      </p:sp>
      <p:sp>
        <p:nvSpPr>
          <p:cNvPr id="28" name="矩形: 圆角 27">
            <a:extLst>
              <a:ext uri="{FF2B5EF4-FFF2-40B4-BE49-F238E27FC236}">
                <a16:creationId xmlns:a16="http://schemas.microsoft.com/office/drawing/2014/main" id="{206E303D-4EFE-497A-8694-E1B6BA17D2ED}"/>
              </a:ext>
            </a:extLst>
          </p:cNvPr>
          <p:cNvSpPr>
            <a:spLocks noGrp="1"/>
          </p:cNvSpPr>
          <p:nvPr/>
        </p:nvSpPr>
        <p:spPr>
          <a:xfrm>
            <a:off x="8001000" y="2038350"/>
            <a:ext cx="781050" cy="247650"/>
          </a:xfrm>
          <a:prstGeom prst="roundRect">
            <a:avLst>
              <a:gd name="adj" fmla="val 30769"/>
            </a:avLst>
          </a:prstGeom>
          <a:solidFill>
            <a:srgbClr val="6000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81A8989A-C6C8-4A99-B4E7-A3B9EF901A29}"/>
              </a:ext>
            </a:extLst>
          </p:cNvPr>
          <p:cNvSpPr>
            <a:spLocks noGrp="1"/>
          </p:cNvSpPr>
          <p:nvPr/>
        </p:nvSpPr>
        <p:spPr>
          <a:xfrm>
            <a:off x="8115300" y="2085975"/>
            <a:ext cx="5524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88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88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rPr>
              <a:t>中期问题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E7BFE2-6EFA-4D8C-95AC-BC0EA8C2E6F5}"/>
              </a:ext>
            </a:extLst>
          </p:cNvPr>
          <p:cNvSpPr>
            <a:spLocks noGrp="1"/>
          </p:cNvSpPr>
          <p:nvPr/>
        </p:nvSpPr>
        <p:spPr>
          <a:xfrm>
            <a:off x="8020050" y="2571750"/>
            <a:ext cx="226695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rPr>
              <a:t>如何识别文化遗产与旅游产品的对应、错位和缺失？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7E334CF6-6E8C-4CC7-880E-4D435E7287C0}"/>
              </a:ext>
            </a:extLst>
          </p:cNvPr>
          <p:cNvSpPr>
            <a:spLocks noGrp="1"/>
          </p:cNvSpPr>
          <p:nvPr/>
        </p:nvSpPr>
        <p:spPr>
          <a:xfrm>
            <a:off x="8020050" y="3657600"/>
            <a:ext cx="2247900" cy="819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75" b="0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rPr>
              <a:t>中期完成数据与图谱，定稿以165条载体和500m网格量化空间错位。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7B4B6C42-A394-46E6-8DC1-90CF68C5E119}"/>
              </a:ext>
            </a:extLst>
          </p:cNvPr>
          <p:cNvSpPr>
            <a:spLocks noGrp="1"/>
          </p:cNvSpPr>
          <p:nvPr/>
        </p:nvSpPr>
        <p:spPr>
          <a:xfrm>
            <a:off x="8020050" y="4324350"/>
            <a:ext cx="10477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5E7E6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025" b="1">
                <a:solidFill>
                  <a:srgbClr val="5E7E6A"/>
                </a:solidFill>
                <a:latin typeface="Microsoft YaHei UI"/>
                <a:ea typeface="Microsoft YaHei UI"/>
                <a:cs typeface="Microsoft YaHei UI"/>
              </a:rPr>
              <a:t>03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A75364E8-F4C4-4878-BC40-8B35BC137131}"/>
              </a:ext>
            </a:extLst>
          </p:cNvPr>
          <p:cNvSpPr>
            <a:spLocks noGrp="1"/>
          </p:cNvSpPr>
          <p:nvPr/>
        </p:nvSpPr>
        <p:spPr>
          <a:xfrm>
            <a:off x="8020050" y="4686300"/>
            <a:ext cx="990600" cy="9525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42221924-D000-42D4-9C06-B6D57E855185}"/>
              </a:ext>
            </a:extLst>
          </p:cNvPr>
          <p:cNvSpPr>
            <a:spLocks noGrp="1"/>
          </p:cNvSpPr>
          <p:nvPr/>
        </p:nvSpPr>
        <p:spPr>
          <a:xfrm>
            <a:off x="8020050" y="4762500"/>
            <a:ext cx="1047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rPr>
              <a:t>中期收束</a:t>
            </a: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5D294B25-9B2A-419B-9056-51D7AB900029}"/>
              </a:ext>
            </a:extLst>
          </p:cNvPr>
          <p:cNvSpPr>
            <a:spLocks noGrp="1"/>
          </p:cNvSpPr>
          <p:nvPr/>
        </p:nvSpPr>
        <p:spPr>
          <a:xfrm>
            <a:off x="2238375" y="3467100"/>
            <a:ext cx="5905500" cy="28575"/>
          </a:xfrm>
          <a:prstGeom prst="rect">
            <a:avLst/>
          </a:prstGeom>
          <a:solidFill>
            <a:srgbClr val="8C4AA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114575538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120</Words>
  <Application>Microsoft Office PowerPoint</Application>
  <DocSecurity>0</DocSecurity>
  <PresentationFormat>宽屏</PresentationFormat>
  <Paragraphs>22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Microsoft YaHei UI</vt:lpstr>
      <vt:lpstr>Microsoft YaHei</vt:lpstr>
      <vt:lpstr>Calibri</vt:lpstr>
      <vt:lpstr>ChatGPT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帅 孟</cp:lastModifiedBy>
  <cp:revision>19</cp:revision>
  <dcterms:created xsi:type="dcterms:W3CDTF">2026-06-02T06:15:18Z</dcterms:created>
  <dcterms:modified xsi:type="dcterms:W3CDTF">2026-06-02T13:24:59Z</dcterms:modified>
</cp:coreProperties>
</file>