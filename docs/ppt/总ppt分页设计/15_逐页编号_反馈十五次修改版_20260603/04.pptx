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1.2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3.1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3.2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5.3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双谱系耦合的连接口径</a:t>
            </a:r>
            <a:endParaRPr sz="2400" b="1" dirty="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965B0F-B369-017E-98DE-527750705D5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  <p:sp>
        <p:nvSpPr>
          <p:cNvPr id="4" name="R15 S4 TopBullets">
            <a:extLst>
              <a:ext uri="{FF2B5EF4-FFF2-40B4-BE49-F238E27FC236}">
                <a16:creationId xmlns:a16="http://schemas.microsoft.com/office/drawing/2014/main" id="{A3F95EDF-1BAA-4EAA-2D33-53BCD9043767}"/>
              </a:ext>
            </a:extLst>
          </p:cNvPr>
          <p:cNvSpPr txBox="1"/>
          <p:nvPr/>
        </p:nvSpPr>
        <p:spPr>
          <a:xfrm>
            <a:off x="990600" y="1168400"/>
            <a:ext cx="10033000" cy="4401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文化谱系来自典籍文本与知识图谱，旅游谱系来自 </a:t>
            </a:r>
            <a:r>
              <a:rPr lang="en-US" altLang="zh-CN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、评分和评论。</a:t>
            </a:r>
          </a:p>
          <a:p>
            <a:r>
              <a:rPr lang="en-US" altLang="zh-CN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文化景点锚点把两套谱系落到同一空间对象，再进行耦合分析。</a:t>
            </a:r>
          </a:p>
        </p:txBody>
      </p:sp>
      <p:cxnSp>
        <p:nvCxnSpPr>
          <p:cNvPr id="11" name="R15 S4 Rule">
            <a:extLst>
              <a:ext uri="{FF2B5EF4-FFF2-40B4-BE49-F238E27FC236}">
                <a16:creationId xmlns:a16="http://schemas.microsoft.com/office/drawing/2014/main" id="{646540D1-CD03-65D4-4716-C9BFB59174EA}"/>
              </a:ext>
            </a:extLst>
          </p:cNvPr>
          <p:cNvCxnSpPr/>
          <p:nvPr/>
        </p:nvCxnSpPr>
        <p:spPr>
          <a:xfrm>
            <a:off x="990600" y="1739900"/>
            <a:ext cx="10160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15 S4 Culture Panel">
            <a:extLst>
              <a:ext uri="{FF2B5EF4-FFF2-40B4-BE49-F238E27FC236}">
                <a16:creationId xmlns:a16="http://schemas.microsoft.com/office/drawing/2014/main" id="{59A072FF-2017-0A5B-75C1-D95DF03E2B2B}"/>
              </a:ext>
            </a:extLst>
          </p:cNvPr>
          <p:cNvSpPr/>
          <p:nvPr/>
        </p:nvSpPr>
        <p:spPr>
          <a:xfrm>
            <a:off x="889000" y="2032000"/>
            <a:ext cx="3276600" cy="2946400"/>
          </a:xfrm>
          <a:prstGeom prst="roundRect">
            <a:avLst/>
          </a:prstGeom>
          <a:solidFill>
            <a:srgbClr val="FDF9FE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0635CC-7A4D-1C5C-4126-A4BD0992066F}"/>
              </a:ext>
            </a:extLst>
          </p:cNvPr>
          <p:cNvSpPr/>
          <p:nvPr/>
        </p:nvSpPr>
        <p:spPr>
          <a:xfrm>
            <a:off x="889000" y="2032000"/>
            <a:ext cx="3276600" cy="762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15 S4 Culture Head">
            <a:extLst>
              <a:ext uri="{FF2B5EF4-FFF2-40B4-BE49-F238E27FC236}">
                <a16:creationId xmlns:a16="http://schemas.microsoft.com/office/drawing/2014/main" id="{9C9CAFE3-311F-F4B2-5D7F-56A921E026FE}"/>
              </a:ext>
            </a:extLst>
          </p:cNvPr>
          <p:cNvSpPr txBox="1"/>
          <p:nvPr/>
        </p:nvSpPr>
        <p:spPr>
          <a:xfrm>
            <a:off x="1168400" y="23241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文化谱系</a:t>
            </a:r>
          </a:p>
        </p:txBody>
      </p:sp>
      <p:sp>
        <p:nvSpPr>
          <p:cNvPr id="15" name="R15 S4 Culture Body">
            <a:extLst>
              <a:ext uri="{FF2B5EF4-FFF2-40B4-BE49-F238E27FC236}">
                <a16:creationId xmlns:a16="http://schemas.microsoft.com/office/drawing/2014/main" id="{7DFAEF74-42F6-3800-0AEE-94E8F586B7FB}"/>
              </a:ext>
            </a:extLst>
          </p:cNvPr>
          <p:cNvSpPr txBox="1"/>
          <p:nvPr/>
        </p:nvSpPr>
        <p:spPr>
          <a:xfrm>
            <a:off x="1168400" y="2730500"/>
            <a:ext cx="2717800" cy="8371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典籍语料与地方文献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知识图谱实体 </a:t>
            </a:r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文化记忆指数 </a:t>
            </a:r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官方认定指数 </a:t>
            </a:r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</a:t>
            </a:r>
            <a:endParaRPr lang="zh-CN" altLang="en-US" sz="136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R15 S4 Num">
            <a:extLst>
              <a:ext uri="{FF2B5EF4-FFF2-40B4-BE49-F238E27FC236}">
                <a16:creationId xmlns:a16="http://schemas.microsoft.com/office/drawing/2014/main" id="{984ADB02-0C6A-D843-EF12-99861AAEE91A}"/>
              </a:ext>
            </a:extLst>
          </p:cNvPr>
          <p:cNvSpPr txBox="1"/>
          <p:nvPr/>
        </p:nvSpPr>
        <p:spPr>
          <a:xfrm>
            <a:off x="1168400" y="41910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</a:t>
            </a:r>
            <a:endParaRPr lang="zh-CN" altLang="en-US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R15 S4 NumLabel">
            <a:extLst>
              <a:ext uri="{FF2B5EF4-FFF2-40B4-BE49-F238E27FC236}">
                <a16:creationId xmlns:a16="http://schemas.microsoft.com/office/drawing/2014/main" id="{60427C21-9662-6C90-23BD-69F4FC13F84A}"/>
              </a:ext>
            </a:extLst>
          </p:cNvPr>
          <p:cNvSpPr txBox="1"/>
          <p:nvPr/>
        </p:nvSpPr>
        <p:spPr>
          <a:xfrm>
            <a:off x="1168400" y="4495800"/>
            <a:ext cx="13970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标准化语料</a:t>
            </a:r>
          </a:p>
        </p:txBody>
      </p:sp>
      <p:sp>
        <p:nvSpPr>
          <p:cNvPr id="20" name="R15 S4 Num">
            <a:extLst>
              <a:ext uri="{FF2B5EF4-FFF2-40B4-BE49-F238E27FC236}">
                <a16:creationId xmlns:a16="http://schemas.microsoft.com/office/drawing/2014/main" id="{84622830-CE8A-B51A-8FA5-BED02008424B}"/>
              </a:ext>
            </a:extLst>
          </p:cNvPr>
          <p:cNvSpPr txBox="1"/>
          <p:nvPr/>
        </p:nvSpPr>
        <p:spPr>
          <a:xfrm>
            <a:off x="2514600" y="41910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</a:t>
            </a:r>
            <a:endParaRPr lang="zh-CN" altLang="en-US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R15 S4 NumLabel">
            <a:extLst>
              <a:ext uri="{FF2B5EF4-FFF2-40B4-BE49-F238E27FC236}">
                <a16:creationId xmlns:a16="http://schemas.microsoft.com/office/drawing/2014/main" id="{99F39681-5D77-B566-5F92-F04B2349DF1D}"/>
              </a:ext>
            </a:extLst>
          </p:cNvPr>
          <p:cNvSpPr txBox="1"/>
          <p:nvPr/>
        </p:nvSpPr>
        <p:spPr>
          <a:xfrm>
            <a:off x="2514600" y="4495800"/>
            <a:ext cx="14986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图谱实体</a:t>
            </a:r>
          </a:p>
        </p:txBody>
      </p:sp>
      <p:sp>
        <p:nvSpPr>
          <p:cNvPr id="23" name="R15 S4 Anchor Panel">
            <a:extLst>
              <a:ext uri="{FF2B5EF4-FFF2-40B4-BE49-F238E27FC236}">
                <a16:creationId xmlns:a16="http://schemas.microsoft.com/office/drawing/2014/main" id="{066BC354-1E47-F922-D62D-6E36BCC82C74}"/>
              </a:ext>
            </a:extLst>
          </p:cNvPr>
          <p:cNvSpPr/>
          <p:nvPr/>
        </p:nvSpPr>
        <p:spPr>
          <a:xfrm>
            <a:off x="4622800" y="1803400"/>
            <a:ext cx="2946400" cy="3403600"/>
          </a:xfrm>
          <a:prstGeom prst="roundRect">
            <a:avLst/>
          </a:prstGeom>
          <a:solidFill>
            <a:srgbClr val="F7FCFA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B3D7A0-48B9-1FD4-C3CC-7C9DD45EF50A}"/>
              </a:ext>
            </a:extLst>
          </p:cNvPr>
          <p:cNvSpPr/>
          <p:nvPr/>
        </p:nvSpPr>
        <p:spPr>
          <a:xfrm>
            <a:off x="4622800" y="1803400"/>
            <a:ext cx="2946400" cy="76200"/>
          </a:xfrm>
          <a:prstGeom prst="rect">
            <a:avLst/>
          </a:prstGeom>
          <a:solidFill>
            <a:srgbClr val="4A84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15 S4 Anchor Head">
            <a:extLst>
              <a:ext uri="{FF2B5EF4-FFF2-40B4-BE49-F238E27FC236}">
                <a16:creationId xmlns:a16="http://schemas.microsoft.com/office/drawing/2014/main" id="{7081C241-0418-FA74-5D26-4C8581971D51}"/>
              </a:ext>
            </a:extLst>
          </p:cNvPr>
          <p:cNvSpPr txBox="1"/>
          <p:nvPr/>
        </p:nvSpPr>
        <p:spPr>
          <a:xfrm>
            <a:off x="4902200" y="2095500"/>
            <a:ext cx="2387600" cy="2539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中间层：文化景点锚点</a:t>
            </a:r>
          </a:p>
        </p:txBody>
      </p:sp>
      <p:sp>
        <p:nvSpPr>
          <p:cNvPr id="27" name="R15 S4 Anchor Body">
            <a:extLst>
              <a:ext uri="{FF2B5EF4-FFF2-40B4-BE49-F238E27FC236}">
                <a16:creationId xmlns:a16="http://schemas.microsoft.com/office/drawing/2014/main" id="{33112A9A-6251-C7CE-F640-F8B9D9E04964}"/>
              </a:ext>
            </a:extLst>
          </p:cNvPr>
          <p:cNvSpPr txBox="1"/>
          <p:nvPr/>
        </p:nvSpPr>
        <p:spPr>
          <a:xfrm>
            <a:off x="4902200" y="2578100"/>
            <a:ext cx="24130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条核心文化载体</a:t>
            </a:r>
          </a:p>
          <a:p>
            <a:r>
              <a:rPr lang="en-US" altLang="zh-CN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129 </a:t>
            </a:r>
            <a:r>
              <a:rPr lang="zh-CN" altLang="en-US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条物质 </a:t>
            </a:r>
            <a:r>
              <a:rPr lang="en-US" altLang="zh-CN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空间类载体</a:t>
            </a:r>
          </a:p>
          <a:p>
            <a:r>
              <a:rPr lang="en-US" altLang="zh-CN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 </a:t>
            </a:r>
            <a:r>
              <a:rPr lang="zh-CN" altLang="en-US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项空间锚点非遗</a:t>
            </a:r>
          </a:p>
          <a:p>
            <a:r>
              <a:rPr lang="zh-CN" altLang="en-US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坐标落位</a:t>
            </a:r>
          </a:p>
          <a:p>
            <a:r>
              <a:rPr lang="en-US" altLang="zh-CN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网格匹配</a:t>
            </a:r>
          </a:p>
        </p:txBody>
      </p:sp>
      <p:sp>
        <p:nvSpPr>
          <p:cNvPr id="29" name="R15 S4 Num">
            <a:extLst>
              <a:ext uri="{FF2B5EF4-FFF2-40B4-BE49-F238E27FC236}">
                <a16:creationId xmlns:a16="http://schemas.microsoft.com/office/drawing/2014/main" id="{D3FDCBF3-42C9-426D-B10E-7369A7764D5B}"/>
              </a:ext>
            </a:extLst>
          </p:cNvPr>
          <p:cNvSpPr txBox="1"/>
          <p:nvPr/>
        </p:nvSpPr>
        <p:spPr>
          <a:xfrm>
            <a:off x="4902200" y="4445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endParaRPr lang="zh-CN" altLang="en-US" b="1">
              <a:solidFill>
                <a:srgbClr val="4A84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R15 S4 NumLabel">
            <a:extLst>
              <a:ext uri="{FF2B5EF4-FFF2-40B4-BE49-F238E27FC236}">
                <a16:creationId xmlns:a16="http://schemas.microsoft.com/office/drawing/2014/main" id="{3FD3D441-A0BB-298C-9C28-2B660280EA6A}"/>
              </a:ext>
            </a:extLst>
          </p:cNvPr>
          <p:cNvSpPr txBox="1"/>
          <p:nvPr/>
        </p:nvSpPr>
        <p:spPr>
          <a:xfrm>
            <a:off x="4902200" y="4749800"/>
            <a:ext cx="13970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核心载体</a:t>
            </a:r>
          </a:p>
        </p:txBody>
      </p:sp>
      <p:sp>
        <p:nvSpPr>
          <p:cNvPr id="33" name="R15 S4 Num">
            <a:extLst>
              <a:ext uri="{FF2B5EF4-FFF2-40B4-BE49-F238E27FC236}">
                <a16:creationId xmlns:a16="http://schemas.microsoft.com/office/drawing/2014/main" id="{3EC81E8E-B486-F77C-2BFE-E425BD46D225}"/>
              </a:ext>
            </a:extLst>
          </p:cNvPr>
          <p:cNvSpPr txBox="1"/>
          <p:nvPr/>
        </p:nvSpPr>
        <p:spPr>
          <a:xfrm>
            <a:off x="6375400" y="4445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</a:t>
            </a:r>
            <a:endParaRPr lang="zh-CN" altLang="en-US" b="1">
              <a:solidFill>
                <a:srgbClr val="4A84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R15 S4 NumLabel">
            <a:extLst>
              <a:ext uri="{FF2B5EF4-FFF2-40B4-BE49-F238E27FC236}">
                <a16:creationId xmlns:a16="http://schemas.microsoft.com/office/drawing/2014/main" id="{FF958C46-1D08-1EE1-61F5-38426547D852}"/>
              </a:ext>
            </a:extLst>
          </p:cNvPr>
          <p:cNvSpPr txBox="1"/>
          <p:nvPr/>
        </p:nvSpPr>
        <p:spPr>
          <a:xfrm>
            <a:off x="6375400" y="4749800"/>
            <a:ext cx="11430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空间口径</a:t>
            </a:r>
          </a:p>
        </p:txBody>
      </p:sp>
      <p:sp>
        <p:nvSpPr>
          <p:cNvPr id="35" name="R15 S4 Tourism Panel">
            <a:extLst>
              <a:ext uri="{FF2B5EF4-FFF2-40B4-BE49-F238E27FC236}">
                <a16:creationId xmlns:a16="http://schemas.microsoft.com/office/drawing/2014/main" id="{81F3357B-715C-4F1F-13C2-5AF64D3242DE}"/>
              </a:ext>
            </a:extLst>
          </p:cNvPr>
          <p:cNvSpPr/>
          <p:nvPr/>
        </p:nvSpPr>
        <p:spPr>
          <a:xfrm>
            <a:off x="8026400" y="2032000"/>
            <a:ext cx="3276600" cy="294640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3210B58-759B-2ACE-FA55-BF4873683E7B}"/>
              </a:ext>
            </a:extLst>
          </p:cNvPr>
          <p:cNvSpPr/>
          <p:nvPr/>
        </p:nvSpPr>
        <p:spPr>
          <a:xfrm>
            <a:off x="8026400" y="2032000"/>
            <a:ext cx="3276600" cy="76200"/>
          </a:xfrm>
          <a:prstGeom prst="rect">
            <a:avLst/>
          </a:prstGeom>
          <a:solidFill>
            <a:srgbClr val="4C80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R15 S4 Tourism Head">
            <a:extLst>
              <a:ext uri="{FF2B5EF4-FFF2-40B4-BE49-F238E27FC236}">
                <a16:creationId xmlns:a16="http://schemas.microsoft.com/office/drawing/2014/main" id="{42EAFCCD-99A9-C9FD-1224-179F694F7A76}"/>
              </a:ext>
            </a:extLst>
          </p:cNvPr>
          <p:cNvSpPr txBox="1"/>
          <p:nvPr/>
        </p:nvSpPr>
        <p:spPr>
          <a:xfrm>
            <a:off x="8305800" y="23241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4C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旅游谱系</a:t>
            </a:r>
          </a:p>
        </p:txBody>
      </p:sp>
      <p:sp>
        <p:nvSpPr>
          <p:cNvPr id="59" name="R15 S4 Tourism Body">
            <a:extLst>
              <a:ext uri="{FF2B5EF4-FFF2-40B4-BE49-F238E27FC236}">
                <a16:creationId xmlns:a16="http://schemas.microsoft.com/office/drawing/2014/main" id="{9479E943-FC8D-54C5-BC1B-6B0317D158B6}"/>
              </a:ext>
            </a:extLst>
          </p:cNvPr>
          <p:cNvSpPr txBox="1"/>
          <p:nvPr/>
        </p:nvSpPr>
        <p:spPr>
          <a:xfrm>
            <a:off x="8305800" y="2730500"/>
            <a:ext cx="2717800" cy="8371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 </a:t>
            </a:r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主库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平台评分与评论量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旅游热度指数 </a:t>
            </a:r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评论图谱复核游客感知</a:t>
            </a:r>
          </a:p>
        </p:txBody>
      </p:sp>
      <p:sp>
        <p:nvSpPr>
          <p:cNvPr id="60" name="R15 S4 Num">
            <a:extLst>
              <a:ext uri="{FF2B5EF4-FFF2-40B4-BE49-F238E27FC236}">
                <a16:creationId xmlns:a16="http://schemas.microsoft.com/office/drawing/2014/main" id="{E83B8CE7-900A-5ADB-1765-FC93ADAFB14A}"/>
              </a:ext>
            </a:extLst>
          </p:cNvPr>
          <p:cNvSpPr txBox="1"/>
          <p:nvPr/>
        </p:nvSpPr>
        <p:spPr>
          <a:xfrm>
            <a:off x="8305800" y="41910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4C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</a:t>
            </a:r>
            <a:endParaRPr lang="zh-CN" altLang="en-US" b="1">
              <a:solidFill>
                <a:srgbClr val="4C80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R15 S4 NumLabel">
            <a:extLst>
              <a:ext uri="{FF2B5EF4-FFF2-40B4-BE49-F238E27FC236}">
                <a16:creationId xmlns:a16="http://schemas.microsoft.com/office/drawing/2014/main" id="{3F09FAEC-AC12-B167-9267-6AC9A7043227}"/>
              </a:ext>
            </a:extLst>
          </p:cNvPr>
          <p:cNvSpPr txBox="1"/>
          <p:nvPr/>
        </p:nvSpPr>
        <p:spPr>
          <a:xfrm>
            <a:off x="8305800" y="4495800"/>
            <a:ext cx="14986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 </a:t>
            </a:r>
            <a:r>
              <a:rPr lang="en-US" altLang="zh-CN" sz="820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endParaRPr lang="zh-CN" altLang="en-US" sz="820">
              <a:solidFill>
                <a:srgbClr val="5852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R15 S4 Num">
            <a:extLst>
              <a:ext uri="{FF2B5EF4-FFF2-40B4-BE49-F238E27FC236}">
                <a16:creationId xmlns:a16="http://schemas.microsoft.com/office/drawing/2014/main" id="{8C36B5B5-7984-2719-3075-D988A8B34B8C}"/>
              </a:ext>
            </a:extLst>
          </p:cNvPr>
          <p:cNvSpPr txBox="1"/>
          <p:nvPr/>
        </p:nvSpPr>
        <p:spPr>
          <a:xfrm>
            <a:off x="9906000" y="41910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4C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16,391</a:t>
            </a:r>
            <a:endParaRPr lang="zh-CN" altLang="en-US" b="1">
              <a:solidFill>
                <a:srgbClr val="4C80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R15 S4 NumLabel">
            <a:extLst>
              <a:ext uri="{FF2B5EF4-FFF2-40B4-BE49-F238E27FC236}">
                <a16:creationId xmlns:a16="http://schemas.microsoft.com/office/drawing/2014/main" id="{DAA80A09-2A59-F447-2ACF-3BE15BD38774}"/>
              </a:ext>
            </a:extLst>
          </p:cNvPr>
          <p:cNvSpPr txBox="1"/>
          <p:nvPr/>
        </p:nvSpPr>
        <p:spPr>
          <a:xfrm>
            <a:off x="9906000" y="4495800"/>
            <a:ext cx="14986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平台评论</a:t>
            </a:r>
          </a:p>
        </p:txBody>
      </p:sp>
      <p:cxnSp>
        <p:nvCxnSpPr>
          <p:cNvPr id="64" name="R15 Arrow">
            <a:extLst>
              <a:ext uri="{FF2B5EF4-FFF2-40B4-BE49-F238E27FC236}">
                <a16:creationId xmlns:a16="http://schemas.microsoft.com/office/drawing/2014/main" id="{3B33320B-6BA3-8746-8901-089D55DC41C0}"/>
              </a:ext>
            </a:extLst>
          </p:cNvPr>
          <p:cNvCxnSpPr/>
          <p:nvPr/>
        </p:nvCxnSpPr>
        <p:spPr>
          <a:xfrm>
            <a:off x="4165600" y="3429000"/>
            <a:ext cx="457200" cy="0"/>
          </a:xfrm>
          <a:prstGeom prst="line">
            <a:avLst/>
          </a:prstGeom>
          <a:ln w="2540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R15 Arrow">
            <a:extLst>
              <a:ext uri="{FF2B5EF4-FFF2-40B4-BE49-F238E27FC236}">
                <a16:creationId xmlns:a16="http://schemas.microsoft.com/office/drawing/2014/main" id="{09EC1AD0-CFAC-3B21-0551-673D84DE0155}"/>
              </a:ext>
            </a:extLst>
          </p:cNvPr>
          <p:cNvCxnSpPr/>
          <p:nvPr/>
        </p:nvCxnSpPr>
        <p:spPr>
          <a:xfrm flipH="1">
            <a:off x="7569200" y="3429000"/>
            <a:ext cx="457200" cy="0"/>
          </a:xfrm>
          <a:prstGeom prst="line">
            <a:avLst/>
          </a:prstGeom>
          <a:ln w="25400">
            <a:solidFill>
              <a:srgbClr val="4C8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R15 Arrow">
            <a:extLst>
              <a:ext uri="{FF2B5EF4-FFF2-40B4-BE49-F238E27FC236}">
                <a16:creationId xmlns:a16="http://schemas.microsoft.com/office/drawing/2014/main" id="{86152E97-A89D-818B-E04F-0BA2D12CE71A}"/>
              </a:ext>
            </a:extLst>
          </p:cNvPr>
          <p:cNvCxnSpPr/>
          <p:nvPr/>
        </p:nvCxnSpPr>
        <p:spPr>
          <a:xfrm>
            <a:off x="6096000" y="5207000"/>
            <a:ext cx="0" cy="241300"/>
          </a:xfrm>
          <a:prstGeom prst="line">
            <a:avLst/>
          </a:prstGeom>
          <a:ln w="25400">
            <a:solidFill>
              <a:srgbClr val="4A84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15 S4 Output Panel">
            <a:extLst>
              <a:ext uri="{FF2B5EF4-FFF2-40B4-BE49-F238E27FC236}">
                <a16:creationId xmlns:a16="http://schemas.microsoft.com/office/drawing/2014/main" id="{E6BE9FEA-2193-3192-A600-8E630B49497C}"/>
              </a:ext>
            </a:extLst>
          </p:cNvPr>
          <p:cNvSpPr/>
          <p:nvPr/>
        </p:nvSpPr>
        <p:spPr>
          <a:xfrm>
            <a:off x="2857500" y="5435600"/>
            <a:ext cx="6477000" cy="7874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R15 S4 Output Head">
            <a:extLst>
              <a:ext uri="{FF2B5EF4-FFF2-40B4-BE49-F238E27FC236}">
                <a16:creationId xmlns:a16="http://schemas.microsoft.com/office/drawing/2014/main" id="{C1EEA34A-DDBC-D8D0-A999-586615B7BE83}"/>
              </a:ext>
            </a:extLst>
          </p:cNvPr>
          <p:cNvSpPr txBox="1"/>
          <p:nvPr/>
        </p:nvSpPr>
        <p:spPr>
          <a:xfrm>
            <a:off x="3149600" y="5626100"/>
            <a:ext cx="21590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耦合分析输出</a:t>
            </a:r>
          </a:p>
        </p:txBody>
      </p:sp>
      <p:sp>
        <p:nvSpPr>
          <p:cNvPr id="69" name="R15 S4 Output Body">
            <a:extLst>
              <a:ext uri="{FF2B5EF4-FFF2-40B4-BE49-F238E27FC236}">
                <a16:creationId xmlns:a16="http://schemas.microsoft.com/office/drawing/2014/main" id="{BB342FC7-F32E-0E02-68D2-7AB5AEFD2392}"/>
              </a:ext>
            </a:extLst>
          </p:cNvPr>
          <p:cNvSpPr txBox="1"/>
          <p:nvPr/>
        </p:nvSpPr>
        <p:spPr>
          <a:xfrm>
            <a:off x="5334000" y="5626100"/>
            <a:ext cx="3810000" cy="2062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 → </a:t>
            </a:r>
            <a:r>
              <a:rPr lang="zh-CN" altLang="en-US" sz="13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错位分层与规划转译</a:t>
            </a:r>
          </a:p>
        </p:txBody>
      </p: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175</Words>
  <Application>Microsoft Office PowerPoint</Application>
  <DocSecurity>0</DocSecurity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2026-06-03T05:29:40Z</dcterms:modified>
</cp:coreProperties>
</file>