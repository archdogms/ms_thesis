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F0C27EE-B617-42F3-ACD6-2898A24DAD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F12FB3-18CA-4E40-B10A-19F5956686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A95983-050A-47B5-8A73-B30E0DBB9DE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14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B6FAF32-A4FD-464E-87D9-D78D3275C6C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6.4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6.5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22D0F0-94E0-4C23-B29E-6CE61B826BE9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838C9-20BA-486B-9640-9D9C4E14DE7A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九江：低热度不等于低潜力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FB54BF7-A78B-4740-97C1-6BFD47D0DA17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5905500" cy="35242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DACEE7D-47CD-41A5-9A3F-0298A4A7C6E2}"/>
              </a:ext>
            </a:extLst>
          </p:cNvPr>
          <p:cNvSpPr>
            <a:spLocks noGrp="1"/>
          </p:cNvSpPr>
          <p:nvPr/>
        </p:nvSpPr>
        <p:spPr>
          <a:xfrm>
            <a:off x="704850" y="1809750"/>
            <a:ext cx="5905500" cy="3524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88836" y="1943100"/>
            <a:ext cx="4537529" cy="31242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401186C-C395-45A8-82D7-79D1580F2291}"/>
              </a:ext>
            </a:extLst>
          </p:cNvPr>
          <p:cNvSpPr>
            <a:spLocks noGrp="1"/>
          </p:cNvSpPr>
          <p:nvPr/>
        </p:nvSpPr>
        <p:spPr>
          <a:xfrm>
            <a:off x="838200" y="1943100"/>
            <a:ext cx="5638800" cy="31242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E5DAA1-B1D8-425A-AAF4-B8FF361BAE99}"/>
              </a:ext>
            </a:extLst>
          </p:cNvPr>
          <p:cNvSpPr>
            <a:spLocks noGrp="1"/>
          </p:cNvSpPr>
          <p:nvPr/>
        </p:nvSpPr>
        <p:spPr>
          <a:xfrm>
            <a:off x="857250" y="5105400"/>
            <a:ext cx="5600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九江专题识别图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F5D3D0-CF29-4562-9395-7545C289521A}"/>
              </a:ext>
            </a:extLst>
          </p:cNvPr>
          <p:cNvSpPr>
            <a:spLocks noGrp="1"/>
          </p:cNvSpPr>
          <p:nvPr/>
        </p:nvSpPr>
        <p:spPr>
          <a:xfrm>
            <a:off x="7010400" y="1866900"/>
            <a:ext cx="3429000" cy="933450"/>
          </a:xfrm>
          <a:prstGeom prst="roundRect">
            <a:avLst/>
          </a:prstGeom>
          <a:solidFill>
            <a:srgbClr val="F5ED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95F2C2-1A16-4023-B463-256E5987D337}"/>
              </a:ext>
            </a:extLst>
          </p:cNvPr>
          <p:cNvSpPr>
            <a:spLocks noGrp="1"/>
          </p:cNvSpPr>
          <p:nvPr/>
        </p:nvSpPr>
        <p:spPr>
          <a:xfrm>
            <a:off x="7239000" y="2038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实质转化不足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6D44C06-6F31-47AC-BA66-81300C00A866}"/>
              </a:ext>
            </a:extLst>
          </p:cNvPr>
          <p:cNvSpPr>
            <a:spLocks noGrp="1"/>
          </p:cNvSpPr>
          <p:nvPr/>
        </p:nvSpPr>
        <p:spPr>
          <a:xfrm>
            <a:off x="7239000" y="234315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游线组织、展示空间、交通接驳和游客服务仍需补足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C6EA005-606B-4977-A66F-BD5ED4BE12DC}"/>
              </a:ext>
            </a:extLst>
          </p:cNvPr>
          <p:cNvSpPr>
            <a:spLocks noGrp="1"/>
          </p:cNvSpPr>
          <p:nvPr/>
        </p:nvSpPr>
        <p:spPr>
          <a:xfrm>
            <a:off x="7010400" y="3143250"/>
            <a:ext cx="3429000" cy="933450"/>
          </a:xfrm>
          <a:prstGeom prst="roundRect">
            <a:avLst/>
          </a:prstGeom>
          <a:solidFill>
            <a:srgbClr val="F0F4F7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46C235-758C-4292-A4D0-3AD124878A77}"/>
              </a:ext>
            </a:extLst>
          </p:cNvPr>
          <p:cNvSpPr>
            <a:spLocks noGrp="1"/>
          </p:cNvSpPr>
          <p:nvPr/>
        </p:nvSpPr>
        <p:spPr>
          <a:xfrm>
            <a:off x="7239000" y="33147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350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6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数据口径低估</a:t>
            </a:r>
            <a:endParaRPr sz="16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0F86EBC-FF70-47C5-957B-A95E096EE126}"/>
              </a:ext>
            </a:extLst>
          </p:cNvPr>
          <p:cNvSpPr>
            <a:spLocks noGrp="1"/>
          </p:cNvSpPr>
          <p:nvPr/>
        </p:nvSpPr>
        <p:spPr>
          <a:xfrm>
            <a:off x="7239000" y="3619500"/>
            <a:ext cx="2781300" cy="3048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未纳入大众点评、美团等餐饮评价与夜间活力数据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1137B1-23A3-4A36-8444-4150B13A37AC}"/>
              </a:ext>
            </a:extLst>
          </p:cNvPr>
          <p:cNvSpPr>
            <a:spLocks noGrp="1"/>
          </p:cNvSpPr>
          <p:nvPr/>
        </p:nvSpPr>
        <p:spPr>
          <a:xfrm>
            <a:off x="71056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</a:t>
            </a:r>
            <a:endParaRPr sz="2025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C570A9-2944-45EA-B200-8C18F020CA1D}"/>
              </a:ext>
            </a:extLst>
          </p:cNvPr>
          <p:cNvSpPr>
            <a:spLocks noGrp="1"/>
          </p:cNvSpPr>
          <p:nvPr/>
        </p:nvSpPr>
        <p:spPr>
          <a:xfrm>
            <a:off x="71056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A050020-4C11-4342-82E0-91A9DD426AB6}"/>
              </a:ext>
            </a:extLst>
          </p:cNvPr>
          <p:cNvSpPr>
            <a:spLocks noGrp="1"/>
          </p:cNvSpPr>
          <p:nvPr/>
        </p:nvSpPr>
        <p:spPr>
          <a:xfrm>
            <a:off x="71056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九江非遗项目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A4675F5-10B6-4375-A217-3947FFA6FAFF}"/>
              </a:ext>
            </a:extLst>
          </p:cNvPr>
          <p:cNvSpPr>
            <a:spLocks noGrp="1"/>
          </p:cNvSpPr>
          <p:nvPr/>
        </p:nvSpPr>
        <p:spPr>
          <a:xfrm>
            <a:off x="83248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9D94FCE-9479-4AC1-8D0A-B81F289D7079}"/>
              </a:ext>
            </a:extLst>
          </p:cNvPr>
          <p:cNvSpPr>
            <a:spLocks noGrp="1"/>
          </p:cNvSpPr>
          <p:nvPr/>
        </p:nvSpPr>
        <p:spPr>
          <a:xfrm>
            <a:off x="83248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5524D-C9A3-4785-B0DB-174CDB388617}"/>
              </a:ext>
            </a:extLst>
          </p:cNvPr>
          <p:cNvSpPr>
            <a:spLocks noGrp="1"/>
          </p:cNvSpPr>
          <p:nvPr/>
        </p:nvSpPr>
        <p:spPr>
          <a:xfrm>
            <a:off x="83248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0EA5C8D-3E7E-493A-80BC-FF3EDC8E3008}"/>
              </a:ext>
            </a:extLst>
          </p:cNvPr>
          <p:cNvSpPr>
            <a:spLocks noGrp="1"/>
          </p:cNvSpPr>
          <p:nvPr/>
        </p:nvSpPr>
        <p:spPr>
          <a:xfrm>
            <a:off x="9544050" y="4629150"/>
            <a:ext cx="99060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1A3ADA8-CFEB-49E5-A8C5-4D98BB3DE402}"/>
              </a:ext>
            </a:extLst>
          </p:cNvPr>
          <p:cNvSpPr>
            <a:spLocks noGrp="1"/>
          </p:cNvSpPr>
          <p:nvPr/>
        </p:nvSpPr>
        <p:spPr>
          <a:xfrm>
            <a:off x="9544050" y="4991100"/>
            <a:ext cx="93345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5AB8FA6B-4124-4EF5-B287-B9CCB3D19D32}"/>
              </a:ext>
            </a:extLst>
          </p:cNvPr>
          <p:cNvSpPr>
            <a:spLocks noGrp="1"/>
          </p:cNvSpPr>
          <p:nvPr/>
        </p:nvSpPr>
        <p:spPr>
          <a:xfrm>
            <a:off x="9544050" y="5067300"/>
            <a:ext cx="9906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全区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31E50F-E1D9-865B-04A0-A329C42EF1A4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DD031D1-EF36-1A24-98E4-2E5534BB29C6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九江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占比低，但非遗和历史村落线索集中。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低热度既有转化不足，也可能有数据口径低估。</a:t>
            </a:r>
          </a:p>
        </p:txBody>
      </p:sp>
    </p:spTree>
    <p:extLst>
      <p:ext uri="{BB962C8B-B14F-4D97-AF65-F5344CB8AC3E}">
        <p14:creationId xmlns:p14="http://schemas.microsoft.com/office/powerpoint/2010/main" val="86082410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112</Words>
  <Application>Microsoft Office PowerPoint</Application>
  <DocSecurity>0</DocSecurity>
  <PresentationFormat>宽屏</PresentationFormat>
  <Paragraphs>18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51</cp:revision>
  <dcterms:created xsi:type="dcterms:W3CDTF">2026-06-02T06:15:18Z</dcterms:created>
  <dcterms:modified xsi:type="dcterms:W3CDTF">2026-06-03T05:29:42Z</dcterms:modified>
</cp:coreProperties>
</file>