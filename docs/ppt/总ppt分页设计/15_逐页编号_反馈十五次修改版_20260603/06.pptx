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06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5.3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四类指数进入错位分层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</a:t>
            </a:r>
            <a:endParaRPr sz="255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文化记忆指数</a:t>
            </a:r>
            <a:endParaRPr sz="1200" b="1">
              <a:solidFill>
                <a:srgbClr val="2422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典籍频次与图谱中心性</a:t>
            </a:r>
            <a:endParaRPr sz="863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noGrp="1"/>
          </p:cNvSpPr>
          <p:nvPr/>
        </p:nvSpPr>
        <p:spPr>
          <a:xfrm>
            <a:off x="297180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  <a:endParaRPr sz="2400" b="1">
              <a:solidFill>
                <a:srgbClr val="8C4AA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noGrp="1"/>
          </p:cNvSpPr>
          <p:nvPr/>
        </p:nvSpPr>
        <p:spPr>
          <a:xfrm>
            <a:off x="376237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</a:t>
            </a:r>
            <a:endParaRPr sz="255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noGrp="1"/>
          </p:cNvSpPr>
          <p:nvPr/>
        </p:nvSpPr>
        <p:spPr>
          <a:xfrm>
            <a:off x="368617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官方认证指数</a:t>
            </a:r>
            <a:endParaRPr sz="1200" b="1">
              <a:solidFill>
                <a:srgbClr val="2422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noGrp="1"/>
          </p:cNvSpPr>
          <p:nvPr/>
        </p:nvSpPr>
        <p:spPr>
          <a:xfrm>
            <a:off x="370522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保护等级与制度识别</a:t>
            </a:r>
            <a:endParaRPr sz="863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noGrp="1"/>
          </p:cNvSpPr>
          <p:nvPr/>
        </p:nvSpPr>
        <p:spPr>
          <a:xfrm>
            <a:off x="5705475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  <a:endParaRPr sz="2400" b="1">
              <a:solidFill>
                <a:srgbClr val="8C4AA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THI</a:t>
            </a:r>
            <a:endParaRPr sz="2550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旅游热度指数</a:t>
            </a:r>
            <a:endParaRPr sz="1200" b="1">
              <a:solidFill>
                <a:srgbClr val="2422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noGrp="1"/>
          </p:cNvSpPr>
          <p:nvPr/>
        </p:nvSpPr>
        <p:spPr>
          <a:xfrm>
            <a:off x="643890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、评分、评论量</a:t>
            </a:r>
            <a:endParaRPr sz="863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noGrp="1"/>
          </p:cNvSpPr>
          <p:nvPr/>
        </p:nvSpPr>
        <p:spPr>
          <a:xfrm>
            <a:off x="843915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  <a:endParaRPr sz="2400" b="1">
              <a:solidFill>
                <a:srgbClr val="8C4AA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noGrp="1"/>
          </p:cNvSpPr>
          <p:nvPr/>
        </p:nvSpPr>
        <p:spPr>
          <a:xfrm>
            <a:off x="922972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</a:t>
            </a:r>
            <a:endParaRPr sz="2550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noGrp="1"/>
          </p:cNvSpPr>
          <p:nvPr/>
        </p:nvSpPr>
        <p:spPr>
          <a:xfrm>
            <a:off x="915352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错位指数</a:t>
            </a:r>
            <a:endParaRPr sz="1200" b="1">
              <a:solidFill>
                <a:srgbClr val="2422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noGrp="1"/>
          </p:cNvSpPr>
          <p:nvPr/>
        </p:nvSpPr>
        <p:spPr>
          <a:xfrm>
            <a:off x="917257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旅游热度与文化侧基础的相对差</a:t>
            </a:r>
            <a:endParaRPr sz="863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noGrp="1"/>
          </p:cNvSpPr>
          <p:nvPr/>
        </p:nvSpPr>
        <p:spPr>
          <a:xfrm>
            <a:off x="3143250" y="5067300"/>
            <a:ext cx="60960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125" b="1">
                <a:solidFill>
                  <a:srgbClr val="B35D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= THI - 0.5CMI - 0.5OAI；THI </a:t>
            </a:r>
            <a:r>
              <a:rPr lang="zh-CN" altLang="en-US" sz="1125" b="1">
                <a:solidFill>
                  <a:srgbClr val="B35D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表示旅游热度，不能替代文化识别。</a:t>
            </a:r>
            <a:endParaRPr sz="1125" b="1">
              <a:solidFill>
                <a:srgbClr val="B35D4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6" name="Slide06 Rebuild Cover">
            <a:extLst>
              <a:ext uri="{FF2B5EF4-FFF2-40B4-BE49-F238E27FC236}">
                <a16:creationId xmlns:a16="http://schemas.microsoft.com/office/drawing/2014/main" id="{679AD485-CA5D-3B0B-BCF5-5A48D64896C0}"/>
              </a:ext>
            </a:extLst>
          </p:cNvPr>
          <p:cNvSpPr/>
          <p:nvPr/>
        </p:nvSpPr>
        <p:spPr>
          <a:xfrm>
            <a:off x="736600" y="1981200"/>
            <a:ext cx="10414000" cy="3886200"/>
          </a:xfrm>
          <a:prstGeom prst="rect">
            <a:avLst/>
          </a:prstGeom>
          <a:solidFill>
            <a:srgbClr val="FFFFFF">
              <a:alpha val="98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lide06 CMI Card">
            <a:extLst>
              <a:ext uri="{FF2B5EF4-FFF2-40B4-BE49-F238E27FC236}">
                <a16:creationId xmlns:a16="http://schemas.microsoft.com/office/drawing/2014/main" id="{F5E75ED6-6510-9075-F16E-557BF55C9F24}"/>
              </a:ext>
            </a:extLst>
          </p:cNvPr>
          <p:cNvSpPr/>
          <p:nvPr/>
        </p:nvSpPr>
        <p:spPr>
          <a:xfrm>
            <a:off x="9652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06 CMI Accent">
            <a:extLst>
              <a:ext uri="{FF2B5EF4-FFF2-40B4-BE49-F238E27FC236}">
                <a16:creationId xmlns:a16="http://schemas.microsoft.com/office/drawing/2014/main" id="{43D4AC62-593C-1BAC-6097-1525D9ED9EF4}"/>
              </a:ext>
            </a:extLst>
          </p:cNvPr>
          <p:cNvSpPr/>
          <p:nvPr/>
        </p:nvSpPr>
        <p:spPr>
          <a:xfrm>
            <a:off x="965200" y="2184400"/>
            <a:ext cx="19050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06 CMI Head">
            <a:extLst>
              <a:ext uri="{FF2B5EF4-FFF2-40B4-BE49-F238E27FC236}">
                <a16:creationId xmlns:a16="http://schemas.microsoft.com/office/drawing/2014/main" id="{B2CFF0EC-7288-9256-1199-6520BE4E828C}"/>
              </a:ext>
            </a:extLst>
          </p:cNvPr>
          <p:cNvSpPr txBox="1"/>
          <p:nvPr/>
        </p:nvSpPr>
        <p:spPr>
          <a:xfrm>
            <a:off x="10922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</a:t>
            </a:r>
          </a:p>
        </p:txBody>
      </p:sp>
      <p:sp>
        <p:nvSpPr>
          <p:cNvPr id="40" name="Slide06 CMI Body">
            <a:extLst>
              <a:ext uri="{FF2B5EF4-FFF2-40B4-BE49-F238E27FC236}">
                <a16:creationId xmlns:a16="http://schemas.microsoft.com/office/drawing/2014/main" id="{0275A72E-D9CF-D4B2-428D-32C765336FEC}"/>
              </a:ext>
            </a:extLst>
          </p:cNvPr>
          <p:cNvSpPr txBox="1"/>
          <p:nvPr/>
        </p:nvSpPr>
        <p:spPr>
          <a:xfrm>
            <a:off x="10922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典籍提及与图谱中心性</a:t>
            </a:r>
          </a:p>
        </p:txBody>
      </p:sp>
      <p:sp>
        <p:nvSpPr>
          <p:cNvPr id="41" name="Slide06 OAI Card">
            <a:extLst>
              <a:ext uri="{FF2B5EF4-FFF2-40B4-BE49-F238E27FC236}">
                <a16:creationId xmlns:a16="http://schemas.microsoft.com/office/drawing/2014/main" id="{59782DB0-D6D1-A6F5-29C3-8A0162D0C9D0}"/>
              </a:ext>
            </a:extLst>
          </p:cNvPr>
          <p:cNvSpPr/>
          <p:nvPr/>
        </p:nvSpPr>
        <p:spPr>
          <a:xfrm>
            <a:off x="31750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06 OAI Accent">
            <a:extLst>
              <a:ext uri="{FF2B5EF4-FFF2-40B4-BE49-F238E27FC236}">
                <a16:creationId xmlns:a16="http://schemas.microsoft.com/office/drawing/2014/main" id="{1F89086A-DD46-03B3-D666-39153DB418B7}"/>
              </a:ext>
            </a:extLst>
          </p:cNvPr>
          <p:cNvSpPr/>
          <p:nvPr/>
        </p:nvSpPr>
        <p:spPr>
          <a:xfrm>
            <a:off x="3175000" y="2184400"/>
            <a:ext cx="1905000" cy="50800"/>
          </a:xfrm>
          <a:prstGeom prst="rect">
            <a:avLst/>
          </a:prstGeom>
          <a:solidFill>
            <a:srgbClr val="56166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06 OAI Head">
            <a:extLst>
              <a:ext uri="{FF2B5EF4-FFF2-40B4-BE49-F238E27FC236}">
                <a16:creationId xmlns:a16="http://schemas.microsoft.com/office/drawing/2014/main" id="{2B5F6183-F81A-AC39-DF71-1F48C367F466}"/>
              </a:ext>
            </a:extLst>
          </p:cNvPr>
          <p:cNvSpPr txBox="1"/>
          <p:nvPr/>
        </p:nvSpPr>
        <p:spPr>
          <a:xfrm>
            <a:off x="33020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</a:t>
            </a:r>
          </a:p>
        </p:txBody>
      </p:sp>
      <p:sp>
        <p:nvSpPr>
          <p:cNvPr id="44" name="Slide06 OAI Body">
            <a:extLst>
              <a:ext uri="{FF2B5EF4-FFF2-40B4-BE49-F238E27FC236}">
                <a16:creationId xmlns:a16="http://schemas.microsoft.com/office/drawing/2014/main" id="{24F116A9-4CF3-8BAF-13BD-B7C202335B7F}"/>
              </a:ext>
            </a:extLst>
          </p:cNvPr>
          <p:cNvSpPr txBox="1"/>
          <p:nvPr/>
        </p:nvSpPr>
        <p:spPr>
          <a:xfrm>
            <a:off x="33020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文物、非遗等官方认定</a:t>
            </a:r>
          </a:p>
        </p:txBody>
      </p:sp>
      <p:sp>
        <p:nvSpPr>
          <p:cNvPr id="45" name="Slide06 THI Card">
            <a:extLst>
              <a:ext uri="{FF2B5EF4-FFF2-40B4-BE49-F238E27FC236}">
                <a16:creationId xmlns:a16="http://schemas.microsoft.com/office/drawing/2014/main" id="{5F9D4725-DD44-1779-3CD5-C3F6B3200471}"/>
              </a:ext>
            </a:extLst>
          </p:cNvPr>
          <p:cNvSpPr/>
          <p:nvPr/>
        </p:nvSpPr>
        <p:spPr>
          <a:xfrm>
            <a:off x="9652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06 THI Accent">
            <a:extLst>
              <a:ext uri="{FF2B5EF4-FFF2-40B4-BE49-F238E27FC236}">
                <a16:creationId xmlns:a16="http://schemas.microsoft.com/office/drawing/2014/main" id="{5892F126-0104-EA38-DDC9-7946B57F5FC3}"/>
              </a:ext>
            </a:extLst>
          </p:cNvPr>
          <p:cNvSpPr/>
          <p:nvPr/>
        </p:nvSpPr>
        <p:spPr>
          <a:xfrm>
            <a:off x="965200" y="3733800"/>
            <a:ext cx="19050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06 THI Head">
            <a:extLst>
              <a:ext uri="{FF2B5EF4-FFF2-40B4-BE49-F238E27FC236}">
                <a16:creationId xmlns:a16="http://schemas.microsoft.com/office/drawing/2014/main" id="{92CAF954-6F53-94C5-BFA2-B702711A94F8}"/>
              </a:ext>
            </a:extLst>
          </p:cNvPr>
          <p:cNvSpPr txBox="1"/>
          <p:nvPr/>
        </p:nvSpPr>
        <p:spPr>
          <a:xfrm>
            <a:off x="10922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</a:t>
            </a:r>
          </a:p>
        </p:txBody>
      </p:sp>
      <p:sp>
        <p:nvSpPr>
          <p:cNvPr id="48" name="Slide06 THI Body">
            <a:extLst>
              <a:ext uri="{FF2B5EF4-FFF2-40B4-BE49-F238E27FC236}">
                <a16:creationId xmlns:a16="http://schemas.microsoft.com/office/drawing/2014/main" id="{F2DEB2E2-FB91-4D55-C26F-8D59186CF3A1}"/>
              </a:ext>
            </a:extLst>
          </p:cNvPr>
          <p:cNvSpPr txBox="1"/>
          <p:nvPr/>
        </p:nvSpPr>
        <p:spPr>
          <a:xfrm>
            <a:off x="10922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、评分与评论热度</a:t>
            </a:r>
          </a:p>
        </p:txBody>
      </p:sp>
      <p:sp>
        <p:nvSpPr>
          <p:cNvPr id="49" name="Slide06 MI Card">
            <a:extLst>
              <a:ext uri="{FF2B5EF4-FFF2-40B4-BE49-F238E27FC236}">
                <a16:creationId xmlns:a16="http://schemas.microsoft.com/office/drawing/2014/main" id="{24561D00-3578-3B4B-BC85-850D9E2BE053}"/>
              </a:ext>
            </a:extLst>
          </p:cNvPr>
          <p:cNvSpPr/>
          <p:nvPr/>
        </p:nvSpPr>
        <p:spPr>
          <a:xfrm>
            <a:off x="31750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06 MI Accent">
            <a:extLst>
              <a:ext uri="{FF2B5EF4-FFF2-40B4-BE49-F238E27FC236}">
                <a16:creationId xmlns:a16="http://schemas.microsoft.com/office/drawing/2014/main" id="{D83D9FF9-CF51-3361-7EE5-A646797D018E}"/>
              </a:ext>
            </a:extLst>
          </p:cNvPr>
          <p:cNvSpPr/>
          <p:nvPr/>
        </p:nvSpPr>
        <p:spPr>
          <a:xfrm>
            <a:off x="3175000" y="3733800"/>
            <a:ext cx="19050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06 MI Head">
            <a:extLst>
              <a:ext uri="{FF2B5EF4-FFF2-40B4-BE49-F238E27FC236}">
                <a16:creationId xmlns:a16="http://schemas.microsoft.com/office/drawing/2014/main" id="{0C6EB8D7-CBB6-4370-D674-2AA456E8C934}"/>
              </a:ext>
            </a:extLst>
          </p:cNvPr>
          <p:cNvSpPr txBox="1"/>
          <p:nvPr/>
        </p:nvSpPr>
        <p:spPr>
          <a:xfrm>
            <a:off x="33020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</a:t>
            </a:r>
          </a:p>
        </p:txBody>
      </p:sp>
      <p:sp>
        <p:nvSpPr>
          <p:cNvPr id="52" name="Slide06 MI Body">
            <a:extLst>
              <a:ext uri="{FF2B5EF4-FFF2-40B4-BE49-F238E27FC236}">
                <a16:creationId xmlns:a16="http://schemas.microsoft.com/office/drawing/2014/main" id="{8B4E8174-57E8-662B-961B-8C27C1C46A33}"/>
              </a:ext>
            </a:extLst>
          </p:cNvPr>
          <p:cNvSpPr txBox="1"/>
          <p:nvPr/>
        </p:nvSpPr>
        <p:spPr>
          <a:xfrm>
            <a:off x="33020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识别文化与旅游的相对错位</a:t>
            </a:r>
          </a:p>
        </p:txBody>
      </p:sp>
      <p:sp>
        <p:nvSpPr>
          <p:cNvPr id="54" name="Slide06 Scatter Frame">
            <a:extLst>
              <a:ext uri="{FF2B5EF4-FFF2-40B4-BE49-F238E27FC236}">
                <a16:creationId xmlns:a16="http://schemas.microsoft.com/office/drawing/2014/main" id="{4E8E8936-6727-C512-C10B-679F1B97442B}"/>
              </a:ext>
            </a:extLst>
          </p:cNvPr>
          <p:cNvSpPr/>
          <p:nvPr/>
        </p:nvSpPr>
        <p:spPr>
          <a:xfrm>
            <a:off x="5181600" y="2006600"/>
            <a:ext cx="6019800" cy="3810000"/>
          </a:xfrm>
          <a:prstGeom prst="round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Slide06 Scatter">
            <a:extLst>
              <a:ext uri="{FF2B5EF4-FFF2-40B4-BE49-F238E27FC236}">
                <a16:creationId xmlns:a16="http://schemas.microsoft.com/office/drawing/2014/main" id="{F27F1FFD-7A2B-734C-EDBB-DB3682CC1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825" y="2108200"/>
            <a:ext cx="4865350" cy="3429000"/>
          </a:xfrm>
          <a:prstGeom prst="rect">
            <a:avLst/>
          </a:prstGeom>
        </p:spPr>
      </p:pic>
      <p:sp>
        <p:nvSpPr>
          <p:cNvPr id="60" name="Slide06 Scatter Caption">
            <a:extLst>
              <a:ext uri="{FF2B5EF4-FFF2-40B4-BE49-F238E27FC236}">
                <a16:creationId xmlns:a16="http://schemas.microsoft.com/office/drawing/2014/main" id="{41D174FF-FABE-F6F9-FD69-60AFF48E60D6}"/>
              </a:ext>
            </a:extLst>
          </p:cNvPr>
          <p:cNvSpPr txBox="1"/>
          <p:nvPr/>
        </p:nvSpPr>
        <p:spPr>
          <a:xfrm>
            <a:off x="5308600" y="5600700"/>
            <a:ext cx="5765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5.6  500 m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网格文化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旅游分布与错位分层</a:t>
            </a:r>
          </a:p>
        </p:txBody>
      </p:sp>
      <p:sp>
        <p:nvSpPr>
          <p:cNvPr id="61" name="Slide06 ScatterNote">
            <a:extLst>
              <a:ext uri="{FF2B5EF4-FFF2-40B4-BE49-F238E27FC236}">
                <a16:creationId xmlns:a16="http://schemas.microsoft.com/office/drawing/2014/main" id="{3F8C55A7-17F7-65E1-F31E-AF14434793DE}"/>
              </a:ext>
            </a:extLst>
          </p:cNvPr>
          <p:cNvSpPr txBox="1"/>
          <p:nvPr/>
        </p:nvSpPr>
        <p:spPr>
          <a:xfrm>
            <a:off x="5257800" y="5969000"/>
            <a:ext cx="58674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红点代表沉睡潜力，蓝点代表空心景点，黄色星标为核心耦合网格。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D6E0F18-D057-6B5E-6A52-20827EF879DF}"/>
              </a:ext>
            </a:extLst>
          </p:cNvPr>
          <p:cNvSpPr txBox="1"/>
          <p:nvPr/>
        </p:nvSpPr>
        <p:spPr>
          <a:xfrm>
            <a:off x="889000" y="1169507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CMI / OAI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表示文化与制度基础，</a:t>
            </a:r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表示旅游热度，</a:t>
            </a:r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用来识别相对错位。</a:t>
            </a:r>
          </a:p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散点分层用于识别沉睡潜力、空心景点和核心耦合网格。</a:t>
            </a:r>
          </a:p>
        </p:txBody>
      </p:sp>
      <p:cxnSp>
        <p:nvCxnSpPr>
          <p:cNvPr id="57" name="Round8 CoreClaim Rule">
            <a:extLst>
              <a:ext uri="{FF2B5EF4-FFF2-40B4-BE49-F238E27FC236}">
                <a16:creationId xmlns:a16="http://schemas.microsoft.com/office/drawing/2014/main" id="{838B40D4-59BC-4146-348F-C0066B1BE5BF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191</Words>
  <Application>Microsoft Office PowerPoint</Application>
  <DocSecurity>0</DocSecurity>
  <PresentationFormat>宽屏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2026-06-03T05:29:40Z</dcterms:modified>
</cp:coreProperties>
</file>