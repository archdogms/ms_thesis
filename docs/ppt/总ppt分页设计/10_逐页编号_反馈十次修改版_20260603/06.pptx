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1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图片 34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088E2902-4C29-4485-AEC0-A25997ECAC3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7FC8BD4-C0B5-4998-B7C3-5BA082520244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95A4B39-DDF2-4998-89DF-52B4AC262196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06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16E7D39-C126-4C57-A9B5-87CEC1C24B37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5.3 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3AB711B-1D9F-4899-AEED-40BE8331B324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429B703-C399-480D-A1D7-9ED68295114B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四类指数进入错位分层</a:t>
            </a:r>
            <a:endParaRPr sz="24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DD96E10-4809-4D1F-A48C-9925D750F285}"/>
              </a:ext>
            </a:extLst>
          </p:cNvPr>
          <p:cNvSpPr>
            <a:spLocks noGrp="1"/>
          </p:cNvSpPr>
          <p:nvPr/>
        </p:nvSpPr>
        <p:spPr>
          <a:xfrm>
            <a:off x="742950" y="2228850"/>
            <a:ext cx="2038350" cy="207645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90A242E-C5C3-4741-935A-677402D6FF4C}"/>
              </a:ext>
            </a:extLst>
          </p:cNvPr>
          <p:cNvSpPr>
            <a:spLocks noGrp="1"/>
          </p:cNvSpPr>
          <p:nvPr/>
        </p:nvSpPr>
        <p:spPr>
          <a:xfrm>
            <a:off x="742950" y="2228850"/>
            <a:ext cx="2038350" cy="11430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27B2CADA-7ADD-4D98-B0F7-C9C3DB698939}"/>
              </a:ext>
            </a:extLst>
          </p:cNvPr>
          <p:cNvSpPr>
            <a:spLocks noGrp="1"/>
          </p:cNvSpPr>
          <p:nvPr/>
        </p:nvSpPr>
        <p:spPr>
          <a:xfrm>
            <a:off x="1028700" y="2571750"/>
            <a:ext cx="1466850" cy="3810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CMI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184E5BB8-C435-4405-98DA-153954560CCD}"/>
              </a:ext>
            </a:extLst>
          </p:cNvPr>
          <p:cNvSpPr>
            <a:spLocks noGrp="1"/>
          </p:cNvSpPr>
          <p:nvPr/>
        </p:nvSpPr>
        <p:spPr>
          <a:xfrm>
            <a:off x="952500" y="3105150"/>
            <a:ext cx="1619250" cy="2476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422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文化记忆指数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23D021C1-A05A-4AA2-A592-DC0444C9F54A}"/>
              </a:ext>
            </a:extLst>
          </p:cNvPr>
          <p:cNvSpPr>
            <a:spLocks noGrp="1"/>
          </p:cNvSpPr>
          <p:nvPr/>
        </p:nvSpPr>
        <p:spPr>
          <a:xfrm>
            <a:off x="971550" y="3543300"/>
            <a:ext cx="1581150" cy="4572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5C53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典籍频次与图谱中心性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C6C8EF8-2746-4F7D-99DF-374856985AE3}"/>
              </a:ext>
            </a:extLst>
          </p:cNvPr>
          <p:cNvSpPr>
            <a:spLocks noGrp="1"/>
          </p:cNvSpPr>
          <p:nvPr/>
        </p:nvSpPr>
        <p:spPr>
          <a:xfrm>
            <a:off x="2971800" y="3009900"/>
            <a:ext cx="4191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400" b="1">
                <a:solidFill>
                  <a:srgbClr val="8C4AA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00" b="1">
                <a:solidFill>
                  <a:srgbClr val="8C4AA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→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DC05530E-F3BD-4DC1-BEC1-0B3741EF27B8}"/>
              </a:ext>
            </a:extLst>
          </p:cNvPr>
          <p:cNvSpPr>
            <a:spLocks noGrp="1"/>
          </p:cNvSpPr>
          <p:nvPr/>
        </p:nvSpPr>
        <p:spPr>
          <a:xfrm>
            <a:off x="3476625" y="2228850"/>
            <a:ext cx="2038350" cy="207645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C2B3252-D695-45D0-B66C-EBB36C1CD778}"/>
              </a:ext>
            </a:extLst>
          </p:cNvPr>
          <p:cNvSpPr>
            <a:spLocks noGrp="1"/>
          </p:cNvSpPr>
          <p:nvPr/>
        </p:nvSpPr>
        <p:spPr>
          <a:xfrm>
            <a:off x="3476625" y="2228850"/>
            <a:ext cx="2038350" cy="11430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8059414A-E030-458D-9922-2AC9203E97EC}"/>
              </a:ext>
            </a:extLst>
          </p:cNvPr>
          <p:cNvSpPr>
            <a:spLocks noGrp="1"/>
          </p:cNvSpPr>
          <p:nvPr/>
        </p:nvSpPr>
        <p:spPr>
          <a:xfrm>
            <a:off x="3762375" y="2571750"/>
            <a:ext cx="1466850" cy="3810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OAI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FCA0849C-4D28-448C-8098-C2871EA03672}"/>
              </a:ext>
            </a:extLst>
          </p:cNvPr>
          <p:cNvSpPr>
            <a:spLocks noGrp="1"/>
          </p:cNvSpPr>
          <p:nvPr/>
        </p:nvSpPr>
        <p:spPr>
          <a:xfrm>
            <a:off x="3686175" y="3105150"/>
            <a:ext cx="1619250" cy="2476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422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官方认证指数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CE2FF82E-CFE0-4ADB-8C35-D59A616C2E72}"/>
              </a:ext>
            </a:extLst>
          </p:cNvPr>
          <p:cNvSpPr>
            <a:spLocks noGrp="1"/>
          </p:cNvSpPr>
          <p:nvPr/>
        </p:nvSpPr>
        <p:spPr>
          <a:xfrm>
            <a:off x="3705225" y="3543300"/>
            <a:ext cx="1581150" cy="4572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5C53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保护等级与制度识别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517C17E-6AB0-4449-8559-97F90F770BD6}"/>
              </a:ext>
            </a:extLst>
          </p:cNvPr>
          <p:cNvSpPr>
            <a:spLocks noGrp="1"/>
          </p:cNvSpPr>
          <p:nvPr/>
        </p:nvSpPr>
        <p:spPr>
          <a:xfrm>
            <a:off x="5705475" y="3009900"/>
            <a:ext cx="4191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400" b="1">
                <a:solidFill>
                  <a:srgbClr val="8C4AA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00" b="1">
                <a:solidFill>
                  <a:srgbClr val="8C4AA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→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4BE28911-60B3-425E-9D95-530E9188D4C2}"/>
              </a:ext>
            </a:extLst>
          </p:cNvPr>
          <p:cNvSpPr>
            <a:spLocks noGrp="1"/>
          </p:cNvSpPr>
          <p:nvPr/>
        </p:nvSpPr>
        <p:spPr>
          <a:xfrm>
            <a:off x="6210300" y="2228850"/>
            <a:ext cx="2038350" cy="207645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D677863-BA2A-40D5-A512-B29E08CFC078}"/>
              </a:ext>
            </a:extLst>
          </p:cNvPr>
          <p:cNvSpPr>
            <a:spLocks noGrp="1"/>
          </p:cNvSpPr>
          <p:nvPr/>
        </p:nvSpPr>
        <p:spPr>
          <a:xfrm>
            <a:off x="6210300" y="2228850"/>
            <a:ext cx="2038350" cy="11430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C1BB2D72-B809-40D4-A1EC-BB12B2F95DAE}"/>
              </a:ext>
            </a:extLst>
          </p:cNvPr>
          <p:cNvSpPr>
            <a:spLocks noGrp="1"/>
          </p:cNvSpPr>
          <p:nvPr/>
        </p:nvSpPr>
        <p:spPr>
          <a:xfrm>
            <a:off x="6496050" y="2571750"/>
            <a:ext cx="1466850" cy="3810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5A83A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THI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75D6A79F-39B5-47B6-A06A-C971E6A6E0F6}"/>
              </a:ext>
            </a:extLst>
          </p:cNvPr>
          <p:cNvSpPr>
            <a:spLocks noGrp="1"/>
          </p:cNvSpPr>
          <p:nvPr/>
        </p:nvSpPr>
        <p:spPr>
          <a:xfrm>
            <a:off x="6419850" y="3105150"/>
            <a:ext cx="1619250" cy="2476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422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旅游热度指数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F1593A54-FEFC-4E7E-946F-57F749D43141}"/>
              </a:ext>
            </a:extLst>
          </p:cNvPr>
          <p:cNvSpPr>
            <a:spLocks noGrp="1"/>
          </p:cNvSpPr>
          <p:nvPr/>
        </p:nvSpPr>
        <p:spPr>
          <a:xfrm>
            <a:off x="6438900" y="3543300"/>
            <a:ext cx="1581150" cy="4572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5C53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POI、评分、评论量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40161AD-DF58-43E9-BBFF-D4B49C6F3D7A}"/>
              </a:ext>
            </a:extLst>
          </p:cNvPr>
          <p:cNvSpPr>
            <a:spLocks noGrp="1"/>
          </p:cNvSpPr>
          <p:nvPr/>
        </p:nvSpPr>
        <p:spPr>
          <a:xfrm>
            <a:off x="8439150" y="3009900"/>
            <a:ext cx="4191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400" b="1">
                <a:solidFill>
                  <a:srgbClr val="8C4AA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00" b="1">
                <a:solidFill>
                  <a:srgbClr val="8C4AA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→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AA0AB559-003D-4D9A-B60B-A9B5C19AB6D7}"/>
              </a:ext>
            </a:extLst>
          </p:cNvPr>
          <p:cNvSpPr>
            <a:spLocks noGrp="1"/>
          </p:cNvSpPr>
          <p:nvPr/>
        </p:nvSpPr>
        <p:spPr>
          <a:xfrm>
            <a:off x="8943975" y="2228850"/>
            <a:ext cx="2038350" cy="207645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D48F5B0-6C51-4F51-98A9-76D941281FA0}"/>
              </a:ext>
            </a:extLst>
          </p:cNvPr>
          <p:cNvSpPr>
            <a:spLocks noGrp="1"/>
          </p:cNvSpPr>
          <p:nvPr/>
        </p:nvSpPr>
        <p:spPr>
          <a:xfrm>
            <a:off x="8943975" y="2228850"/>
            <a:ext cx="2038350" cy="11430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07FA55E2-5F47-4589-BA61-882347819117}"/>
              </a:ext>
            </a:extLst>
          </p:cNvPr>
          <p:cNvSpPr>
            <a:spLocks noGrp="1"/>
          </p:cNvSpPr>
          <p:nvPr/>
        </p:nvSpPr>
        <p:spPr>
          <a:xfrm>
            <a:off x="9229725" y="2571750"/>
            <a:ext cx="1466850" cy="3810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5A83A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MI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42852A55-EC5E-4B98-9211-556DDB4985A2}"/>
              </a:ext>
            </a:extLst>
          </p:cNvPr>
          <p:cNvSpPr>
            <a:spLocks noGrp="1"/>
          </p:cNvSpPr>
          <p:nvPr/>
        </p:nvSpPr>
        <p:spPr>
          <a:xfrm>
            <a:off x="9153525" y="3105150"/>
            <a:ext cx="1619250" cy="2476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422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错位指数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04997DC7-9F9A-4E2B-AF51-2A54D6BD4C0F}"/>
              </a:ext>
            </a:extLst>
          </p:cNvPr>
          <p:cNvSpPr>
            <a:spLocks noGrp="1"/>
          </p:cNvSpPr>
          <p:nvPr/>
        </p:nvSpPr>
        <p:spPr>
          <a:xfrm>
            <a:off x="9172575" y="3543300"/>
            <a:ext cx="1581150" cy="4572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5C53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旅游热度与文化侧基础的相对差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296EED3D-2113-4D8E-BB01-8D33CC864EC3}"/>
              </a:ext>
            </a:extLst>
          </p:cNvPr>
          <p:cNvSpPr>
            <a:spLocks noGrp="1"/>
          </p:cNvSpPr>
          <p:nvPr/>
        </p:nvSpPr>
        <p:spPr>
          <a:xfrm>
            <a:off x="3143250" y="5067300"/>
            <a:ext cx="60960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B35D4C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B35D4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MI = THI - 0.5CMI - 0.5OAI；THI 表示旅游热度，不能替代文化识别。</a:t>
            </a:r>
          </a:p>
        </p:txBody>
      </p:sp>
      <p:sp>
        <p:nvSpPr>
          <p:cNvPr id="36" name="Slide06 Rebuild Cover">
            <a:extLst>
              <a:ext uri="{FF2B5EF4-FFF2-40B4-BE49-F238E27FC236}">
                <a16:creationId xmlns:a16="http://schemas.microsoft.com/office/drawing/2014/main" id="{679AD485-CA5D-3B0B-BCF5-5A48D64896C0}"/>
              </a:ext>
            </a:extLst>
          </p:cNvPr>
          <p:cNvSpPr/>
          <p:nvPr/>
        </p:nvSpPr>
        <p:spPr>
          <a:xfrm>
            <a:off x="736600" y="1981200"/>
            <a:ext cx="10414000" cy="3886200"/>
          </a:xfrm>
          <a:prstGeom prst="rect">
            <a:avLst/>
          </a:prstGeom>
          <a:solidFill>
            <a:srgbClr val="FFFFFF">
              <a:alpha val="98000"/>
            </a:srgb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Slide06 CMI Card">
            <a:extLst>
              <a:ext uri="{FF2B5EF4-FFF2-40B4-BE49-F238E27FC236}">
                <a16:creationId xmlns:a16="http://schemas.microsoft.com/office/drawing/2014/main" id="{F5E75ED6-6510-9075-F16E-557BF55C9F24}"/>
              </a:ext>
            </a:extLst>
          </p:cNvPr>
          <p:cNvSpPr/>
          <p:nvPr/>
        </p:nvSpPr>
        <p:spPr>
          <a:xfrm>
            <a:off x="965200" y="2184400"/>
            <a:ext cx="1905000" cy="10922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Slide06 CMI Accent">
            <a:extLst>
              <a:ext uri="{FF2B5EF4-FFF2-40B4-BE49-F238E27FC236}">
                <a16:creationId xmlns:a16="http://schemas.microsoft.com/office/drawing/2014/main" id="{43D4AC62-593C-1BAC-6097-1525D9ED9EF4}"/>
              </a:ext>
            </a:extLst>
          </p:cNvPr>
          <p:cNvSpPr/>
          <p:nvPr/>
        </p:nvSpPr>
        <p:spPr>
          <a:xfrm>
            <a:off x="965200" y="2184400"/>
            <a:ext cx="1905000" cy="50800"/>
          </a:xfrm>
          <a:prstGeom prst="rect">
            <a:avLst/>
          </a:prstGeom>
          <a:solidFill>
            <a:srgbClr val="6F2184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Slide06 CMI Head">
            <a:extLst>
              <a:ext uri="{FF2B5EF4-FFF2-40B4-BE49-F238E27FC236}">
                <a16:creationId xmlns:a16="http://schemas.microsoft.com/office/drawing/2014/main" id="{B2CFF0EC-7288-9256-1199-6520BE4E828C}"/>
              </a:ext>
            </a:extLst>
          </p:cNvPr>
          <p:cNvSpPr txBox="1"/>
          <p:nvPr/>
        </p:nvSpPr>
        <p:spPr>
          <a:xfrm>
            <a:off x="1092200" y="2349500"/>
            <a:ext cx="1651000" cy="27443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CMI </a:t>
            </a:r>
            <a:r>
              <a:rPr lang="zh-CN" altLang="en-US"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文化记忆</a:t>
            </a:r>
          </a:p>
        </p:txBody>
      </p:sp>
      <p:sp>
        <p:nvSpPr>
          <p:cNvPr id="40" name="Slide06 CMI Body">
            <a:extLst>
              <a:ext uri="{FF2B5EF4-FFF2-40B4-BE49-F238E27FC236}">
                <a16:creationId xmlns:a16="http://schemas.microsoft.com/office/drawing/2014/main" id="{0275A72E-D9CF-D4B2-428D-32C765336FEC}"/>
              </a:ext>
            </a:extLst>
          </p:cNvPr>
          <p:cNvSpPr txBox="1"/>
          <p:nvPr/>
        </p:nvSpPr>
        <p:spPr>
          <a:xfrm>
            <a:off x="1092200" y="2641600"/>
            <a:ext cx="1651000" cy="4667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典籍提及与图谱中心性</a:t>
            </a:r>
          </a:p>
        </p:txBody>
      </p:sp>
      <p:sp>
        <p:nvSpPr>
          <p:cNvPr id="41" name="Slide06 OAI Card">
            <a:extLst>
              <a:ext uri="{FF2B5EF4-FFF2-40B4-BE49-F238E27FC236}">
                <a16:creationId xmlns:a16="http://schemas.microsoft.com/office/drawing/2014/main" id="{59782DB0-D6D1-A6F5-29C3-8A0162D0C9D0}"/>
              </a:ext>
            </a:extLst>
          </p:cNvPr>
          <p:cNvSpPr/>
          <p:nvPr/>
        </p:nvSpPr>
        <p:spPr>
          <a:xfrm>
            <a:off x="3175000" y="2184400"/>
            <a:ext cx="1905000" cy="10922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Slide06 OAI Accent">
            <a:extLst>
              <a:ext uri="{FF2B5EF4-FFF2-40B4-BE49-F238E27FC236}">
                <a16:creationId xmlns:a16="http://schemas.microsoft.com/office/drawing/2014/main" id="{1F89086A-DD46-03B3-D666-39153DB418B7}"/>
              </a:ext>
            </a:extLst>
          </p:cNvPr>
          <p:cNvSpPr/>
          <p:nvPr/>
        </p:nvSpPr>
        <p:spPr>
          <a:xfrm>
            <a:off x="3175000" y="2184400"/>
            <a:ext cx="1905000" cy="50800"/>
          </a:xfrm>
          <a:prstGeom prst="rect">
            <a:avLst/>
          </a:prstGeom>
          <a:solidFill>
            <a:srgbClr val="56166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Slide06 OAI Head">
            <a:extLst>
              <a:ext uri="{FF2B5EF4-FFF2-40B4-BE49-F238E27FC236}">
                <a16:creationId xmlns:a16="http://schemas.microsoft.com/office/drawing/2014/main" id="{2B5F6183-F81A-AC39-DF71-1F48C367F466}"/>
              </a:ext>
            </a:extLst>
          </p:cNvPr>
          <p:cNvSpPr txBox="1"/>
          <p:nvPr/>
        </p:nvSpPr>
        <p:spPr>
          <a:xfrm>
            <a:off x="3302000" y="2349500"/>
            <a:ext cx="1651000" cy="27443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OAI </a:t>
            </a:r>
            <a:r>
              <a:rPr lang="zh-CN" altLang="en-US"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官方认定</a:t>
            </a:r>
          </a:p>
        </p:txBody>
      </p:sp>
      <p:sp>
        <p:nvSpPr>
          <p:cNvPr id="44" name="Slide06 OAI Body">
            <a:extLst>
              <a:ext uri="{FF2B5EF4-FFF2-40B4-BE49-F238E27FC236}">
                <a16:creationId xmlns:a16="http://schemas.microsoft.com/office/drawing/2014/main" id="{24F116A9-4CF3-8BAF-13BD-B7C202335B7F}"/>
              </a:ext>
            </a:extLst>
          </p:cNvPr>
          <p:cNvSpPr txBox="1"/>
          <p:nvPr/>
        </p:nvSpPr>
        <p:spPr>
          <a:xfrm>
            <a:off x="3302000" y="2641600"/>
            <a:ext cx="1651000" cy="4667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文物、非遗等官方认定</a:t>
            </a:r>
          </a:p>
        </p:txBody>
      </p:sp>
      <p:sp>
        <p:nvSpPr>
          <p:cNvPr id="45" name="Slide06 THI Card">
            <a:extLst>
              <a:ext uri="{FF2B5EF4-FFF2-40B4-BE49-F238E27FC236}">
                <a16:creationId xmlns:a16="http://schemas.microsoft.com/office/drawing/2014/main" id="{5F9D4725-DD44-1779-3CD5-C3F6B3200471}"/>
              </a:ext>
            </a:extLst>
          </p:cNvPr>
          <p:cNvSpPr/>
          <p:nvPr/>
        </p:nvSpPr>
        <p:spPr>
          <a:xfrm>
            <a:off x="965200" y="3733800"/>
            <a:ext cx="1905000" cy="10922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Slide06 THI Accent">
            <a:extLst>
              <a:ext uri="{FF2B5EF4-FFF2-40B4-BE49-F238E27FC236}">
                <a16:creationId xmlns:a16="http://schemas.microsoft.com/office/drawing/2014/main" id="{5892F126-0104-EA38-DDC9-7946B57F5FC3}"/>
              </a:ext>
            </a:extLst>
          </p:cNvPr>
          <p:cNvSpPr/>
          <p:nvPr/>
        </p:nvSpPr>
        <p:spPr>
          <a:xfrm>
            <a:off x="965200" y="3733800"/>
            <a:ext cx="1905000" cy="50800"/>
          </a:xfrm>
          <a:prstGeom prst="rect">
            <a:avLst/>
          </a:prstGeom>
          <a:solidFill>
            <a:srgbClr val="56849E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Slide06 THI Head">
            <a:extLst>
              <a:ext uri="{FF2B5EF4-FFF2-40B4-BE49-F238E27FC236}">
                <a16:creationId xmlns:a16="http://schemas.microsoft.com/office/drawing/2014/main" id="{92CAF954-6F53-94C5-BFA2-B702711A94F8}"/>
              </a:ext>
            </a:extLst>
          </p:cNvPr>
          <p:cNvSpPr txBox="1"/>
          <p:nvPr/>
        </p:nvSpPr>
        <p:spPr>
          <a:xfrm>
            <a:off x="1092200" y="3898900"/>
            <a:ext cx="1651000" cy="27443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THI </a:t>
            </a:r>
            <a:r>
              <a:rPr lang="zh-CN" altLang="en-US"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旅游热度</a:t>
            </a:r>
          </a:p>
        </p:txBody>
      </p:sp>
      <p:sp>
        <p:nvSpPr>
          <p:cNvPr id="48" name="Slide06 THI Body">
            <a:extLst>
              <a:ext uri="{FF2B5EF4-FFF2-40B4-BE49-F238E27FC236}">
                <a16:creationId xmlns:a16="http://schemas.microsoft.com/office/drawing/2014/main" id="{F2DEB2E2-FB91-4D55-C26F-8D59186CF3A1}"/>
              </a:ext>
            </a:extLst>
          </p:cNvPr>
          <p:cNvSpPr txBox="1"/>
          <p:nvPr/>
        </p:nvSpPr>
        <p:spPr>
          <a:xfrm>
            <a:off x="1092200" y="4191000"/>
            <a:ext cx="1651000" cy="4667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</a:t>
            </a: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、评分与评论热度</a:t>
            </a:r>
          </a:p>
        </p:txBody>
      </p:sp>
      <p:sp>
        <p:nvSpPr>
          <p:cNvPr id="49" name="Slide06 MI Card">
            <a:extLst>
              <a:ext uri="{FF2B5EF4-FFF2-40B4-BE49-F238E27FC236}">
                <a16:creationId xmlns:a16="http://schemas.microsoft.com/office/drawing/2014/main" id="{24561D00-3578-3B4B-BC85-850D9E2BE053}"/>
              </a:ext>
            </a:extLst>
          </p:cNvPr>
          <p:cNvSpPr/>
          <p:nvPr/>
        </p:nvSpPr>
        <p:spPr>
          <a:xfrm>
            <a:off x="3175000" y="3733800"/>
            <a:ext cx="1905000" cy="10922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Slide06 MI Accent">
            <a:extLst>
              <a:ext uri="{FF2B5EF4-FFF2-40B4-BE49-F238E27FC236}">
                <a16:creationId xmlns:a16="http://schemas.microsoft.com/office/drawing/2014/main" id="{D83D9FF9-CF51-3361-7EE5-A646797D018E}"/>
              </a:ext>
            </a:extLst>
          </p:cNvPr>
          <p:cNvSpPr/>
          <p:nvPr/>
        </p:nvSpPr>
        <p:spPr>
          <a:xfrm>
            <a:off x="3175000" y="3733800"/>
            <a:ext cx="1905000" cy="50800"/>
          </a:xfrm>
          <a:prstGeom prst="rect">
            <a:avLst/>
          </a:prstGeom>
          <a:solidFill>
            <a:srgbClr val="60937D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Slide06 MI Head">
            <a:extLst>
              <a:ext uri="{FF2B5EF4-FFF2-40B4-BE49-F238E27FC236}">
                <a16:creationId xmlns:a16="http://schemas.microsoft.com/office/drawing/2014/main" id="{0C6EB8D7-CBB6-4370-D674-2AA456E8C934}"/>
              </a:ext>
            </a:extLst>
          </p:cNvPr>
          <p:cNvSpPr txBox="1"/>
          <p:nvPr/>
        </p:nvSpPr>
        <p:spPr>
          <a:xfrm>
            <a:off x="3302000" y="3898900"/>
            <a:ext cx="1651000" cy="27443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MI </a:t>
            </a:r>
            <a:r>
              <a:rPr lang="zh-CN" altLang="en-US"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错位指数</a:t>
            </a:r>
          </a:p>
        </p:txBody>
      </p:sp>
      <p:sp>
        <p:nvSpPr>
          <p:cNvPr id="52" name="Slide06 MI Body">
            <a:extLst>
              <a:ext uri="{FF2B5EF4-FFF2-40B4-BE49-F238E27FC236}">
                <a16:creationId xmlns:a16="http://schemas.microsoft.com/office/drawing/2014/main" id="{8B4E8174-57E8-662B-961B-8C27C1C46A33}"/>
              </a:ext>
            </a:extLst>
          </p:cNvPr>
          <p:cNvSpPr txBox="1"/>
          <p:nvPr/>
        </p:nvSpPr>
        <p:spPr>
          <a:xfrm>
            <a:off x="3302000" y="4191000"/>
            <a:ext cx="1651000" cy="4667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识别文化与旅游的相对错位</a:t>
            </a:r>
          </a:p>
        </p:txBody>
      </p:sp>
      <p:sp>
        <p:nvSpPr>
          <p:cNvPr id="54" name="Slide06 Scatter Frame">
            <a:extLst>
              <a:ext uri="{FF2B5EF4-FFF2-40B4-BE49-F238E27FC236}">
                <a16:creationId xmlns:a16="http://schemas.microsoft.com/office/drawing/2014/main" id="{4E8E8936-6727-C512-C10B-679F1B97442B}"/>
              </a:ext>
            </a:extLst>
          </p:cNvPr>
          <p:cNvSpPr/>
          <p:nvPr/>
        </p:nvSpPr>
        <p:spPr>
          <a:xfrm>
            <a:off x="5181600" y="2006600"/>
            <a:ext cx="6019800" cy="3810000"/>
          </a:xfrm>
          <a:prstGeom prst="roundRect">
            <a:avLst/>
          </a:prstGeom>
          <a:solidFill>
            <a:srgbClr val="FFFFFF">
              <a:alpha val="99000"/>
            </a:srgbClr>
          </a:solidFill>
          <a:ln w="10160">
            <a:solidFill>
              <a:srgbClr val="CDBED7"/>
            </a:solidFill>
          </a:ln>
          <a:effectLst>
            <a:outerShdw blurRad="50800" dist="35921" dir="2700002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9" name="Slide06 Scatter">
            <a:extLst>
              <a:ext uri="{FF2B5EF4-FFF2-40B4-BE49-F238E27FC236}">
                <a16:creationId xmlns:a16="http://schemas.microsoft.com/office/drawing/2014/main" id="{F27F1FFD-7A2B-734C-EDBB-DB3682CC10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8825" y="2108200"/>
            <a:ext cx="4865350" cy="3429000"/>
          </a:xfrm>
          <a:prstGeom prst="rect">
            <a:avLst/>
          </a:prstGeom>
        </p:spPr>
      </p:pic>
      <p:sp>
        <p:nvSpPr>
          <p:cNvPr id="60" name="Slide06 Scatter Caption">
            <a:extLst>
              <a:ext uri="{FF2B5EF4-FFF2-40B4-BE49-F238E27FC236}">
                <a16:creationId xmlns:a16="http://schemas.microsoft.com/office/drawing/2014/main" id="{41D174FF-FABE-F6F9-FD69-60AFF48E60D6}"/>
              </a:ext>
            </a:extLst>
          </p:cNvPr>
          <p:cNvSpPr txBox="1"/>
          <p:nvPr/>
        </p:nvSpPr>
        <p:spPr>
          <a:xfrm>
            <a:off x="5308600" y="5600700"/>
            <a:ext cx="57658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70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图</a:t>
            </a:r>
            <a:r>
              <a:rPr lang="en-US" altLang="zh-CN" sz="70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5.6  500 m </a:t>
            </a:r>
            <a:r>
              <a:rPr lang="zh-CN" altLang="en-US" sz="70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网格文化</a:t>
            </a:r>
            <a:r>
              <a:rPr lang="en-US" altLang="zh-CN" sz="70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</a:t>
            </a:r>
            <a:r>
              <a:rPr lang="zh-CN" altLang="en-US" sz="70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旅游分布与错位分层</a:t>
            </a:r>
          </a:p>
        </p:txBody>
      </p:sp>
      <p:sp>
        <p:nvSpPr>
          <p:cNvPr id="61" name="Slide06 ScatterNote">
            <a:extLst>
              <a:ext uri="{FF2B5EF4-FFF2-40B4-BE49-F238E27FC236}">
                <a16:creationId xmlns:a16="http://schemas.microsoft.com/office/drawing/2014/main" id="{3F8C55A7-17F7-65E1-F31E-AF14434793DE}"/>
              </a:ext>
            </a:extLst>
          </p:cNvPr>
          <p:cNvSpPr txBox="1"/>
          <p:nvPr/>
        </p:nvSpPr>
        <p:spPr>
          <a:xfrm>
            <a:off x="5257800" y="5969000"/>
            <a:ext cx="5867400" cy="26674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红点代表沉睡潜力，蓝点代表空心景点，黄色星标为核心耦合网格。</a:t>
            </a:r>
          </a:p>
        </p:txBody>
      </p:sp>
      <p:sp>
        <p:nvSpPr>
          <p:cNvPr id="10" name="Slide06 Explain Box">
            <a:extLst>
              <a:ext uri="{FF2B5EF4-FFF2-40B4-BE49-F238E27FC236}">
                <a16:creationId xmlns:a16="http://schemas.microsoft.com/office/drawing/2014/main" id="{6B261580-B41D-3C6C-9539-BFD7AD92DB15}"/>
              </a:ext>
            </a:extLst>
          </p:cNvPr>
          <p:cNvSpPr/>
          <p:nvPr/>
        </p:nvSpPr>
        <p:spPr>
          <a:xfrm>
            <a:off x="965200" y="5054600"/>
            <a:ext cx="4114800" cy="6858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Slide06 Explain Text">
            <a:extLst>
              <a:ext uri="{FF2B5EF4-FFF2-40B4-BE49-F238E27FC236}">
                <a16:creationId xmlns:a16="http://schemas.microsoft.com/office/drawing/2014/main" id="{1D5EBF2D-FC21-76FF-D114-963B57CB89A7}"/>
              </a:ext>
            </a:extLst>
          </p:cNvPr>
          <p:cNvSpPr txBox="1"/>
          <p:nvPr/>
        </p:nvSpPr>
        <p:spPr>
          <a:xfrm>
            <a:off x="1117600" y="5181600"/>
            <a:ext cx="3810000" cy="44525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28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红点代表沉睡潜力，蓝点代表空心景点，黄色星标为核心耦合网格。</a:t>
            </a:r>
          </a:p>
        </p:txBody>
      </p:sp>
      <p:sp>
        <p:nvSpPr>
          <p:cNvPr id="55" name="Slide06 Explain Label">
            <a:extLst>
              <a:ext uri="{FF2B5EF4-FFF2-40B4-BE49-F238E27FC236}">
                <a16:creationId xmlns:a16="http://schemas.microsoft.com/office/drawing/2014/main" id="{C63B0EF8-3101-D4DC-8DC3-1E3122515136}"/>
              </a:ext>
            </a:extLst>
          </p:cNvPr>
          <p:cNvSpPr txBox="1"/>
          <p:nvPr/>
        </p:nvSpPr>
        <p:spPr>
          <a:xfrm>
            <a:off x="1117600" y="4927600"/>
            <a:ext cx="5080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2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说明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184D6BCE-5109-E5ED-F872-E2866DD336C5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数据基础与处理方法</a:t>
            </a:r>
          </a:p>
        </p:txBody>
      </p:sp>
      <p:sp>
        <p:nvSpPr>
          <p:cNvPr id="4" name="Round8 CoreClaim Text">
            <a:extLst>
              <a:ext uri="{FF2B5EF4-FFF2-40B4-BE49-F238E27FC236}">
                <a16:creationId xmlns:a16="http://schemas.microsoft.com/office/drawing/2014/main" id="{4D6E0F18-D057-6B5E-6A52-20827EF879DF}"/>
              </a:ext>
            </a:extLst>
          </p:cNvPr>
          <p:cNvSpPr txBox="1"/>
          <p:nvPr/>
        </p:nvSpPr>
        <p:spPr>
          <a:xfrm>
            <a:off x="889000" y="1320800"/>
            <a:ext cx="10414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核心判断：</a:t>
            </a:r>
            <a:r>
              <a:rPr lang="en-US" altLang="zh-CN" sz="15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CMI / OAI </a:t>
            </a:r>
            <a:r>
              <a:rPr lang="zh-CN" altLang="en-US" sz="15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表示文化与制度基础，</a:t>
            </a:r>
            <a:r>
              <a:rPr lang="en-US" altLang="zh-CN" sz="15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THI </a:t>
            </a:r>
            <a:r>
              <a:rPr lang="zh-CN" altLang="en-US" sz="15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表示旅游热度，</a:t>
            </a:r>
            <a:r>
              <a:rPr lang="en-US" altLang="zh-CN" sz="15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MI </a:t>
            </a:r>
            <a:r>
              <a:rPr lang="zh-CN" altLang="en-US" sz="15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用来识别相对错位。</a:t>
            </a:r>
          </a:p>
        </p:txBody>
      </p:sp>
      <p:cxnSp>
        <p:nvCxnSpPr>
          <p:cNvPr id="57" name="Round8 CoreClaim Rule">
            <a:extLst>
              <a:ext uri="{FF2B5EF4-FFF2-40B4-BE49-F238E27FC236}">
                <a16:creationId xmlns:a16="http://schemas.microsoft.com/office/drawing/2014/main" id="{838B40D4-59BC-4146-348F-C0066B1BE5BF}"/>
              </a:ext>
            </a:extLst>
          </p:cNvPr>
          <p:cNvCxnSpPr/>
          <p:nvPr/>
        </p:nvCxnSpPr>
        <p:spPr>
          <a:xfrm>
            <a:off x="889000" y="1689100"/>
            <a:ext cx="10414000" cy="0"/>
          </a:xfrm>
          <a:prstGeom prst="line">
            <a:avLst/>
          </a:prstGeom>
          <a:ln w="10160">
            <a:solidFill>
              <a:srgbClr val="CDB0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406048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164</Words>
  <Application>Microsoft Office PowerPoint</Application>
  <DocSecurity>0</DocSecurity>
  <PresentationFormat>宽屏</PresentationFormat>
  <Paragraphs>34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40</cp:revision>
  <dcterms:created xsi:type="dcterms:W3CDTF">2026-06-02T06:15:18Z</dcterms:created>
  <dcterms:modified xsi:type="dcterms:W3CDTF">2026-06-03T04:05:52Z</dcterms:modified>
</cp:coreProperties>
</file>