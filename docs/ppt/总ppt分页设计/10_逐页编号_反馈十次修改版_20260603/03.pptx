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开题/中期原始背景与终版论文第 1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从双谱系到错位诊断</a:t>
            </a:r>
            <a:endParaRPr sz="245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7E5E03-442C-4743-9A9C-8DACBFA139C8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4C4612F-B566-4082-9C0C-AB150F28FE3F}"/>
              </a:ext>
            </a:extLst>
          </p:cNvPr>
          <p:cNvSpPr>
            <a:spLocks noGrp="1"/>
          </p:cNvSpPr>
          <p:nvPr/>
        </p:nvSpPr>
        <p:spPr>
          <a:xfrm>
            <a:off x="1028700" y="1895475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CD683-B72F-4E34-8E38-086624DF0D24}"/>
              </a:ext>
            </a:extLst>
          </p:cNvPr>
          <p:cNvSpPr>
            <a:spLocks noGrp="1"/>
          </p:cNvSpPr>
          <p:nvPr/>
        </p:nvSpPr>
        <p:spPr>
          <a:xfrm>
            <a:off x="1133475" y="1980090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政策导向</a:t>
            </a:r>
            <a:endParaRPr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9DEB9F-DC90-4C09-8097-38AA11B22FC0}"/>
              </a:ext>
            </a:extLst>
          </p:cNvPr>
          <p:cNvSpPr>
            <a:spLocks noGrp="1"/>
          </p:cNvSpPr>
          <p:nvPr/>
        </p:nvSpPr>
        <p:spPr>
          <a:xfrm>
            <a:off x="110490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文旅融合成为区域高质量发展的重要方向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BBF1EC-14CE-44F0-BAFF-60592C774A66}"/>
              </a:ext>
            </a:extLst>
          </p:cNvPr>
          <p:cNvSpPr>
            <a:spLocks noGrp="1"/>
          </p:cNvSpPr>
          <p:nvPr/>
        </p:nvSpPr>
        <p:spPr>
          <a:xfrm>
            <a:off x="1104900" y="3388519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文化资源需要从名录与文本，转化为可到达、可参与、可体验的旅游产品</a:t>
            </a:r>
            <a:r>
              <a:rPr sz="140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30408F-F964-48D2-BF21-D87B2EA848BA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91ADA-533C-4153-A35A-04890D255980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7F2399-7D0E-4722-ACB8-C02C5C368A07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4CEFC1-EC67-4944-A6C2-1378707F0B15}"/>
              </a:ext>
            </a:extLst>
          </p:cNvPr>
          <p:cNvSpPr>
            <a:spLocks noGrp="1"/>
          </p:cNvSpPr>
          <p:nvPr/>
        </p:nvSpPr>
        <p:spPr>
          <a:xfrm>
            <a:off x="4333875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E25CEE-2288-410C-9879-111F7C1A7A18}"/>
              </a:ext>
            </a:extLst>
          </p:cNvPr>
          <p:cNvSpPr>
            <a:spLocks noGrp="1"/>
          </p:cNvSpPr>
          <p:nvPr/>
        </p:nvSpPr>
        <p:spPr>
          <a:xfrm>
            <a:off x="4562475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南海文化资源丰富，但与旅游体验整合不足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43F559-F23E-4214-997F-7407C71EF586}"/>
              </a:ext>
            </a:extLst>
          </p:cNvPr>
          <p:cNvSpPr>
            <a:spLocks noGrp="1"/>
          </p:cNvSpPr>
          <p:nvPr/>
        </p:nvSpPr>
        <p:spPr>
          <a:xfrm>
            <a:off x="4562475" y="337185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南海拥有90项非遗、80处文物和12个名村，但文化体验的系统性仍需提升。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47F1E3-1CC0-43CC-B815-BB7CDBEFF1B6}"/>
              </a:ext>
            </a:extLst>
          </p:cNvPr>
          <p:cNvSpPr>
            <a:spLocks noGrp="1"/>
          </p:cNvSpPr>
          <p:nvPr/>
        </p:nvSpPr>
        <p:spPr>
          <a:xfrm>
            <a:off x="4562475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E0DEA8-318E-4286-836D-4445CE7D5115}"/>
              </a:ext>
            </a:extLst>
          </p:cNvPr>
          <p:cNvSpPr>
            <a:spLocks noGrp="1"/>
          </p:cNvSpPr>
          <p:nvPr/>
        </p:nvSpPr>
        <p:spPr>
          <a:xfrm>
            <a:off x="4562475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E4BF31-37E8-4C50-B03C-2C7E5EAEC627}"/>
              </a:ext>
            </a:extLst>
          </p:cNvPr>
          <p:cNvSpPr>
            <a:spLocks noGrp="1"/>
          </p:cNvSpPr>
          <p:nvPr/>
        </p:nvSpPr>
        <p:spPr>
          <a:xfrm>
            <a:off x="4562475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3A4B76-352B-4124-930E-9E74909A76E3}"/>
              </a:ext>
            </a:extLst>
          </p:cNvPr>
          <p:cNvSpPr>
            <a:spLocks noGrp="1"/>
          </p:cNvSpPr>
          <p:nvPr/>
        </p:nvSpPr>
        <p:spPr>
          <a:xfrm>
            <a:off x="779145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E7BFE2-6EFA-4D8C-95AC-BC0EA8C2E6F5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如何识别文化遗产与旅游产品的对应、错位和缺失</a:t>
            </a:r>
            <a:r>
              <a:rPr sz="1600" b="1" dirty="0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334CF6-6E8C-4CC7-880E-4D435E7287C0}"/>
              </a:ext>
            </a:extLst>
          </p:cNvPr>
          <p:cNvSpPr>
            <a:spLocks noGrp="1"/>
          </p:cNvSpPr>
          <p:nvPr/>
        </p:nvSpPr>
        <p:spPr>
          <a:xfrm>
            <a:off x="8004653" y="3388436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中期完成数据与图谱，定稿以165条载体和500m网格量化空间错位。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4B6C42-A394-46E6-8DC1-90CF68C5E119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E7E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75364E8-F4C4-4878-BC40-8B35BC137131}"/>
              </a:ext>
            </a:extLst>
          </p:cNvPr>
          <p:cNvSpPr>
            <a:spLocks noGrp="1"/>
          </p:cNvSpPr>
          <p:nvPr/>
        </p:nvSpPr>
        <p:spPr>
          <a:xfrm>
            <a:off x="802005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221924-D000-42D4-9C06-B6D57E855185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中期收束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5E6AC05-DC9B-B0EE-2D18-84FE73247A7F}"/>
              </a:ext>
            </a:extLst>
          </p:cNvPr>
          <p:cNvSpPr>
            <a:spLocks noGrp="1"/>
          </p:cNvSpPr>
          <p:nvPr/>
        </p:nvSpPr>
        <p:spPr>
          <a:xfrm>
            <a:off x="4419991" y="187446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C5CD73F-FB24-92FE-2649-56794423D094}"/>
              </a:ext>
            </a:extLst>
          </p:cNvPr>
          <p:cNvSpPr>
            <a:spLocks noGrp="1"/>
          </p:cNvSpPr>
          <p:nvPr/>
        </p:nvSpPr>
        <p:spPr>
          <a:xfrm>
            <a:off x="4524766" y="195908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区域现状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2B65784-1AFC-47A3-366B-6A16C17C1BE5}"/>
              </a:ext>
            </a:extLst>
          </p:cNvPr>
          <p:cNvSpPr>
            <a:spLocks noGrp="1"/>
          </p:cNvSpPr>
          <p:nvPr/>
        </p:nvSpPr>
        <p:spPr>
          <a:xfrm>
            <a:off x="7899878" y="189530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D33140F-88F4-FB38-E916-DC73BCC1D447}"/>
              </a:ext>
            </a:extLst>
          </p:cNvPr>
          <p:cNvSpPr>
            <a:spLocks noGrp="1"/>
          </p:cNvSpPr>
          <p:nvPr/>
        </p:nvSpPr>
        <p:spPr>
          <a:xfrm>
            <a:off x="8004653" y="197992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中期问题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AD23FC-59A6-0397-D52E-A6FEA0B09F3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68</Words>
  <Application>Microsoft Office PowerPoint</Application>
  <DocSecurity>0</DocSecurity>
  <PresentationFormat>宽屏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40</cp:revision>
  <dcterms:created xsi:type="dcterms:W3CDTF">2026-06-02T06:15:18Z</dcterms:created>
  <dcterms:modified xsi:type="dcterms:W3CDTF">2026-06-03T04:05:51Z</dcterms:modified>
</cp:coreProperties>
</file>