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B7A394-5719-41DA-A5E4-0E287BF8CA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399197-8E39-4A30-ADA0-6A834689D0A8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6A4246D-0CED-413C-A743-135DA0FE2DA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6.6.2 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r>
              <a:rPr lang="zh-CN" altLang="en-US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700">
                <a:solidFill>
                  <a:srgbClr val="524C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6.10</a:t>
            </a:r>
            <a:endParaRPr sz="700">
              <a:solidFill>
                <a:srgbClr val="524C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08B182-88EE-4E58-9467-1F56278D158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评论知识图谱复核文化识别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15896-5A81-4782-B65A-B149E8645EA1}"/>
              </a:ext>
            </a:extLst>
          </p:cNvPr>
          <p:cNvSpPr>
            <a:spLocks noGrp="1"/>
          </p:cNvSpPr>
          <p:nvPr/>
        </p:nvSpPr>
        <p:spPr>
          <a:xfrm>
            <a:off x="8477250" y="21717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D931F8-98DE-4E84-BB10-ABF076D51571}"/>
              </a:ext>
            </a:extLst>
          </p:cNvPr>
          <p:cNvSpPr>
            <a:spLocks noGrp="1"/>
          </p:cNvSpPr>
          <p:nvPr/>
        </p:nvSpPr>
        <p:spPr>
          <a:xfrm>
            <a:off x="8477250" y="25527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327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02DD86E-249A-4640-B4D6-F17743CF25F3}"/>
              </a:ext>
            </a:extLst>
          </p:cNvPr>
          <p:cNvSpPr>
            <a:spLocks noGrp="1"/>
          </p:cNvSpPr>
          <p:nvPr/>
        </p:nvSpPr>
        <p:spPr>
          <a:xfrm>
            <a:off x="8477250" y="29908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评论实体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62E5DC-F874-4608-A8CA-55BC8E9390C8}"/>
              </a:ext>
            </a:extLst>
          </p:cNvPr>
          <p:cNvSpPr>
            <a:spLocks noGrp="1"/>
          </p:cNvSpPr>
          <p:nvPr/>
        </p:nvSpPr>
        <p:spPr>
          <a:xfrm>
            <a:off x="8477250" y="36576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C21B621-788B-4F18-8236-BDD9566EA49A}"/>
              </a:ext>
            </a:extLst>
          </p:cNvPr>
          <p:cNvSpPr>
            <a:spLocks noGrp="1"/>
          </p:cNvSpPr>
          <p:nvPr/>
        </p:nvSpPr>
        <p:spPr>
          <a:xfrm>
            <a:off x="8477250" y="403860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EA6F80-753F-4D3A-BE63-F4543CC7863A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高识别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A0B9EA-C76A-42EE-A20E-E7495036A8AB}"/>
              </a:ext>
            </a:extLst>
          </p:cNvPr>
          <p:cNvSpPr>
            <a:spLocks noGrp="1"/>
          </p:cNvSpPr>
          <p:nvPr/>
        </p:nvSpPr>
        <p:spPr>
          <a:xfrm>
            <a:off x="8477250" y="514350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C3DF36-C4B5-4EAE-94B4-6CD9C6733CFC}"/>
              </a:ext>
            </a:extLst>
          </p:cNvPr>
          <p:cNvSpPr>
            <a:spLocks noGrp="1"/>
          </p:cNvSpPr>
          <p:nvPr/>
        </p:nvSpPr>
        <p:spPr>
          <a:xfrm>
            <a:off x="8477250" y="5657850"/>
            <a:ext cx="24765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7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评论知识图谱用于检验“热度”是否转化为文化感知，不能用评论量直接替代文化识别。</a:t>
            </a:r>
            <a:endParaRPr sz="110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CAF7F5-D709-4855-53B7-34344B0C1BF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9 Slide16 CoreClaim">
            <a:extLst>
              <a:ext uri="{FF2B5EF4-FFF2-40B4-BE49-F238E27FC236}">
                <a16:creationId xmlns:a16="http://schemas.microsoft.com/office/drawing/2014/main" id="{87159F43-43EB-BA83-CC5F-A7B7B5DEA23F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评论图谱回答游客实际感知到了什么，用来复核旅游热度是否真正转化为文化识别。</a:t>
            </a:r>
          </a:p>
        </p:txBody>
      </p:sp>
      <p:cxnSp>
        <p:nvCxnSpPr>
          <p:cNvPr id="32" name="Round9 Slide16 CoreClaim Rule">
            <a:extLst>
              <a:ext uri="{FF2B5EF4-FFF2-40B4-BE49-F238E27FC236}">
                <a16:creationId xmlns:a16="http://schemas.microsoft.com/office/drawing/2014/main" id="{295EF48F-6002-8751-4722-8124496D462C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9 Slide16 KG Shadow">
            <a:extLst>
              <a:ext uri="{FF2B5EF4-FFF2-40B4-BE49-F238E27FC236}">
                <a16:creationId xmlns:a16="http://schemas.microsoft.com/office/drawing/2014/main" id="{DEA8D773-FEE8-0632-8CBB-63769DC83417}"/>
              </a:ext>
            </a:extLst>
          </p:cNvPr>
          <p:cNvSpPr/>
          <p:nvPr/>
        </p:nvSpPr>
        <p:spPr>
          <a:xfrm>
            <a:off x="781050" y="1924050"/>
            <a:ext cx="7239000" cy="4368800"/>
          </a:xfrm>
          <a:prstGeom prst="roundRect">
            <a:avLst/>
          </a:prstGeom>
          <a:solidFill>
            <a:srgbClr val="ECE2F0">
              <a:alpha val="85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ound9 Slide16 KG Frame">
            <a:extLst>
              <a:ext uri="{FF2B5EF4-FFF2-40B4-BE49-F238E27FC236}">
                <a16:creationId xmlns:a16="http://schemas.microsoft.com/office/drawing/2014/main" id="{6A5273EF-BF22-93DB-557E-F80AE9A6E050}"/>
              </a:ext>
            </a:extLst>
          </p:cNvPr>
          <p:cNvSpPr/>
          <p:nvPr/>
        </p:nvSpPr>
        <p:spPr>
          <a:xfrm>
            <a:off x="704850" y="1847850"/>
            <a:ext cx="7239000" cy="436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ound9 Slide16 KG Caption">
            <a:extLst>
              <a:ext uri="{FF2B5EF4-FFF2-40B4-BE49-F238E27FC236}">
                <a16:creationId xmlns:a16="http://schemas.microsoft.com/office/drawing/2014/main" id="{129FB4DA-C668-BDB4-D550-DD47EF862AE4}"/>
              </a:ext>
            </a:extLst>
          </p:cNvPr>
          <p:cNvSpPr txBox="1"/>
          <p:nvPr/>
        </p:nvSpPr>
        <p:spPr>
          <a:xfrm>
            <a:off x="1041400" y="5943600"/>
            <a:ext cx="6223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6.10  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游客评论文化识别知识图谱：以 </a:t>
            </a:r>
            <a:r>
              <a:rPr lang="en-US" altLang="zh-CN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9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为中心，连接评论实体与体验主题。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2B32C-85CF-4BCE-9FB4-267D091E76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C04A3-08AF-4EC1-9DEE-74D60038856A}"/>
              </a:ext>
            </a:extLst>
          </p:cNvPr>
          <p:cNvSpPr>
            <a:spLocks noGrp="1"/>
          </p:cNvSpPr>
          <p:nvPr/>
        </p:nvSpPr>
        <p:spPr>
          <a:xfrm>
            <a:off x="8477250" y="22479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严格匹配 POI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5D3C7B-8410-4573-8087-6D2E19FE311F}"/>
              </a:ext>
            </a:extLst>
          </p:cNvPr>
          <p:cNvSpPr>
            <a:spLocks noGrp="1"/>
          </p:cNvSpPr>
          <p:nvPr/>
        </p:nvSpPr>
        <p:spPr>
          <a:xfrm>
            <a:off x="8477250" y="32956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454F34-149C-4866-B51D-DAC71871CEA1}"/>
              </a:ext>
            </a:extLst>
          </p:cNvPr>
          <p:cNvSpPr>
            <a:spLocks noGrp="1"/>
          </p:cNvSpPr>
          <p:nvPr/>
        </p:nvSpPr>
        <p:spPr>
          <a:xfrm>
            <a:off x="8477250" y="44005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D6A471-00C4-43C5-AEF9-C936790BDDF1}"/>
              </a:ext>
            </a:extLst>
          </p:cNvPr>
          <p:cNvSpPr>
            <a:spLocks noGrp="1"/>
          </p:cNvSpPr>
          <p:nvPr/>
        </p:nvSpPr>
        <p:spPr>
          <a:xfrm>
            <a:off x="8477250" y="52197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未形成明确文化识别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CA0ADDE-2D23-42D5-82A7-A22D8369E5E7}"/>
              </a:ext>
            </a:extLst>
          </p:cNvPr>
          <p:cNvSpPr>
            <a:spLocks noGrp="1"/>
          </p:cNvSpPr>
          <p:nvPr/>
        </p:nvSpPr>
        <p:spPr>
          <a:xfrm>
            <a:off x="8477250" y="18097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117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1AC26FA-6D80-4913-89FD-E250F1E325BC}"/>
              </a:ext>
            </a:extLst>
          </p:cNvPr>
          <p:cNvSpPr>
            <a:spLocks noGrp="1"/>
          </p:cNvSpPr>
          <p:nvPr/>
        </p:nvSpPr>
        <p:spPr>
          <a:xfrm>
            <a:off x="8477250" y="3733800"/>
            <a:ext cx="22479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DA6FF9-34C3-46C8-A8A4-6708229A14E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71BABD-9DB8-47B0-8780-7D31C300F306}"/>
              </a:ext>
            </a:extLst>
          </p:cNvPr>
          <p:cNvSpPr>
            <a:spLocks noGrp="1"/>
          </p:cNvSpPr>
          <p:nvPr/>
        </p:nvSpPr>
        <p:spPr>
          <a:xfrm>
            <a:off x="8477250" y="4781550"/>
            <a:ext cx="22479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97F324-AD48-4D19-95A6-E3760DEEC921}"/>
              </a:ext>
            </a:extLst>
          </p:cNvPr>
          <p:cNvSpPr>
            <a:spLocks noGrp="1"/>
          </p:cNvSpPr>
          <p:nvPr/>
        </p:nvSpPr>
        <p:spPr>
          <a:xfrm>
            <a:off x="8477250" y="2914650"/>
            <a:ext cx="21907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Round9 Slide16 CommentKG Overview">
            <a:extLst>
              <a:ext uri="{FF2B5EF4-FFF2-40B4-BE49-F238E27FC236}">
                <a16:creationId xmlns:a16="http://schemas.microsoft.com/office/drawing/2014/main" id="{601CB58F-6184-470D-84A7-D33933AD0F9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100" y="1943100"/>
            <a:ext cx="4724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426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103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2026-06-03T04:05:54Z</dcterms:modified>
</cp:coreProperties>
</file>