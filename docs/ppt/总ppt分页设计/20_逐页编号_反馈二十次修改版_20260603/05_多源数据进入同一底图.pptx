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92478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353800" y="6457950"/>
            <a:ext cx="533400" cy="2032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none" lIns="76200" tIns="50800" rIns="76200" bIns="50800" anchor="t"/>
          <a:lstStyle/>
          <a:p>
            <a:pPr algn="ct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000" b="1">
                <a:solidFill>
                  <a:srgbClr val="22222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Microsoft YaHei UI"/>
              </a:rPr>
              <a:t>05</a:t>
            </a:r>
            <a:endParaRPr sz="1000" b="1">
              <a:solidFill>
                <a:srgbClr val="22222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Microsoft YaHei UI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第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3.2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节、图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3.1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孟帅 </a:t>
            </a:r>
            <a:r>
              <a:rPr lang="en-US" altLang="zh-CN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· </a:t>
            </a:r>
            <a:r>
              <a:rPr lang="zh-CN" altLang="en-US" sz="850">
                <a:solidFill>
                  <a:srgbClr val="665A5A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本科毕业设计答辩</a:t>
            </a:r>
            <a:endParaRPr sz="850">
              <a:solidFill>
                <a:srgbClr val="665A5A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826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50800" tIns="25400" rIns="50800" bIns="2540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40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400" b="1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375AD469-BC80-5402-A36F-A156DD6F7E1A}"/>
              </a:ext>
            </a:extLst>
          </p:cNvPr>
          <p:cNvSpPr txBox="1"/>
          <p:nvPr/>
        </p:nvSpPr>
        <p:spPr>
          <a:xfrm>
            <a:off x="571500" y="177800"/>
            <a:ext cx="6858000" cy="276999"/>
          </a:xfrm>
          <a:prstGeom prst="rect">
            <a:avLst/>
          </a:prstGeom>
          <a:noFill/>
        </p:spPr>
        <p:txBody>
          <a:bodyPr vert="horz" lIns="0" tIns="0" rIns="0" bIns="0" rtlCol="0">
            <a:spAutoFit/>
          </a:bodyPr>
          <a:lstStyle/>
          <a:p>
            <a:r>
              <a:rPr lang="en-US" altLang="zh-CN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02 | </a:t>
            </a:r>
            <a:r>
              <a:rPr lang="zh-CN" altLang="en-US" b="1">
                <a:solidFill>
                  <a:srgbClr val="7E00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数据基础与处理方法</a:t>
            </a:r>
          </a:p>
        </p:txBody>
      </p:sp>
      <p:sp>
        <p:nvSpPr>
          <p:cNvPr id="10" name="R15 S5 TopBullets">
            <a:extLst>
              <a:ext uri="{FF2B5EF4-FFF2-40B4-BE49-F238E27FC236}">
                <a16:creationId xmlns:a16="http://schemas.microsoft.com/office/drawing/2014/main" id="{5958F64A-8DFF-E164-BEDC-B11C45ACBA8A}"/>
              </a:ext>
            </a:extLst>
          </p:cNvPr>
          <p:cNvSpPr txBox="1"/>
          <p:nvPr/>
        </p:nvSpPr>
        <p:spPr>
          <a:xfrm>
            <a:off x="990600" y="1193800"/>
            <a:ext cx="10287000" cy="44012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数据处理先统一来源、坐标、名称，再进入载体锚点匹配。</a:t>
            </a:r>
          </a:p>
          <a:p>
            <a:r>
              <a:rPr lang="en-US" altLang="zh-CN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• 500 m </a:t>
            </a:r>
            <a:r>
              <a:rPr lang="zh-CN" altLang="en-US" sz="143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网格把文化侧与旅游侧放到同一空间口径。</a:t>
            </a:r>
          </a:p>
        </p:txBody>
      </p:sp>
      <p:cxnSp>
        <p:nvCxnSpPr>
          <p:cNvPr id="35" name="R15 S5 Rule">
            <a:extLst>
              <a:ext uri="{FF2B5EF4-FFF2-40B4-BE49-F238E27FC236}">
                <a16:creationId xmlns:a16="http://schemas.microsoft.com/office/drawing/2014/main" id="{96D177D1-3EDF-7A86-2FAE-6E31E18252FA}"/>
              </a:ext>
            </a:extLst>
          </p:cNvPr>
          <p:cNvCxnSpPr/>
          <p:nvPr/>
        </p:nvCxnSpPr>
        <p:spPr>
          <a:xfrm>
            <a:off x="990600" y="1739900"/>
            <a:ext cx="10160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15 S5 Canvas">
            <a:extLst>
              <a:ext uri="{FF2B5EF4-FFF2-40B4-BE49-F238E27FC236}">
                <a16:creationId xmlns:a16="http://schemas.microsoft.com/office/drawing/2014/main" id="{722E60BD-31EA-9E0A-DA3C-CE3679ACEF03}"/>
              </a:ext>
            </a:extLst>
          </p:cNvPr>
          <p:cNvSpPr/>
          <p:nvPr/>
        </p:nvSpPr>
        <p:spPr>
          <a:xfrm>
            <a:off x="889000" y="1955800"/>
            <a:ext cx="7696200" cy="4114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R15 S5 FlowTitle">
            <a:extLst>
              <a:ext uri="{FF2B5EF4-FFF2-40B4-BE49-F238E27FC236}">
                <a16:creationId xmlns:a16="http://schemas.microsoft.com/office/drawing/2014/main" id="{8F483D83-EACB-7CC7-D4A9-D286B7E46501}"/>
              </a:ext>
            </a:extLst>
          </p:cNvPr>
          <p:cNvSpPr txBox="1"/>
          <p:nvPr/>
        </p:nvSpPr>
        <p:spPr>
          <a:xfrm>
            <a:off x="1193800" y="2247900"/>
            <a:ext cx="6858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统一流程：来源 → 清洗 → 锚点 → 网格 → 指数</a:t>
            </a:r>
          </a:p>
        </p:txBody>
      </p:sp>
      <p:sp>
        <p:nvSpPr>
          <p:cNvPr id="46" name="R15 S5 Flow Card">
            <a:extLst>
              <a:ext uri="{FF2B5EF4-FFF2-40B4-BE49-F238E27FC236}">
                <a16:creationId xmlns:a16="http://schemas.microsoft.com/office/drawing/2014/main" id="{0D1BB21F-54F6-62F3-A131-8CC9F3E7C5C5}"/>
              </a:ext>
            </a:extLst>
          </p:cNvPr>
          <p:cNvSpPr/>
          <p:nvPr/>
        </p:nvSpPr>
        <p:spPr>
          <a:xfrm>
            <a:off x="11938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R15 S5 Flow Accent">
            <a:extLst>
              <a:ext uri="{FF2B5EF4-FFF2-40B4-BE49-F238E27FC236}">
                <a16:creationId xmlns:a16="http://schemas.microsoft.com/office/drawing/2014/main" id="{9FC561D7-792C-E106-7F3F-E1FE2EF9FFE1}"/>
              </a:ext>
            </a:extLst>
          </p:cNvPr>
          <p:cNvSpPr/>
          <p:nvPr/>
        </p:nvSpPr>
        <p:spPr>
          <a:xfrm>
            <a:off x="11938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5" name="R15 S5 Flow Head">
            <a:extLst>
              <a:ext uri="{FF2B5EF4-FFF2-40B4-BE49-F238E27FC236}">
                <a16:creationId xmlns:a16="http://schemas.microsoft.com/office/drawing/2014/main" id="{1B1B7622-5B69-9F35-601C-BFB97DE118DC}"/>
              </a:ext>
            </a:extLst>
          </p:cNvPr>
          <p:cNvSpPr txBox="1"/>
          <p:nvPr/>
        </p:nvSpPr>
        <p:spPr>
          <a:xfrm>
            <a:off x="13081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文化数据</a:t>
            </a:r>
          </a:p>
        </p:txBody>
      </p:sp>
      <p:sp>
        <p:nvSpPr>
          <p:cNvPr id="56" name="R15 S5 Flow Body">
            <a:extLst>
              <a:ext uri="{FF2B5EF4-FFF2-40B4-BE49-F238E27FC236}">
                <a16:creationId xmlns:a16="http://schemas.microsoft.com/office/drawing/2014/main" id="{DF9B3CAE-081F-6519-6F4C-F2FC2D2246AC}"/>
              </a:ext>
            </a:extLst>
          </p:cNvPr>
          <p:cNvSpPr txBox="1"/>
          <p:nvPr/>
        </p:nvSpPr>
        <p:spPr>
          <a:xfrm>
            <a:off x="13081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典籍语料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官方名录</a:t>
            </a:r>
          </a:p>
        </p:txBody>
      </p:sp>
      <p:sp>
        <p:nvSpPr>
          <p:cNvPr id="57" name="R15 S5 Flow Card">
            <a:extLst>
              <a:ext uri="{FF2B5EF4-FFF2-40B4-BE49-F238E27FC236}">
                <a16:creationId xmlns:a16="http://schemas.microsoft.com/office/drawing/2014/main" id="{39FFEA8F-DBEB-3EF9-599D-1F551B3CE273}"/>
              </a:ext>
            </a:extLst>
          </p:cNvPr>
          <p:cNvSpPr/>
          <p:nvPr/>
        </p:nvSpPr>
        <p:spPr>
          <a:xfrm>
            <a:off x="27305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R15 S5 Flow Accent">
            <a:extLst>
              <a:ext uri="{FF2B5EF4-FFF2-40B4-BE49-F238E27FC236}">
                <a16:creationId xmlns:a16="http://schemas.microsoft.com/office/drawing/2014/main" id="{36CAAE09-D7B6-A393-DD38-37986A9679B1}"/>
              </a:ext>
            </a:extLst>
          </p:cNvPr>
          <p:cNvSpPr/>
          <p:nvPr/>
        </p:nvSpPr>
        <p:spPr>
          <a:xfrm>
            <a:off x="2730500" y="2806700"/>
            <a:ext cx="13208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R15 S5 Flow Head">
            <a:extLst>
              <a:ext uri="{FF2B5EF4-FFF2-40B4-BE49-F238E27FC236}">
                <a16:creationId xmlns:a16="http://schemas.microsoft.com/office/drawing/2014/main" id="{E31520B2-B570-0F0C-9EDE-5366F13E359A}"/>
              </a:ext>
            </a:extLst>
          </p:cNvPr>
          <p:cNvSpPr txBox="1"/>
          <p:nvPr/>
        </p:nvSpPr>
        <p:spPr>
          <a:xfrm>
            <a:off x="28448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旅游数据</a:t>
            </a:r>
          </a:p>
        </p:txBody>
      </p:sp>
      <p:sp>
        <p:nvSpPr>
          <p:cNvPr id="60" name="R15 S5 Flow Body">
            <a:extLst>
              <a:ext uri="{FF2B5EF4-FFF2-40B4-BE49-F238E27FC236}">
                <a16:creationId xmlns:a16="http://schemas.microsoft.com/office/drawing/2014/main" id="{5525B89A-FE27-BE01-19D8-098837A597BD}"/>
              </a:ext>
            </a:extLst>
          </p:cNvPr>
          <p:cNvSpPr txBox="1"/>
          <p:nvPr/>
        </p:nvSpPr>
        <p:spPr>
          <a:xfrm>
            <a:off x="28448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主库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61" name="R15 S5 Flow Card">
            <a:extLst>
              <a:ext uri="{FF2B5EF4-FFF2-40B4-BE49-F238E27FC236}">
                <a16:creationId xmlns:a16="http://schemas.microsoft.com/office/drawing/2014/main" id="{4F48E5F5-4542-590E-8F2F-1E9541FFCE96}"/>
              </a:ext>
            </a:extLst>
          </p:cNvPr>
          <p:cNvSpPr/>
          <p:nvPr/>
        </p:nvSpPr>
        <p:spPr>
          <a:xfrm>
            <a:off x="42672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R15 S5 Flow Accent">
            <a:extLst>
              <a:ext uri="{FF2B5EF4-FFF2-40B4-BE49-F238E27FC236}">
                <a16:creationId xmlns:a16="http://schemas.microsoft.com/office/drawing/2014/main" id="{7B729836-AEC6-A5F5-7723-EEC643E2DE01}"/>
              </a:ext>
            </a:extLst>
          </p:cNvPr>
          <p:cNvSpPr/>
          <p:nvPr/>
        </p:nvSpPr>
        <p:spPr>
          <a:xfrm>
            <a:off x="42672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R15 S5 Flow Head">
            <a:extLst>
              <a:ext uri="{FF2B5EF4-FFF2-40B4-BE49-F238E27FC236}">
                <a16:creationId xmlns:a16="http://schemas.microsoft.com/office/drawing/2014/main" id="{E468DDE9-D4A3-298B-0ED1-CCCF68B1FF32}"/>
              </a:ext>
            </a:extLst>
          </p:cNvPr>
          <p:cNvSpPr txBox="1"/>
          <p:nvPr/>
        </p:nvSpPr>
        <p:spPr>
          <a:xfrm>
            <a:off x="43815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载体锚点</a:t>
            </a:r>
          </a:p>
        </p:txBody>
      </p:sp>
      <p:sp>
        <p:nvSpPr>
          <p:cNvPr id="64" name="R15 S5 Flow Body">
            <a:extLst>
              <a:ext uri="{FF2B5EF4-FFF2-40B4-BE49-F238E27FC236}">
                <a16:creationId xmlns:a16="http://schemas.microsoft.com/office/drawing/2014/main" id="{9319486D-8A4C-FEB6-8973-C24773E8BD72}"/>
              </a:ext>
            </a:extLst>
          </p:cNvPr>
          <p:cNvSpPr txBox="1"/>
          <p:nvPr/>
        </p:nvSpPr>
        <p:spPr>
          <a:xfrm>
            <a:off x="43815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165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  <p:sp>
        <p:nvSpPr>
          <p:cNvPr id="65" name="R15 S5 Flow Card">
            <a:extLst>
              <a:ext uri="{FF2B5EF4-FFF2-40B4-BE49-F238E27FC236}">
                <a16:creationId xmlns:a16="http://schemas.microsoft.com/office/drawing/2014/main" id="{6872A016-BB2D-B216-A847-C973857B473E}"/>
              </a:ext>
            </a:extLst>
          </p:cNvPr>
          <p:cNvSpPr/>
          <p:nvPr/>
        </p:nvSpPr>
        <p:spPr>
          <a:xfrm>
            <a:off x="58039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R15 S5 Flow Accent">
            <a:extLst>
              <a:ext uri="{FF2B5EF4-FFF2-40B4-BE49-F238E27FC236}">
                <a16:creationId xmlns:a16="http://schemas.microsoft.com/office/drawing/2014/main" id="{B8D09290-AD99-8E71-7376-AF5E8AD9B4AF}"/>
              </a:ext>
            </a:extLst>
          </p:cNvPr>
          <p:cNvSpPr/>
          <p:nvPr/>
        </p:nvSpPr>
        <p:spPr>
          <a:xfrm>
            <a:off x="5803900" y="2806700"/>
            <a:ext cx="13208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R15 S5 Flow Head">
            <a:extLst>
              <a:ext uri="{FF2B5EF4-FFF2-40B4-BE49-F238E27FC236}">
                <a16:creationId xmlns:a16="http://schemas.microsoft.com/office/drawing/2014/main" id="{CCF06B1A-DCF1-7875-8781-83E5084ED84A}"/>
              </a:ext>
            </a:extLst>
          </p:cNvPr>
          <p:cNvSpPr txBox="1"/>
          <p:nvPr/>
        </p:nvSpPr>
        <p:spPr>
          <a:xfrm>
            <a:off x="59182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空间匹配</a:t>
            </a:r>
          </a:p>
        </p:txBody>
      </p:sp>
      <p:sp>
        <p:nvSpPr>
          <p:cNvPr id="68" name="R15 S5 Flow Body">
            <a:extLst>
              <a:ext uri="{FF2B5EF4-FFF2-40B4-BE49-F238E27FC236}">
                <a16:creationId xmlns:a16="http://schemas.microsoft.com/office/drawing/2014/main" id="{FBD60DA7-DAA2-BEF8-6DBA-7C85D606F0DC}"/>
              </a:ext>
            </a:extLst>
          </p:cNvPr>
          <p:cNvSpPr txBox="1"/>
          <p:nvPr/>
        </p:nvSpPr>
        <p:spPr>
          <a:xfrm>
            <a:off x="59182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坐标统一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500 m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网格</a:t>
            </a:r>
          </a:p>
        </p:txBody>
      </p:sp>
      <p:sp>
        <p:nvSpPr>
          <p:cNvPr id="69" name="R15 S5 Flow Card">
            <a:extLst>
              <a:ext uri="{FF2B5EF4-FFF2-40B4-BE49-F238E27FC236}">
                <a16:creationId xmlns:a16="http://schemas.microsoft.com/office/drawing/2014/main" id="{3AAB2DE8-EA31-D757-A439-C9F489981F0F}"/>
              </a:ext>
            </a:extLst>
          </p:cNvPr>
          <p:cNvSpPr/>
          <p:nvPr/>
        </p:nvSpPr>
        <p:spPr>
          <a:xfrm>
            <a:off x="7340600" y="2806700"/>
            <a:ext cx="1320800" cy="9398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15 S5 Flow Accent">
            <a:extLst>
              <a:ext uri="{FF2B5EF4-FFF2-40B4-BE49-F238E27FC236}">
                <a16:creationId xmlns:a16="http://schemas.microsoft.com/office/drawing/2014/main" id="{4417514C-1688-DC1A-BF77-2E6CAB1FCF5F}"/>
              </a:ext>
            </a:extLst>
          </p:cNvPr>
          <p:cNvSpPr/>
          <p:nvPr/>
        </p:nvSpPr>
        <p:spPr>
          <a:xfrm>
            <a:off x="7340600" y="2806700"/>
            <a:ext cx="1320800" cy="50800"/>
          </a:xfrm>
          <a:prstGeom prst="rect">
            <a:avLst/>
          </a:prstGeom>
          <a:solidFill>
            <a:srgbClr val="7E007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R15 S5 Flow Head">
            <a:extLst>
              <a:ext uri="{FF2B5EF4-FFF2-40B4-BE49-F238E27FC236}">
                <a16:creationId xmlns:a16="http://schemas.microsoft.com/office/drawing/2014/main" id="{50C4449F-A4DC-9D47-D48E-6EFA0038A115}"/>
              </a:ext>
            </a:extLst>
          </p:cNvPr>
          <p:cNvSpPr txBox="1"/>
          <p:nvPr/>
        </p:nvSpPr>
        <p:spPr>
          <a:xfrm>
            <a:off x="7454900" y="2946400"/>
            <a:ext cx="10922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指数输出</a:t>
            </a:r>
          </a:p>
        </p:txBody>
      </p:sp>
      <p:sp>
        <p:nvSpPr>
          <p:cNvPr id="72" name="R15 S5 Flow Body">
            <a:extLst>
              <a:ext uri="{FF2B5EF4-FFF2-40B4-BE49-F238E27FC236}">
                <a16:creationId xmlns:a16="http://schemas.microsoft.com/office/drawing/2014/main" id="{73A82F73-C635-5E73-DA5F-83DB423CD376}"/>
              </a:ext>
            </a:extLst>
          </p:cNvPr>
          <p:cNvSpPr txBox="1"/>
          <p:nvPr/>
        </p:nvSpPr>
        <p:spPr>
          <a:xfrm>
            <a:off x="7454900" y="3225800"/>
            <a:ext cx="10922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</a:t>
            </a:r>
          </a:p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THI / MI</a:t>
            </a:r>
            <a:endParaRPr lang="zh-CN" altLang="en-US" sz="96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73" name="R15 Arrow">
            <a:extLst>
              <a:ext uri="{FF2B5EF4-FFF2-40B4-BE49-F238E27FC236}">
                <a16:creationId xmlns:a16="http://schemas.microsoft.com/office/drawing/2014/main" id="{B20B139A-88A1-4DFC-76A0-8E0E42A95338}"/>
              </a:ext>
            </a:extLst>
          </p:cNvPr>
          <p:cNvCxnSpPr/>
          <p:nvPr/>
        </p:nvCxnSpPr>
        <p:spPr>
          <a:xfrm>
            <a:off x="25400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R15 Arrow">
            <a:extLst>
              <a:ext uri="{FF2B5EF4-FFF2-40B4-BE49-F238E27FC236}">
                <a16:creationId xmlns:a16="http://schemas.microsoft.com/office/drawing/2014/main" id="{CDF74CA2-9DDB-9C4F-621E-C12DD5ECC9F9}"/>
              </a:ext>
            </a:extLst>
          </p:cNvPr>
          <p:cNvCxnSpPr/>
          <p:nvPr/>
        </p:nvCxnSpPr>
        <p:spPr>
          <a:xfrm>
            <a:off x="40767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R15 Arrow">
            <a:extLst>
              <a:ext uri="{FF2B5EF4-FFF2-40B4-BE49-F238E27FC236}">
                <a16:creationId xmlns:a16="http://schemas.microsoft.com/office/drawing/2014/main" id="{D86385CB-7D86-1BDA-31C7-ADBBF6D85E36}"/>
              </a:ext>
            </a:extLst>
          </p:cNvPr>
          <p:cNvCxnSpPr/>
          <p:nvPr/>
        </p:nvCxnSpPr>
        <p:spPr>
          <a:xfrm>
            <a:off x="56134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R15 Arrow">
            <a:extLst>
              <a:ext uri="{FF2B5EF4-FFF2-40B4-BE49-F238E27FC236}">
                <a16:creationId xmlns:a16="http://schemas.microsoft.com/office/drawing/2014/main" id="{98213BF5-B09E-9C44-D66E-E871230CB6D1}"/>
              </a:ext>
            </a:extLst>
          </p:cNvPr>
          <p:cNvCxnSpPr/>
          <p:nvPr/>
        </p:nvCxnSpPr>
        <p:spPr>
          <a:xfrm>
            <a:off x="7150100" y="3276600"/>
            <a:ext cx="127000" cy="0"/>
          </a:xfrm>
          <a:prstGeom prst="line">
            <a:avLst/>
          </a:prstGeom>
          <a:ln w="19050">
            <a:solidFill>
              <a:srgbClr val="7E007E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R15 S5 Flow Card">
            <a:extLst>
              <a:ext uri="{FF2B5EF4-FFF2-40B4-BE49-F238E27FC236}">
                <a16:creationId xmlns:a16="http://schemas.microsoft.com/office/drawing/2014/main" id="{78C3A0EA-FAAF-7149-56EB-966426A28CBE}"/>
              </a:ext>
            </a:extLst>
          </p:cNvPr>
          <p:cNvSpPr/>
          <p:nvPr/>
        </p:nvSpPr>
        <p:spPr>
          <a:xfrm>
            <a:off x="13208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R15 S5 Flow Accent">
            <a:extLst>
              <a:ext uri="{FF2B5EF4-FFF2-40B4-BE49-F238E27FC236}">
                <a16:creationId xmlns:a16="http://schemas.microsoft.com/office/drawing/2014/main" id="{E71DF795-595F-B643-003F-55156E479E7C}"/>
              </a:ext>
            </a:extLst>
          </p:cNvPr>
          <p:cNvSpPr/>
          <p:nvPr/>
        </p:nvSpPr>
        <p:spPr>
          <a:xfrm>
            <a:off x="1320800" y="4343400"/>
            <a:ext cx="1981200" cy="50800"/>
          </a:xfrm>
          <a:prstGeom prst="rect">
            <a:avLst/>
          </a:prstGeom>
          <a:solidFill>
            <a:srgbClr val="58525E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R15 S5 Flow Head">
            <a:extLst>
              <a:ext uri="{FF2B5EF4-FFF2-40B4-BE49-F238E27FC236}">
                <a16:creationId xmlns:a16="http://schemas.microsoft.com/office/drawing/2014/main" id="{48A924E3-0DA2-E5F0-C12B-2121BAEA959A}"/>
              </a:ext>
            </a:extLst>
          </p:cNvPr>
          <p:cNvSpPr txBox="1"/>
          <p:nvPr/>
        </p:nvSpPr>
        <p:spPr>
          <a:xfrm>
            <a:off x="14351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58525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数据清洗</a:t>
            </a:r>
          </a:p>
        </p:txBody>
      </p:sp>
      <p:sp>
        <p:nvSpPr>
          <p:cNvPr id="80" name="R15 S5 Flow Body">
            <a:extLst>
              <a:ext uri="{FF2B5EF4-FFF2-40B4-BE49-F238E27FC236}">
                <a16:creationId xmlns:a16="http://schemas.microsoft.com/office/drawing/2014/main" id="{A0F8CF9F-0A2C-237D-B3EB-3C03EF9192CF}"/>
              </a:ext>
            </a:extLst>
          </p:cNvPr>
          <p:cNvSpPr txBox="1"/>
          <p:nvPr/>
        </p:nvSpPr>
        <p:spPr>
          <a:xfrm>
            <a:off x="14351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OCR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校对、去重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名称与坐标统一</a:t>
            </a:r>
          </a:p>
        </p:txBody>
      </p:sp>
      <p:sp>
        <p:nvSpPr>
          <p:cNvPr id="81" name="R15 S5 Flow Card">
            <a:extLst>
              <a:ext uri="{FF2B5EF4-FFF2-40B4-BE49-F238E27FC236}">
                <a16:creationId xmlns:a16="http://schemas.microsoft.com/office/drawing/2014/main" id="{AC447215-B6E7-53C5-0BFE-873C367D3B2E}"/>
              </a:ext>
            </a:extLst>
          </p:cNvPr>
          <p:cNvSpPr/>
          <p:nvPr/>
        </p:nvSpPr>
        <p:spPr>
          <a:xfrm>
            <a:off x="4000500" y="4343400"/>
            <a:ext cx="1981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R15 S5 Flow Accent">
            <a:extLst>
              <a:ext uri="{FF2B5EF4-FFF2-40B4-BE49-F238E27FC236}">
                <a16:creationId xmlns:a16="http://schemas.microsoft.com/office/drawing/2014/main" id="{1D2C1691-5BDC-AEAF-0255-6F381DC3566C}"/>
              </a:ext>
            </a:extLst>
          </p:cNvPr>
          <p:cNvSpPr/>
          <p:nvPr/>
        </p:nvSpPr>
        <p:spPr>
          <a:xfrm>
            <a:off x="4000500" y="4343400"/>
            <a:ext cx="1981200" cy="50800"/>
          </a:xfrm>
          <a:prstGeom prst="rect">
            <a:avLst/>
          </a:prstGeom>
          <a:solidFill>
            <a:srgbClr val="4A8478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R15 S5 Flow Head">
            <a:extLst>
              <a:ext uri="{FF2B5EF4-FFF2-40B4-BE49-F238E27FC236}">
                <a16:creationId xmlns:a16="http://schemas.microsoft.com/office/drawing/2014/main" id="{8ED8625E-49ED-5A4B-5C6F-89380B474112}"/>
              </a:ext>
            </a:extLst>
          </p:cNvPr>
          <p:cNvSpPr txBox="1"/>
          <p:nvPr/>
        </p:nvSpPr>
        <p:spPr>
          <a:xfrm>
            <a:off x="4114800" y="4483100"/>
            <a:ext cx="1752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A847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</p:txBody>
      </p:sp>
      <p:sp>
        <p:nvSpPr>
          <p:cNvPr id="84" name="R15 S5 Flow Body">
            <a:extLst>
              <a:ext uri="{FF2B5EF4-FFF2-40B4-BE49-F238E27FC236}">
                <a16:creationId xmlns:a16="http://schemas.microsoft.com/office/drawing/2014/main" id="{5E0866DD-0441-408E-2A51-DE3FEA067E9D}"/>
              </a:ext>
            </a:extLst>
          </p:cNvPr>
          <p:cNvSpPr txBox="1"/>
          <p:nvPr/>
        </p:nvSpPr>
        <p:spPr>
          <a:xfrm>
            <a:off x="4114800" y="4762500"/>
            <a:ext cx="1752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</a:t>
            </a:r>
            <a:r>
              <a:rPr lang="en-US" altLang="zh-CN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—POI </a:t>
            </a:r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匹配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sp>
        <p:nvSpPr>
          <p:cNvPr id="85" name="R15 S5 Flow Card">
            <a:extLst>
              <a:ext uri="{FF2B5EF4-FFF2-40B4-BE49-F238E27FC236}">
                <a16:creationId xmlns:a16="http://schemas.microsoft.com/office/drawing/2014/main" id="{AC13214E-3937-6B7B-D286-C4ED9AE12828}"/>
              </a:ext>
            </a:extLst>
          </p:cNvPr>
          <p:cNvSpPr/>
          <p:nvPr/>
        </p:nvSpPr>
        <p:spPr>
          <a:xfrm>
            <a:off x="6680200" y="4343400"/>
            <a:ext cx="1600200" cy="736600"/>
          </a:xfrm>
          <a:prstGeom prst="roundRect">
            <a:avLst/>
          </a:prstGeom>
          <a:solidFill>
            <a:srgbClr val="FFFFFF"/>
          </a:solidFill>
          <a:ln w="10795">
            <a:solidFill>
              <a:srgbClr val="CDB0D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6" name="R15 S5 Flow Accent">
            <a:extLst>
              <a:ext uri="{FF2B5EF4-FFF2-40B4-BE49-F238E27FC236}">
                <a16:creationId xmlns:a16="http://schemas.microsoft.com/office/drawing/2014/main" id="{4B7D4A1F-00A4-87FE-E36D-2426A8B77430}"/>
              </a:ext>
            </a:extLst>
          </p:cNvPr>
          <p:cNvSpPr/>
          <p:nvPr/>
        </p:nvSpPr>
        <p:spPr>
          <a:xfrm>
            <a:off x="6680200" y="4343400"/>
            <a:ext cx="1600200" cy="50800"/>
          </a:xfrm>
          <a:prstGeom prst="rect">
            <a:avLst/>
          </a:prstGeom>
          <a:solidFill>
            <a:srgbClr val="4C80A0"/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R15 S5 Flow Head">
            <a:extLst>
              <a:ext uri="{FF2B5EF4-FFF2-40B4-BE49-F238E27FC236}">
                <a16:creationId xmlns:a16="http://schemas.microsoft.com/office/drawing/2014/main" id="{38B01822-B669-59E9-1C79-950BB8F8753A}"/>
              </a:ext>
            </a:extLst>
          </p:cNvPr>
          <p:cNvSpPr txBox="1"/>
          <p:nvPr/>
        </p:nvSpPr>
        <p:spPr>
          <a:xfrm>
            <a:off x="6794500" y="4483100"/>
            <a:ext cx="1371600" cy="17697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50" b="1">
                <a:solidFill>
                  <a:srgbClr val="4C80A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成果输出</a:t>
            </a:r>
          </a:p>
        </p:txBody>
      </p:sp>
      <p:sp>
        <p:nvSpPr>
          <p:cNvPr id="88" name="R15 S5 Flow Body">
            <a:extLst>
              <a:ext uri="{FF2B5EF4-FFF2-40B4-BE49-F238E27FC236}">
                <a16:creationId xmlns:a16="http://schemas.microsoft.com/office/drawing/2014/main" id="{1837E3A3-E01E-A671-6434-F2C6199150A5}"/>
              </a:ext>
            </a:extLst>
          </p:cNvPr>
          <p:cNvSpPr txBox="1"/>
          <p:nvPr/>
        </p:nvSpPr>
        <p:spPr>
          <a:xfrm>
            <a:off x="6794500" y="4762500"/>
            <a:ext cx="1371600" cy="2954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错位分类</a:t>
            </a:r>
          </a:p>
          <a:p>
            <a:r>
              <a:rPr lang="zh-CN" altLang="en-US" sz="96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专题图与建议</a:t>
            </a:r>
          </a:p>
        </p:txBody>
      </p:sp>
      <p:cxnSp>
        <p:nvCxnSpPr>
          <p:cNvPr id="89" name="R15 Arrow">
            <a:extLst>
              <a:ext uri="{FF2B5EF4-FFF2-40B4-BE49-F238E27FC236}">
                <a16:creationId xmlns:a16="http://schemas.microsoft.com/office/drawing/2014/main" id="{35A6A3AD-F1CF-2CC9-E63D-D6B7AB7BDC90}"/>
              </a:ext>
            </a:extLst>
          </p:cNvPr>
          <p:cNvCxnSpPr/>
          <p:nvPr/>
        </p:nvCxnSpPr>
        <p:spPr>
          <a:xfrm>
            <a:off x="5283200" y="3746500"/>
            <a:ext cx="0" cy="596900"/>
          </a:xfrm>
          <a:prstGeom prst="line">
            <a:avLst/>
          </a:prstGeom>
          <a:ln w="2032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R15 Arrow">
            <a:extLst>
              <a:ext uri="{FF2B5EF4-FFF2-40B4-BE49-F238E27FC236}">
                <a16:creationId xmlns:a16="http://schemas.microsoft.com/office/drawing/2014/main" id="{76958A37-07A7-3FAF-3A35-7FAAE110D321}"/>
              </a:ext>
            </a:extLst>
          </p:cNvPr>
          <p:cNvCxnSpPr/>
          <p:nvPr/>
        </p:nvCxnSpPr>
        <p:spPr>
          <a:xfrm>
            <a:off x="33020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R15 Arrow">
            <a:extLst>
              <a:ext uri="{FF2B5EF4-FFF2-40B4-BE49-F238E27FC236}">
                <a16:creationId xmlns:a16="http://schemas.microsoft.com/office/drawing/2014/main" id="{5739C2A6-7907-0184-B6D4-620C0DBB3A53}"/>
              </a:ext>
            </a:extLst>
          </p:cNvPr>
          <p:cNvCxnSpPr/>
          <p:nvPr/>
        </p:nvCxnSpPr>
        <p:spPr>
          <a:xfrm>
            <a:off x="5981700" y="4711700"/>
            <a:ext cx="698500" cy="0"/>
          </a:xfrm>
          <a:prstGeom prst="line">
            <a:avLst/>
          </a:prstGeom>
          <a:ln w="17780">
            <a:solidFill>
              <a:srgbClr val="4A8478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15 S5 Caption">
            <a:extLst>
              <a:ext uri="{FF2B5EF4-FFF2-40B4-BE49-F238E27FC236}">
                <a16:creationId xmlns:a16="http://schemas.microsoft.com/office/drawing/2014/main" id="{2B275703-3A27-C47D-3B1B-6861E3F9D457}"/>
              </a:ext>
            </a:extLst>
          </p:cNvPr>
          <p:cNvSpPr txBox="1"/>
          <p:nvPr/>
        </p:nvSpPr>
        <p:spPr>
          <a:xfrm>
            <a:off x="1193800" y="5461000"/>
            <a:ext cx="6858000" cy="15850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03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数据处理链条：来源清洗、锚点匹配、网格归一与指数输出保持同一空间口径。</a:t>
            </a:r>
          </a:p>
        </p:txBody>
      </p:sp>
      <p:sp>
        <p:nvSpPr>
          <p:cNvPr id="93" name="R15 S5 MetricsTitle">
            <a:extLst>
              <a:ext uri="{FF2B5EF4-FFF2-40B4-BE49-F238E27FC236}">
                <a16:creationId xmlns:a16="http://schemas.microsoft.com/office/drawing/2014/main" id="{66DDC045-A7D6-7D4D-2A35-974963C0FF29}"/>
              </a:ext>
            </a:extLst>
          </p:cNvPr>
          <p:cNvSpPr txBox="1"/>
          <p:nvPr/>
        </p:nvSpPr>
        <p:spPr>
          <a:xfrm>
            <a:off x="9017000" y="1955800"/>
            <a:ext cx="1905000" cy="23852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550" b="1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数据规模</a:t>
            </a:r>
          </a:p>
        </p:txBody>
      </p:sp>
      <p:sp>
        <p:nvSpPr>
          <p:cNvPr id="94" name="R15 S5 Metric Num">
            <a:extLst>
              <a:ext uri="{FF2B5EF4-FFF2-40B4-BE49-F238E27FC236}">
                <a16:creationId xmlns:a16="http://schemas.microsoft.com/office/drawing/2014/main" id="{7344A118-61EB-64D0-DF82-11595724F843}"/>
              </a:ext>
            </a:extLst>
          </p:cNvPr>
          <p:cNvSpPr txBox="1"/>
          <p:nvPr/>
        </p:nvSpPr>
        <p:spPr>
          <a:xfrm>
            <a:off x="9017000" y="23622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5" name="R15 S5 Metric Rule">
            <a:extLst>
              <a:ext uri="{FF2B5EF4-FFF2-40B4-BE49-F238E27FC236}">
                <a16:creationId xmlns:a16="http://schemas.microsoft.com/office/drawing/2014/main" id="{691234D3-D5BE-E33D-5A3C-BE0AAB98CAF4}"/>
              </a:ext>
            </a:extLst>
          </p:cNvPr>
          <p:cNvCxnSpPr/>
          <p:nvPr/>
        </p:nvCxnSpPr>
        <p:spPr>
          <a:xfrm>
            <a:off x="9017000" y="27432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15 S5 Metric Label">
            <a:extLst>
              <a:ext uri="{FF2B5EF4-FFF2-40B4-BE49-F238E27FC236}">
                <a16:creationId xmlns:a16="http://schemas.microsoft.com/office/drawing/2014/main" id="{5D41D327-BE6E-2096-C428-0F12D0976B9C}"/>
              </a:ext>
            </a:extLst>
          </p:cNvPr>
          <p:cNvSpPr txBox="1"/>
          <p:nvPr/>
        </p:nvSpPr>
        <p:spPr>
          <a:xfrm>
            <a:off x="9017000" y="28448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标准化典籍语料</a:t>
            </a:r>
          </a:p>
        </p:txBody>
      </p:sp>
      <p:sp>
        <p:nvSpPr>
          <p:cNvPr id="97" name="R15 S5 Metric Num">
            <a:extLst>
              <a:ext uri="{FF2B5EF4-FFF2-40B4-BE49-F238E27FC236}">
                <a16:creationId xmlns:a16="http://schemas.microsoft.com/office/drawing/2014/main" id="{91B52758-2DC0-E28A-003E-C25F500EF154}"/>
              </a:ext>
            </a:extLst>
          </p:cNvPr>
          <p:cNvSpPr txBox="1"/>
          <p:nvPr/>
        </p:nvSpPr>
        <p:spPr>
          <a:xfrm>
            <a:off x="9017000" y="32258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98" name="R15 S5 Metric Rule">
            <a:extLst>
              <a:ext uri="{FF2B5EF4-FFF2-40B4-BE49-F238E27FC236}">
                <a16:creationId xmlns:a16="http://schemas.microsoft.com/office/drawing/2014/main" id="{FB7B3989-A01D-D15D-FE4B-C9C77F998BB5}"/>
              </a:ext>
            </a:extLst>
          </p:cNvPr>
          <p:cNvCxnSpPr/>
          <p:nvPr/>
        </p:nvCxnSpPr>
        <p:spPr>
          <a:xfrm>
            <a:off x="9017000" y="36068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R15 S5 Metric Label">
            <a:extLst>
              <a:ext uri="{FF2B5EF4-FFF2-40B4-BE49-F238E27FC236}">
                <a16:creationId xmlns:a16="http://schemas.microsoft.com/office/drawing/2014/main" id="{B5D38B1B-893F-D0F1-B8E0-AC67B11B655D}"/>
              </a:ext>
            </a:extLst>
          </p:cNvPr>
          <p:cNvSpPr txBox="1"/>
          <p:nvPr/>
        </p:nvSpPr>
        <p:spPr>
          <a:xfrm>
            <a:off x="9017000" y="37084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旅游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</a:t>
            </a:r>
            <a:endParaRPr lang="zh-CN" altLang="en-US" sz="1140">
              <a:solidFill>
                <a:srgbClr val="241F28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00" name="R15 S5 Metric Num">
            <a:extLst>
              <a:ext uri="{FF2B5EF4-FFF2-40B4-BE49-F238E27FC236}">
                <a16:creationId xmlns:a16="http://schemas.microsoft.com/office/drawing/2014/main" id="{3E434595-23FE-E870-914D-23D86FA16FB1}"/>
              </a:ext>
            </a:extLst>
          </p:cNvPr>
          <p:cNvSpPr txBox="1"/>
          <p:nvPr/>
        </p:nvSpPr>
        <p:spPr>
          <a:xfrm>
            <a:off x="9017000" y="40894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16,391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1" name="R15 S5 Metric Rule">
            <a:extLst>
              <a:ext uri="{FF2B5EF4-FFF2-40B4-BE49-F238E27FC236}">
                <a16:creationId xmlns:a16="http://schemas.microsoft.com/office/drawing/2014/main" id="{E1E9E7B1-E36A-0064-27B6-55235675502C}"/>
              </a:ext>
            </a:extLst>
          </p:cNvPr>
          <p:cNvCxnSpPr/>
          <p:nvPr/>
        </p:nvCxnSpPr>
        <p:spPr>
          <a:xfrm>
            <a:off x="9017000" y="44704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R15 S5 Metric Label">
            <a:extLst>
              <a:ext uri="{FF2B5EF4-FFF2-40B4-BE49-F238E27FC236}">
                <a16:creationId xmlns:a16="http://schemas.microsoft.com/office/drawing/2014/main" id="{0B3AE6D6-1F4C-F2AA-741E-601E26220F9F}"/>
              </a:ext>
            </a:extLst>
          </p:cNvPr>
          <p:cNvSpPr txBox="1"/>
          <p:nvPr/>
        </p:nvSpPr>
        <p:spPr>
          <a:xfrm>
            <a:off x="9017000" y="45720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平台评论</a:t>
            </a:r>
          </a:p>
        </p:txBody>
      </p:sp>
      <p:sp>
        <p:nvSpPr>
          <p:cNvPr id="103" name="R15 S5 Metric Num">
            <a:extLst>
              <a:ext uri="{FF2B5EF4-FFF2-40B4-BE49-F238E27FC236}">
                <a16:creationId xmlns:a16="http://schemas.microsoft.com/office/drawing/2014/main" id="{0471C50C-473C-010F-F4D9-DA75F88A5C4F}"/>
              </a:ext>
            </a:extLst>
          </p:cNvPr>
          <p:cNvSpPr txBox="1"/>
          <p:nvPr/>
        </p:nvSpPr>
        <p:spPr>
          <a:xfrm>
            <a:off x="9017000" y="4953000"/>
            <a:ext cx="2032000" cy="3231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US" altLang="zh-CN" sz="2100" b="1">
                <a:solidFill>
                  <a:srgbClr val="7E007E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90 / 165</a:t>
            </a:r>
            <a:endParaRPr lang="zh-CN" altLang="en-US" sz="2100" b="1">
              <a:solidFill>
                <a:srgbClr val="7E007E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cxnSp>
        <p:nvCxnSpPr>
          <p:cNvPr id="104" name="R15 S5 Metric Rule">
            <a:extLst>
              <a:ext uri="{FF2B5EF4-FFF2-40B4-BE49-F238E27FC236}">
                <a16:creationId xmlns:a16="http://schemas.microsoft.com/office/drawing/2014/main" id="{28777764-96C8-FFCB-1E47-062AD586B201}"/>
              </a:ext>
            </a:extLst>
          </p:cNvPr>
          <p:cNvCxnSpPr/>
          <p:nvPr/>
        </p:nvCxnSpPr>
        <p:spPr>
          <a:xfrm>
            <a:off x="9017000" y="5334000"/>
            <a:ext cx="2032000" cy="0"/>
          </a:xfrm>
          <a:prstGeom prst="line">
            <a:avLst/>
          </a:prstGeom>
          <a:ln w="10160">
            <a:solidFill>
              <a:srgbClr val="CDB0D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15 S5 Metric Label">
            <a:extLst>
              <a:ext uri="{FF2B5EF4-FFF2-40B4-BE49-F238E27FC236}">
                <a16:creationId xmlns:a16="http://schemas.microsoft.com/office/drawing/2014/main" id="{7F66B908-0410-CB51-D07E-7D6C53A7A29C}"/>
              </a:ext>
            </a:extLst>
          </p:cNvPr>
          <p:cNvSpPr txBox="1"/>
          <p:nvPr/>
        </p:nvSpPr>
        <p:spPr>
          <a:xfrm>
            <a:off x="9017000" y="5435600"/>
            <a:ext cx="2032000" cy="17543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非遗项目 </a:t>
            </a:r>
            <a:r>
              <a:rPr lang="en-US" altLang="zh-CN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/ </a:t>
            </a:r>
            <a:r>
              <a:rPr lang="zh-CN" altLang="en-US" sz="1140">
                <a:solidFill>
                  <a:srgbClr val="241F28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核心载体</a:t>
            </a:r>
          </a:p>
        </p:txBody>
      </p:sp>
    </p:spTree>
    <p:extLst>
      <p:ext uri="{BB962C8B-B14F-4D97-AF65-F5344CB8AC3E}">
        <p14:creationId xmlns:p14="http://schemas.microsoft.com/office/powerpoint/2010/main" val="302129535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182</Words>
  <Application>Microsoft Office PowerPoint</Application>
  <DocSecurity>0</DocSecurity>
  <PresentationFormat>宽屏</PresentationFormat>
  <Paragraphs>42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微软雅黑</vt:lpstr>
      <vt:lpstr>微软雅黑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69</cp:revision>
  <dcterms:created xsi:type="dcterms:W3CDTF">2026-06-02T06:15:18Z</dcterms:created>
  <dcterms:modified xsi:type="dcterms:W3CDTF">2026-06-03T11:30:50Z</dcterms:modified>
</cp:coreProperties>
</file>