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4.1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4.2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知识图谱成果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293016-541A-A174-D3AB-B22605168165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知识图谱是本研究的文化记忆计算层：它把文本中的人物、地点、技艺、文献和事件关系转成可追溯网络。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1185D01-A9CE-071F-0457-6C0EFC34F8FB}"/>
              </a:ext>
            </a:extLst>
          </p:cNvPr>
          <p:cNvSpPr/>
          <p:nvPr/>
        </p:nvSpPr>
        <p:spPr>
          <a:xfrm>
            <a:off x="889000" y="1752600"/>
            <a:ext cx="5270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B9BA9E-575E-CB7E-09CA-8CEA765478DE}"/>
              </a:ext>
            </a:extLst>
          </p:cNvPr>
          <p:cNvSpPr txBox="1"/>
          <p:nvPr/>
        </p:nvSpPr>
        <p:spPr>
          <a:xfrm>
            <a:off x="1092200" y="5549900"/>
            <a:ext cx="48641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</a:t>
            </a:r>
            <a:r>
              <a:rPr lang="zh-CN" altLang="en-US" sz="120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知识图谱全局网络总图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FACD101-34D8-818F-9143-823CB22D1A3A}"/>
              </a:ext>
            </a:extLst>
          </p:cNvPr>
          <p:cNvSpPr/>
          <p:nvPr/>
        </p:nvSpPr>
        <p:spPr>
          <a:xfrm>
            <a:off x="6604000" y="1752600"/>
            <a:ext cx="4699000" cy="11684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17961-DFD6-B506-8536-1EBDD063328D}"/>
              </a:ext>
            </a:extLst>
          </p:cNvPr>
          <p:cNvSpPr txBox="1"/>
          <p:nvPr/>
        </p:nvSpPr>
        <p:spPr>
          <a:xfrm>
            <a:off x="68834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DD7E6F6-59BB-FC21-74B1-06C567079D1D}"/>
              </a:ext>
            </a:extLst>
          </p:cNvPr>
          <p:cNvCxnSpPr/>
          <p:nvPr/>
        </p:nvCxnSpPr>
        <p:spPr>
          <a:xfrm>
            <a:off x="6883400" y="24257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040538F-4E96-9323-518E-3A18935CAA65}"/>
              </a:ext>
            </a:extLst>
          </p:cNvPr>
          <p:cNvSpPr txBox="1"/>
          <p:nvPr/>
        </p:nvSpPr>
        <p:spPr>
          <a:xfrm>
            <a:off x="68834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7B4B17-75EA-D319-6CAB-6C0186CC4DD2}"/>
              </a:ext>
            </a:extLst>
          </p:cNvPr>
          <p:cNvSpPr txBox="1"/>
          <p:nvPr/>
        </p:nvSpPr>
        <p:spPr>
          <a:xfrm>
            <a:off x="83185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19,382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698C73-9FAA-F6E3-DCED-BBCE7511B46F}"/>
              </a:ext>
            </a:extLst>
          </p:cNvPr>
          <p:cNvCxnSpPr/>
          <p:nvPr/>
        </p:nvCxnSpPr>
        <p:spPr>
          <a:xfrm>
            <a:off x="8318500" y="24257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EE10ED-048E-2126-3AFD-790E889B98D2}"/>
              </a:ext>
            </a:extLst>
          </p:cNvPr>
          <p:cNvSpPr txBox="1"/>
          <p:nvPr/>
        </p:nvSpPr>
        <p:spPr>
          <a:xfrm>
            <a:off x="83185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4B5113-EC67-DFE9-F3E1-99DFA467D6BE}"/>
              </a:ext>
            </a:extLst>
          </p:cNvPr>
          <p:cNvSpPr txBox="1"/>
          <p:nvPr/>
        </p:nvSpPr>
        <p:spPr>
          <a:xfrm>
            <a:off x="100330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575</a:t>
            </a:r>
            <a:endParaRPr lang="zh-CN" altLang="en-US" sz="2300" b="1">
              <a:solidFill>
                <a:srgbClr val="BE89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8FB928-FDAC-F46B-30DD-A2CC5960D9C7}"/>
              </a:ext>
            </a:extLst>
          </p:cNvPr>
          <p:cNvCxnSpPr/>
          <p:nvPr/>
        </p:nvCxnSpPr>
        <p:spPr>
          <a:xfrm>
            <a:off x="10033000" y="24257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695BB75-8D4A-4E05-931C-63B69BF0FE5E}"/>
              </a:ext>
            </a:extLst>
          </p:cNvPr>
          <p:cNvSpPr txBox="1"/>
          <p:nvPr/>
        </p:nvSpPr>
        <p:spPr>
          <a:xfrm>
            <a:off x="100330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空间落位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632A19-F8BD-7EFD-1B85-9D74848923FF}"/>
              </a:ext>
            </a:extLst>
          </p:cNvPr>
          <p:cNvSpPr/>
          <p:nvPr/>
        </p:nvSpPr>
        <p:spPr>
          <a:xfrm>
            <a:off x="6604000" y="3632200"/>
            <a:ext cx="4699000" cy="2311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WhiteBG Knowledge Graph Global">
            <a:extLst>
              <a:ext uri="{FF2B5EF4-FFF2-40B4-BE49-F238E27FC236}">
                <a16:creationId xmlns:a16="http://schemas.microsoft.com/office/drawing/2014/main" id="{A2D7C589-0666-B12C-9E84-5CF6C33CA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495" y="1928317"/>
            <a:ext cx="4467505" cy="362158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70105F8-D4C5-8B9B-3575-C7B9A52E337B}"/>
              </a:ext>
            </a:extLst>
          </p:cNvPr>
          <p:cNvSpPr txBox="1"/>
          <p:nvPr/>
        </p:nvSpPr>
        <p:spPr>
          <a:xfrm>
            <a:off x="6604000" y="3200400"/>
            <a:ext cx="457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实体分类：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 </a:t>
            </a:r>
            <a:r>
              <a:rPr lang="en-US" altLang="zh-CN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28</a:t>
            </a:r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6918AC-4EB1-5B07-E9FF-B33ACB3ECEBA}"/>
              </a:ext>
            </a:extLst>
          </p:cNvPr>
          <p:cNvSpPr txBox="1"/>
          <p:nvPr/>
        </p:nvSpPr>
        <p:spPr>
          <a:xfrm>
            <a:off x="6604000" y="3556000"/>
            <a:ext cx="45720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分级标签 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官方分类标签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C362C2-F765-7B1A-9D24-66CD00075C5A}"/>
              </a:ext>
            </a:extLst>
          </p:cNvPr>
          <p:cNvSpPr txBox="1"/>
          <p:nvPr/>
        </p:nvSpPr>
        <p:spPr>
          <a:xfrm>
            <a:off x="6756400" y="39116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非遗文化（</a:t>
            </a:r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C7DCAFB-1483-8B38-32AC-E6FFBE19EE8F}"/>
              </a:ext>
            </a:extLst>
          </p:cNvPr>
          <p:cNvSpPr txBox="1"/>
          <p:nvPr/>
        </p:nvSpPr>
        <p:spPr>
          <a:xfrm>
            <a:off x="8255000" y="39116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表演艺术、传统技艺、民俗节庆等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B3B8F89-9EC5-F9B2-1829-7A84C5CD6D4D}"/>
              </a:ext>
            </a:extLst>
          </p:cNvPr>
          <p:cNvCxnSpPr/>
          <p:nvPr/>
        </p:nvCxnSpPr>
        <p:spPr>
          <a:xfrm>
            <a:off x="6756400" y="42037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50126C7C-0309-8DC0-5474-052267AA348A}"/>
              </a:ext>
            </a:extLst>
          </p:cNvPr>
          <p:cNvSpPr txBox="1"/>
          <p:nvPr/>
        </p:nvSpPr>
        <p:spPr>
          <a:xfrm>
            <a:off x="6756400" y="42291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物质遗产（</a:t>
            </a:r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4698BF2-6421-2470-E9B3-032CBA9D8AB8}"/>
              </a:ext>
            </a:extLst>
          </p:cNvPr>
          <p:cNvSpPr txBox="1"/>
          <p:nvPr/>
        </p:nvSpPr>
        <p:spPr>
          <a:xfrm>
            <a:off x="8255000" y="42291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古建筑、名人故居、古遗址等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584A0C2-B079-0E27-D08A-573CE2D7E85C}"/>
              </a:ext>
            </a:extLst>
          </p:cNvPr>
          <p:cNvCxnSpPr/>
          <p:nvPr/>
        </p:nvCxnSpPr>
        <p:spPr>
          <a:xfrm>
            <a:off x="6756400" y="45212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CCC47EED-7D4A-2304-9DEC-33F0428F3558}"/>
              </a:ext>
            </a:extLst>
          </p:cNvPr>
          <p:cNvSpPr txBox="1"/>
          <p:nvPr/>
        </p:nvSpPr>
        <p:spPr>
          <a:xfrm>
            <a:off x="6756400" y="45466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传承主体（</a:t>
            </a:r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2225827-4DC7-F194-AF1D-B3B818FA23D1}"/>
              </a:ext>
            </a:extLst>
          </p:cNvPr>
          <p:cNvSpPr txBox="1"/>
          <p:nvPr/>
        </p:nvSpPr>
        <p:spPr>
          <a:xfrm>
            <a:off x="8255000" y="45466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历史人物、传承人、宗族社群等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F8D5E15-D94F-F610-AF5C-EC5191A24BCE}"/>
              </a:ext>
            </a:extLst>
          </p:cNvPr>
          <p:cNvCxnSpPr/>
          <p:nvPr/>
        </p:nvCxnSpPr>
        <p:spPr>
          <a:xfrm>
            <a:off x="6756400" y="48387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02FA74E-ADC6-FF11-B91C-BB91A6FE2AB0}"/>
              </a:ext>
            </a:extLst>
          </p:cNvPr>
          <p:cNvSpPr txBox="1"/>
          <p:nvPr/>
        </p:nvSpPr>
        <p:spPr>
          <a:xfrm>
            <a:off x="6756400" y="48641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文化空间（</a:t>
            </a:r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F491F54-9D2A-C8A1-8C93-C9F97C78496B}"/>
              </a:ext>
            </a:extLst>
          </p:cNvPr>
          <p:cNvSpPr txBox="1"/>
          <p:nvPr/>
        </p:nvSpPr>
        <p:spPr>
          <a:xfrm>
            <a:off x="8255000" y="48641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山川水系、镇街圩市、历史街区等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9C09680-52E8-1290-A64E-38AC88E05537}"/>
              </a:ext>
            </a:extLst>
          </p:cNvPr>
          <p:cNvCxnSpPr/>
          <p:nvPr/>
        </p:nvCxnSpPr>
        <p:spPr>
          <a:xfrm>
            <a:off x="6756400" y="51562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3A7F194-2289-9B75-1296-761F1B3CD502}"/>
              </a:ext>
            </a:extLst>
          </p:cNvPr>
          <p:cNvSpPr txBox="1"/>
          <p:nvPr/>
        </p:nvSpPr>
        <p:spPr>
          <a:xfrm>
            <a:off x="6756400" y="51816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文献记忆（</a:t>
            </a:r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7E6633F-389B-73B4-2972-27B2CE40951D}"/>
              </a:ext>
            </a:extLst>
          </p:cNvPr>
          <p:cNvSpPr txBox="1"/>
          <p:nvPr/>
        </p:nvSpPr>
        <p:spPr>
          <a:xfrm>
            <a:off x="8255000" y="51816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地方志、族谱、碑记、文集等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CF7ADB3-0338-84AC-B6FC-F00D88540C7C}"/>
              </a:ext>
            </a:extLst>
          </p:cNvPr>
          <p:cNvCxnSpPr/>
          <p:nvPr/>
        </p:nvCxnSpPr>
        <p:spPr>
          <a:xfrm>
            <a:off x="6756400" y="54737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55B4351-940C-BAFC-1187-A2B3292EE410}"/>
              </a:ext>
            </a:extLst>
          </p:cNvPr>
          <p:cNvSpPr txBox="1"/>
          <p:nvPr/>
        </p:nvSpPr>
        <p:spPr>
          <a:xfrm>
            <a:off x="6756400" y="5499100"/>
            <a:ext cx="1422400" cy="24365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历史时序（</a:t>
            </a:r>
            <a:r>
              <a:rPr lang="en-US" altLang="zh-CN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5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67A02E1-12B7-F1B4-7A5F-55A8FAAC84DB}"/>
              </a:ext>
            </a:extLst>
          </p:cNvPr>
          <p:cNvSpPr txBox="1"/>
          <p:nvPr/>
        </p:nvSpPr>
        <p:spPr>
          <a:xfrm>
            <a:off x="8255000" y="5499100"/>
            <a:ext cx="27686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朝代年号、历史事件、发展阶段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1B80367-BC8B-04F0-FDBB-A5C0FCEEABD1}"/>
              </a:ext>
            </a:extLst>
          </p:cNvPr>
          <p:cNvCxnSpPr/>
          <p:nvPr/>
        </p:nvCxnSpPr>
        <p:spPr>
          <a:xfrm>
            <a:off x="6756400" y="5791200"/>
            <a:ext cx="4267200" cy="0"/>
          </a:xfrm>
          <a:prstGeom prst="line">
            <a:avLst/>
          </a:prstGeom>
          <a:ln w="9525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50A66F78-13E9-A9F2-7717-738E041BD1D1}"/>
              </a:ext>
            </a:extLst>
          </p:cNvPr>
          <p:cNvSpPr txBox="1"/>
          <p:nvPr/>
        </p:nvSpPr>
        <p:spPr>
          <a:xfrm>
            <a:off x="6756400" y="5829300"/>
            <a:ext cx="42672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用于衔接非遗、文物、历史名镇名村与公共文化资源。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193</Words>
  <Application>Microsoft Office PowerPoint</Application>
  <DocSecurity>0</DocSecurity>
  <PresentationFormat>宽屏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2026-06-03T11:30:50Z</dcterms:modified>
</cp:coreProperties>
</file>