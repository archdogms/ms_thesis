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BCB016-7A36-4BB0-9305-20FFAA6C30FC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4 章、图 4.1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知识图谱生成文化记忆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EF2AB8-E9FD-431B-9240-5082480C4E85}"/>
              </a:ext>
            </a:extLst>
          </p:cNvPr>
          <p:cNvSpPr>
            <a:spLocks noGrp="1"/>
          </p:cNvSpPr>
          <p:nvPr/>
        </p:nvSpPr>
        <p:spPr>
          <a:xfrm>
            <a:off x="8477250" y="20764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61,218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A8BFE7-46B6-49F7-8016-73F23D92230C}"/>
              </a:ext>
            </a:extLst>
          </p:cNvPr>
          <p:cNvSpPr>
            <a:spLocks noGrp="1"/>
          </p:cNvSpPr>
          <p:nvPr/>
        </p:nvSpPr>
        <p:spPr>
          <a:xfrm>
            <a:off x="8477250" y="24384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1EA346-6E48-44DC-A244-31F799927605}"/>
              </a:ext>
            </a:extLst>
          </p:cNvPr>
          <p:cNvSpPr>
            <a:spLocks noGrp="1"/>
          </p:cNvSpPr>
          <p:nvPr/>
        </p:nvSpPr>
        <p:spPr>
          <a:xfrm>
            <a:off x="8477250" y="25146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原始实体记录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2C924E-574A-4EB7-88E4-5B18EC706401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42,024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B888DE5-84B3-43E7-BDA1-9096EB0BCEF8}"/>
              </a:ext>
            </a:extLst>
          </p:cNvPr>
          <p:cNvSpPr>
            <a:spLocks noGrp="1"/>
          </p:cNvSpPr>
          <p:nvPr/>
        </p:nvSpPr>
        <p:spPr>
          <a:xfrm>
            <a:off x="8477250" y="33528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3D7A627-1B6D-49A2-826B-831B2AC9A61A}"/>
              </a:ext>
            </a:extLst>
          </p:cNvPr>
          <p:cNvSpPr>
            <a:spLocks noGrp="1"/>
          </p:cNvSpPr>
          <p:nvPr/>
        </p:nvSpPr>
        <p:spPr>
          <a:xfrm>
            <a:off x="8477250" y="34290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原始关系记录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7070DC-8769-4905-8AFB-58141E2A6EEC}"/>
              </a:ext>
            </a:extLst>
          </p:cNvPr>
          <p:cNvSpPr>
            <a:spLocks noGrp="1"/>
          </p:cNvSpPr>
          <p:nvPr/>
        </p:nvSpPr>
        <p:spPr>
          <a:xfrm>
            <a:off x="8477250" y="39052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8,048 / 19,382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9A260D-2C55-436D-AA08-BC681538C784}"/>
              </a:ext>
            </a:extLst>
          </p:cNvPr>
          <p:cNvSpPr>
            <a:spLocks noGrp="1"/>
          </p:cNvSpPr>
          <p:nvPr/>
        </p:nvSpPr>
        <p:spPr>
          <a:xfrm>
            <a:off x="8477250" y="42672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FBC964F-C076-4A60-A8EA-EDF38F160109}"/>
              </a:ext>
            </a:extLst>
          </p:cNvPr>
          <p:cNvSpPr>
            <a:spLocks noGrp="1"/>
          </p:cNvSpPr>
          <p:nvPr/>
        </p:nvSpPr>
        <p:spPr>
          <a:xfrm>
            <a:off x="8477250" y="43434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合并后实体 / 关系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6A98338-53A1-4B02-9586-4843C1E5577E}"/>
              </a:ext>
            </a:extLst>
          </p:cNvPr>
          <p:cNvSpPr>
            <a:spLocks noGrp="1"/>
          </p:cNvSpPr>
          <p:nvPr/>
        </p:nvSpPr>
        <p:spPr>
          <a:xfrm>
            <a:off x="8477250" y="56578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575 个实体可空间落位，图谱用于把典籍文化记忆转成可追溯关系层。</a:t>
            </a:r>
          </a:p>
        </p:txBody>
      </p:sp>
      <p:sp>
        <p:nvSpPr>
          <p:cNvPr id="29" name="Slide07 KGGlobal Frame">
            <a:extLst>
              <a:ext uri="{FF2B5EF4-FFF2-40B4-BE49-F238E27FC236}">
                <a16:creationId xmlns:a16="http://schemas.microsoft.com/office/drawing/2014/main" id="{6C4486AF-0CDC-013C-F998-41F73201590E}"/>
              </a:ext>
            </a:extLst>
          </p:cNvPr>
          <p:cNvSpPr/>
          <p:nvPr/>
        </p:nvSpPr>
        <p:spPr>
          <a:xfrm>
            <a:off x="965200" y="2108200"/>
            <a:ext cx="4749800" cy="406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Slide07 KGGlobal">
            <a:extLst>
              <a:ext uri="{FF2B5EF4-FFF2-40B4-BE49-F238E27FC236}">
                <a16:creationId xmlns:a16="http://schemas.microsoft.com/office/drawing/2014/main" id="{AB9F9CD7-8806-7150-5D06-E2ED0EA150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80" y="2197100"/>
            <a:ext cx="4377239" cy="3733800"/>
          </a:xfrm>
          <a:prstGeom prst="rect">
            <a:avLst/>
          </a:prstGeom>
        </p:spPr>
      </p:pic>
      <p:sp>
        <p:nvSpPr>
          <p:cNvPr id="35" name="Slide07 KGGlobal Caption">
            <a:extLst>
              <a:ext uri="{FF2B5EF4-FFF2-40B4-BE49-F238E27FC236}">
                <a16:creationId xmlns:a16="http://schemas.microsoft.com/office/drawing/2014/main" id="{B62F43B1-8C39-682E-F41D-8A1725A3D337}"/>
              </a:ext>
            </a:extLst>
          </p:cNvPr>
          <p:cNvSpPr txBox="1"/>
          <p:nvPr/>
        </p:nvSpPr>
        <p:spPr>
          <a:xfrm>
            <a:off x="1066800" y="5969000"/>
            <a:ext cx="45466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6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知识图谱全局网络总图</a:t>
            </a:r>
          </a:p>
        </p:txBody>
      </p:sp>
      <p:sp>
        <p:nvSpPr>
          <p:cNvPr id="39" name="Slide07 ProcessCallout">
            <a:extLst>
              <a:ext uri="{FF2B5EF4-FFF2-40B4-BE49-F238E27FC236}">
                <a16:creationId xmlns:a16="http://schemas.microsoft.com/office/drawing/2014/main" id="{F3E2C3C2-7C08-33FB-CD32-70064FE1ED4B}"/>
              </a:ext>
            </a:extLst>
          </p:cNvPr>
          <p:cNvSpPr/>
          <p:nvPr/>
        </p:nvSpPr>
        <p:spPr>
          <a:xfrm>
            <a:off x="6032500" y="2387600"/>
            <a:ext cx="1841500" cy="2413000"/>
          </a:xfrm>
          <a:prstGeom prst="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Slide07 ProcessHead">
            <a:extLst>
              <a:ext uri="{FF2B5EF4-FFF2-40B4-BE49-F238E27FC236}">
                <a16:creationId xmlns:a16="http://schemas.microsoft.com/office/drawing/2014/main" id="{A455E80D-C8CB-5761-AB53-7BF470DBCD74}"/>
              </a:ext>
            </a:extLst>
          </p:cNvPr>
          <p:cNvSpPr txBox="1"/>
          <p:nvPr/>
        </p:nvSpPr>
        <p:spPr>
          <a:xfrm>
            <a:off x="6223000" y="2603500"/>
            <a:ext cx="14605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从文本到图谱</a:t>
            </a:r>
          </a:p>
        </p:txBody>
      </p:sp>
      <p:sp>
        <p:nvSpPr>
          <p:cNvPr id="41" name="Slide07 ProcessBody">
            <a:extLst>
              <a:ext uri="{FF2B5EF4-FFF2-40B4-BE49-F238E27FC236}">
                <a16:creationId xmlns:a16="http://schemas.microsoft.com/office/drawing/2014/main" id="{F55F8127-0C60-9478-95C5-3206AB93A67B}"/>
              </a:ext>
            </a:extLst>
          </p:cNvPr>
          <p:cNvSpPr txBox="1"/>
          <p:nvPr/>
        </p:nvSpPr>
        <p:spPr>
          <a:xfrm>
            <a:off x="6223000" y="2984500"/>
            <a:ext cx="1397000" cy="3785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文本切块 → </a:t>
            </a:r>
            <a:r>
              <a:rPr lang="en-US" altLang="zh-CN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</a:t>
            </a:r>
            <a:r>
              <a:rPr lang="zh-CN" altLang="en-US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抽取 → 质量控制 → 同义合并 → </a:t>
            </a:r>
            <a:r>
              <a:rPr lang="en-US" altLang="zh-CN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Neo4j </a:t>
            </a:r>
            <a:r>
              <a:rPr lang="zh-CN" altLang="en-US" sz="82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入库</a:t>
            </a:r>
          </a:p>
        </p:txBody>
      </p:sp>
      <p:sp>
        <p:nvSpPr>
          <p:cNvPr id="42" name="Slide07 ProcessNote">
            <a:extLst>
              <a:ext uri="{FF2B5EF4-FFF2-40B4-BE49-F238E27FC236}">
                <a16:creationId xmlns:a16="http://schemas.microsoft.com/office/drawing/2014/main" id="{5B474250-6ADB-9545-C6E3-D3C12ACACB08}"/>
              </a:ext>
            </a:extLst>
          </p:cNvPr>
          <p:cNvSpPr txBox="1"/>
          <p:nvPr/>
        </p:nvSpPr>
        <p:spPr>
          <a:xfrm>
            <a:off x="6223000" y="4140200"/>
            <a:ext cx="1422400" cy="2277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4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总图展示的是关系网络结果，右侧数字说明抽取与合并规模。</a:t>
            </a:r>
          </a:p>
        </p:txBody>
      </p:sp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75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25</cp:revision>
  <dcterms:created xsi:type="dcterms:W3CDTF">2026-06-02T06:15:18Z</dcterms:created>
  <dcterms:modified xsi:type="dcterms:W3CDTF">2026-06-02T15:58:12Z</dcterms:modified>
</cp:coreProperties>
</file>