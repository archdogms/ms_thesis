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f8432341b945c6" /><Relationship Type="http://schemas.openxmlformats.org/officeDocument/2006/relationships/extended-properties" Target="/docProps/app.xml" Id="Rdef6335dc2534fe9" /><Relationship Type="http://schemas.openxmlformats.org/officeDocument/2006/relationships/officeDocument" Target="/ppt/presentation.xml" Id="R3a86cad43af540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06467ef6774ec2"/>
  </p:sldMasterIdLst>
  <p:notesMasterIdLst>
    <p:notesMasterId xmlns:r="http://schemas.openxmlformats.org/officeDocument/2006/relationships" r:id="R8de2a87682e74aab"/>
  </p:notesMasterIdLst>
  <p:sldIdLst>
    <p:sldId xmlns:r="http://schemas.openxmlformats.org/officeDocument/2006/relationships" id="256" r:id="R6ea988665d3d427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6467ef6774ec2" /><Relationship Type="http://schemas.openxmlformats.org/officeDocument/2006/relationships/theme" Target="/ppt/theme/theme1.xml" Id="R41b3d4f7329044b8" /><Relationship Type="http://schemas.openxmlformats.org/officeDocument/2006/relationships/notesMaster" Target="/ppt/notesMasters/notesMaster1.xml" Id="R8de2a87682e74aab" /><Relationship Type="http://schemas.openxmlformats.org/officeDocument/2006/relationships/presProps" Target="/ppt/presProps.xml" Id="R2351a808477d4f03" /><Relationship Type="http://schemas.openxmlformats.org/officeDocument/2006/relationships/viewProps" Target="/ppt/viewProps.xml" Id="R7a08a78afd8c4780" /><Relationship Type="http://schemas.openxmlformats.org/officeDocument/2006/relationships/tableStyles" Target="/ppt/tableStyles.xml" Id="R5b276b1b6b254bb8" /><Relationship Type="http://schemas.openxmlformats.org/officeDocument/2006/relationships/slide" Target="/ppt/slides/slide1.xml" Id="R6ea988665d3d42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4dd5c4027eb47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ae94c40e754eac" /><Relationship Type="http://schemas.openxmlformats.org/officeDocument/2006/relationships/notesMaster" Target="/ppt/notesMasters/notesMaster1.xml" Id="Rd31661c15a4e42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903bed8b7d42b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3b19efd25f543cb" /><Relationship Type="http://schemas.openxmlformats.org/officeDocument/2006/relationships/slideLayout" Target="/ppt/slideLayouts/slideLayout2.xml" Id="R98d314fd412a4a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d314fd412a4a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9f3698ef1fd143bc" /><Relationship Type="http://schemas.openxmlformats.org/officeDocument/2006/relationships/image" Target="/ppt/media/image.png" Id="R5b0f4829d1184731" /><Relationship Type="http://schemas.openxmlformats.org/officeDocument/2006/relationships/image" Target="/ppt/media/image2.png" Id="R85a30df53a454a79" /><Relationship Type="http://schemas.openxmlformats.org/officeDocument/2006/relationships/notesSlide" Target="/ppt/notesSlides/notesSlide1.xml" Id="Rb88ba326d5604119" /><Relationship Id="rId1" Type="http://schemas.openxmlformats.org/officeDocument/2006/relationships/image" Target="../media/ppt_fig4_1_slide7.png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f4829d118473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1BCB016-7A36-4BB0-9305-20FFAA6C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 数据基础与处理方法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pic>
        <p:nvPicPr>
          <p:cNvPr id="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30df53a454a79"/>
          <a:stretch xmlns:a="http://schemas.openxmlformats.org/drawingml/2006/main"/>
        </p:blipFill>
        <p:spPr>
          <a:xfrm xmlns:a="http://schemas.openxmlformats.org/drawingml/2006/main">
            <a:off x="10026361" y="266700"/>
            <a:ext cx="114992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4 章、图 4.1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96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知识图谱如何生成文化记忆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0C3CD26-3445-4529-B426-A18D8615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144000" cy="5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典籍文本先分块抽取，再经质量控制、同义合并和图谱入库，形成可追溯的文化关系网络；它服务于 CMI 和空间匹配，而不是单独展示技术。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3EF2AB8-E9FD-431B-9240-5082480C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61,218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0A8BFE7-46B6-49F7-8016-73F23D9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81EA346-6E48-44DC-A244-31F79992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原始实体记录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42C924E-574A-4EB7-88E4-5B18EC70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42,024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B888DE5-84B3-43E7-BDA1-9096EB0B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3D7A627-1B6D-49A2-826B-831B2AC9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原始关系记录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97070DC-8769-4905-8AFB-58141E2A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8,048 / 19,382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C9A260D-2C55-436D-AA08-BC681538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FBC964F-C076-4A60-A8EA-EDF38F16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4340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合并后实体 / 关系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6A98338-53A1-4B02-9586-4843C1E5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578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575 个实体可空间落位，图谱用于把典籍文化记忆转成可追溯关系层。</a:t>
            </a:r>
          </a:p>
        </p:txBody>
      </p:sp>
      <p:sp xmlns:p="http://schemas.openxmlformats.org/presentationml/2006/main" xmlns:a="http://schemas.openxmlformats.org/drawingml/2006/main">
        <p:nvSpPr>
          <p:cNvPr id="25" name="NativeFlow Canvas KG"/>
          <p:cNvSpPr/>
          <p:nvPr/>
        </p:nvSpPr>
        <p:spPr>
          <a:xfrm>
            <a:off x="900000" y="2080000"/>
            <a:ext cx="6800000" cy="3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7EC"/>
            </a:solidFill>
          </a:ln>
        </p:spPr>
        <p:txBody>
          <a:bodyPr wrap="square" anchor="ctr">
            <a:spAutoFit/>
          </a:bodyPr>
          <a:lstStyle/>
          <a:p>
            <a:pPr algn="l"/>
            <a:r>
              <a:rPr lang="zh-CN" sz="800">
                <a:solidFill>
                  <a:srgbClr val="24345C"/>
                </a:solidFill>
                <a:latin typeface="Microsoft YaHei"/>
                <a:ea typeface="Microsoft YaHei"/>
              </a:rPr>
              <a:t/>
            </a:r>
          </a:p>
        </p:txBody>
      </p:sp>
      <p:sp xmlns:p="http://schemas.openxmlformats.org/presentationml/2006/main" xmlns:a="http://schemas.openxmlformats.org/drawingml/2006/main">
        <p:nvSpPr>
          <p:cNvPr id="26" name="NativeFlow Title KG"/>
          <p:cNvSpPr/>
          <p:nvPr/>
        </p:nvSpPr>
        <p:spPr>
          <a:xfrm>
            <a:off x="1240000" y="2290000"/>
            <a:ext cx="6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zh-CN" sz="1100" b="1">
                <a:solidFill>
                  <a:srgbClr val="1C2B49"/>
                </a:solidFill>
                <a:latin typeface="Microsoft YaHei"/>
                <a:ea typeface="Microsoft YaHei"/>
              </a:rPr>
              <a:t>实体—关系抽取、合并与入库流程</a:t>
            </a:r>
          </a:p>
        </p:txBody>
      </p:sp>
      <p:sp xmlns:p="http://schemas.openxmlformats.org/presentationml/2006/main" xmlns:a="http://schemas.openxmlformats.org/drawingml/2006/main">
        <p:nvSpPr>
          <p:cNvPr id="27" name="NativeFlow KG Top 0"/>
          <p:cNvSpPr/>
          <p:nvPr/>
        </p:nvSpPr>
        <p:spPr>
          <a:xfrm>
            <a:off x="1240000" y="3030000"/>
            <a:ext cx="1050000" cy="72000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文本切块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约800字/段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多线程并发</a:t>
            </a:r>
          </a:p>
        </p:txBody>
      </p:sp>
      <p:sp xmlns:p="http://schemas.openxmlformats.org/presentationml/2006/main" xmlns:a="http://schemas.openxmlformats.org/drawingml/2006/main">
        <p:nvSpPr>
          <p:cNvPr id="28" name="NativeFlow Arrow 28"/>
          <p:cNvSpPr/>
          <p:nvPr/>
        </p:nvSpPr>
        <p:spPr>
          <a:xfrm>
            <a:off x="2320000" y="3300000"/>
            <a:ext cx="19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1200" b="1">
                <a:solidFill>
                  <a:srgbClr val="6A3A8A"/>
                </a:solidFill>
                <a:latin typeface="Microsoft YaHei"/>
                <a:ea typeface="Microsoft YaHei"/>
              </a:rPr>
              <a:t>→</a:t>
            </a:r>
          </a:p>
        </p:txBody>
      </p:sp>
      <p:sp xmlns:p="http://schemas.openxmlformats.org/presentationml/2006/main" xmlns:a="http://schemas.openxmlformats.org/drawingml/2006/main">
        <p:nvSpPr>
          <p:cNvPr id="29" name="NativeFlow KG Top 1"/>
          <p:cNvSpPr/>
          <p:nvPr/>
        </p:nvSpPr>
        <p:spPr>
          <a:xfrm>
            <a:off x="2540000" y="3030000"/>
            <a:ext cx="1050000" cy="720000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LLM 抽取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实体、关系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证据句</a:t>
            </a:r>
          </a:p>
        </p:txBody>
      </p:sp>
      <p:sp xmlns:p="http://schemas.openxmlformats.org/presentationml/2006/main" xmlns:a="http://schemas.openxmlformats.org/drawingml/2006/main">
        <p:nvSpPr>
          <p:cNvPr id="30" name="NativeFlow Arrow 30"/>
          <p:cNvSpPr/>
          <p:nvPr/>
        </p:nvSpPr>
        <p:spPr>
          <a:xfrm>
            <a:off x="3620000" y="3300000"/>
            <a:ext cx="19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1200" b="1">
                <a:solidFill>
                  <a:srgbClr val="6A3A8A"/>
                </a:solidFill>
                <a:latin typeface="Microsoft YaHei"/>
                <a:ea typeface="Microsoft YaHei"/>
              </a:rPr>
              <a:t>→</a:t>
            </a:r>
          </a:p>
        </p:txBody>
      </p:sp>
      <p:sp xmlns:p="http://schemas.openxmlformats.org/presentationml/2006/main" xmlns:a="http://schemas.openxmlformats.org/drawingml/2006/main">
        <p:nvSpPr>
          <p:cNvPr id="31" name="NativeFlow KG Top 2"/>
          <p:cNvSpPr/>
          <p:nvPr/>
        </p:nvSpPr>
        <p:spPr>
          <a:xfrm>
            <a:off x="3840000" y="3030000"/>
            <a:ext cx="1050000" cy="720000"/>
          </a:xfrm>
          <a:prstGeom prst="roundRect">
            <a:avLst/>
          </a:prstGeom>
          <a:solidFill>
            <a:srgbClr val="FFF3E4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质量控制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白名单校验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禁用空泛关系</a:t>
            </a:r>
          </a:p>
        </p:txBody>
      </p:sp>
      <p:sp xmlns:p="http://schemas.openxmlformats.org/presentationml/2006/main" xmlns:a="http://schemas.openxmlformats.org/drawingml/2006/main">
        <p:nvSpPr>
          <p:cNvPr id="32" name="NativeFlow Arrow 32"/>
          <p:cNvSpPr/>
          <p:nvPr/>
        </p:nvSpPr>
        <p:spPr>
          <a:xfrm>
            <a:off x="4920000" y="3300000"/>
            <a:ext cx="19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1200" b="1">
                <a:solidFill>
                  <a:srgbClr val="6A3A8A"/>
                </a:solidFill>
                <a:latin typeface="Microsoft YaHei"/>
                <a:ea typeface="Microsoft YaHei"/>
              </a:rPr>
              <a:t>→</a:t>
            </a:r>
          </a:p>
        </p:txBody>
      </p:sp>
      <p:sp xmlns:p="http://schemas.openxmlformats.org/presentationml/2006/main" xmlns:a="http://schemas.openxmlformats.org/drawingml/2006/main">
        <p:nvSpPr>
          <p:cNvPr id="33" name="NativeFlow KG Top 3"/>
          <p:cNvSpPr/>
          <p:nvPr/>
        </p:nvSpPr>
        <p:spPr>
          <a:xfrm>
            <a:off x="5140000" y="3030000"/>
            <a:ext cx="1050000" cy="720000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同义合并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实体归并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关系合规</a:t>
            </a:r>
          </a:p>
        </p:txBody>
      </p:sp>
      <p:sp xmlns:p="http://schemas.openxmlformats.org/presentationml/2006/main" xmlns:a="http://schemas.openxmlformats.org/drawingml/2006/main">
        <p:nvSpPr>
          <p:cNvPr id="34" name="NativeFlow Arrow 34"/>
          <p:cNvSpPr/>
          <p:nvPr/>
        </p:nvSpPr>
        <p:spPr>
          <a:xfrm>
            <a:off x="6220000" y="3300000"/>
            <a:ext cx="19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1200" b="1">
                <a:solidFill>
                  <a:srgbClr val="6A3A8A"/>
                </a:solidFill>
                <a:latin typeface="Microsoft YaHei"/>
                <a:ea typeface="Microsoft YaHei"/>
              </a:rPr>
              <a:t>→</a:t>
            </a:r>
          </a:p>
        </p:txBody>
      </p:sp>
      <p:sp xmlns:p="http://schemas.openxmlformats.org/presentationml/2006/main" xmlns:a="http://schemas.openxmlformats.org/drawingml/2006/main">
        <p:nvSpPr>
          <p:cNvPr id="35" name="NativeFlow KG Top 4"/>
          <p:cNvSpPr/>
          <p:nvPr/>
        </p:nvSpPr>
        <p:spPr>
          <a:xfrm>
            <a:off x="6440000" y="3030000"/>
            <a:ext cx="1050000" cy="720000"/>
          </a:xfrm>
          <a:prstGeom prst="roundRect">
            <a:avLst/>
          </a:prstGeom>
          <a:solidFill>
            <a:srgbClr val="EAF8FA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图谱入库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8,048实体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19,382关系</a:t>
            </a:r>
          </a:p>
        </p:txBody>
      </p:sp>
      <p:sp xmlns:p="http://schemas.openxmlformats.org/presentationml/2006/main" xmlns:a="http://schemas.openxmlformats.org/drawingml/2006/main">
        <p:nvSpPr>
          <p:cNvPr id="36" name="NativeFlow KG Output"/>
          <p:cNvSpPr/>
          <p:nvPr/>
        </p:nvSpPr>
        <p:spPr>
          <a:xfrm>
            <a:off x="1320000" y="4480000"/>
            <a:ext cx="5900000" cy="6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50" b="1">
                <a:solidFill>
                  <a:srgbClr val="2B2440"/>
                </a:solidFill>
                <a:latin typeface="Microsoft YaHei"/>
                <a:ea typeface="Microsoft YaHei"/>
              </a:rPr>
              <a:t>输出：合并图谱总库、Neo4j导入表、频次分档、典型人物与文化载体子图</a:t>
            </a:r>
          </a:p>
          <a:p>
            <a:pPr algn="ctr"/>
            <a:r>
              <a:rPr lang="zh-CN" sz="730">
                <a:solidFill>
                  <a:srgbClr val="2B2440"/>
                </a:solidFill>
                <a:latin typeface="Microsoft YaHei"/>
                <a:ea typeface="Microsoft YaHei"/>
              </a:rPr>
              <a:t>用途：为 CMI 计算、空间匹配和规划转译提供文化关系底库</a:t>
            </a:r>
          </a:p>
        </p:txBody>
      </p:sp>
    </p:spTree>
    <p:extLst>
      <p:ext uri="{BB962C8B-B14F-4D97-AF65-F5344CB8AC3E}">
        <p14:creationId xmlns:p14="http://schemas.microsoft.com/office/powerpoint/2010/main" val="1204815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2026-06-02T07:41:55.9350000Z</dcterms:created>
  <dcterms:modified xsi:type="dcterms:W3CDTF">2026-06-02T07:41:55.9350000Z</dcterms:modified>
</coreProperties>
</file>