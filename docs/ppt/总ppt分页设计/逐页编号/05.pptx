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3012e6cefb4f74" /><Relationship Type="http://schemas.openxmlformats.org/officeDocument/2006/relationships/extended-properties" Target="/docProps/app.xml" Id="Re4d9dc0131ab491f" /><Relationship Type="http://schemas.openxmlformats.org/officeDocument/2006/relationships/officeDocument" Target="/ppt/presentation.xml" Id="Rdaaf9b52af9146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99d3ad390b4f33"/>
  </p:sldMasterIdLst>
  <p:notesMasterIdLst>
    <p:notesMasterId xmlns:r="http://schemas.openxmlformats.org/officeDocument/2006/relationships" r:id="Rf1937d3442a5458c"/>
  </p:notesMasterIdLst>
  <p:sldIdLst>
    <p:sldId xmlns:r="http://schemas.openxmlformats.org/officeDocument/2006/relationships" id="256" r:id="Rdbe28656f3d449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9d3ad390b4f33" /><Relationship Type="http://schemas.openxmlformats.org/officeDocument/2006/relationships/theme" Target="/ppt/theme/theme1.xml" Id="R8db97f52bafe4aa8" /><Relationship Type="http://schemas.openxmlformats.org/officeDocument/2006/relationships/notesMaster" Target="/ppt/notesMasters/notesMaster1.xml" Id="Rf1937d3442a5458c" /><Relationship Type="http://schemas.openxmlformats.org/officeDocument/2006/relationships/presProps" Target="/ppt/presProps.xml" Id="Rc97e77a89f38440f" /><Relationship Type="http://schemas.openxmlformats.org/officeDocument/2006/relationships/viewProps" Target="/ppt/viewProps.xml" Id="R1130c97661e841a2" /><Relationship Type="http://schemas.openxmlformats.org/officeDocument/2006/relationships/tableStyles" Target="/ppt/tableStyles.xml" Id="Rce78b82865c44bd9" /><Relationship Type="http://schemas.openxmlformats.org/officeDocument/2006/relationships/slide" Target="/ppt/slides/slide1.xml" Id="Rdbe28656f3d449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7a4e7e76132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820b89f334971" /><Relationship Type="http://schemas.openxmlformats.org/officeDocument/2006/relationships/notesMaster" Target="/ppt/notesMasters/notesMaster1.xml" Id="R7a93ab0e3c6d4f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9d79c328648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a659f0fae814f38" /><Relationship Type="http://schemas.openxmlformats.org/officeDocument/2006/relationships/slideLayout" Target="/ppt/slideLayouts/slideLayout2.xml" Id="R6baf0c6f29b24f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af0c6f29b24f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3980276f624aa3" /><Relationship Type="http://schemas.openxmlformats.org/officeDocument/2006/relationships/image" Target="/ppt/media/image.png" Id="R3a6b80b410e3493c" /><Relationship Type="http://schemas.openxmlformats.org/officeDocument/2006/relationships/image" Target="/ppt/media/image2.png" Id="R380e06e550874853" /><Relationship Type="http://schemas.openxmlformats.org/officeDocument/2006/relationships/image" Target="/ppt/media/image3.png" Id="R97ef58e6d2cd4972" /><Relationship Type="http://schemas.openxmlformats.org/officeDocument/2006/relationships/notesSlide" Target="/ppt/notesSlides/notesSlide1.xml" Id="R4f0262b288f143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b80b410e3493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A9339F3-76BA-4134-A7E1-0896A70C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 数据基础与处理方法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e06e550874853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多源数据如何进入同一底图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1719DF1-9297-46F7-8A4F-6A43AC58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文化侧来自典籍、非遗与官方名录，旅游侧来自 POI 和游客评论；经过清洗、桥梁匹配和 500 m 网格化后，形成后续指数计算的共同底图。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7048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048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67818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74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多源数据流程图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6705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 POI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平台评论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053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482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020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864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500 m 分析网格</a:t>
            </a:r>
          </a:p>
        </p:txBody>
      </p:sp>
      <p:sp xmlns:p="http://schemas.openxmlformats.org/presentationml/2006/main" xmlns:a="http://schemas.openxmlformats.org/drawingml/2006/main">
        <p:nvSpPr>
          <p:cNvPr id="31" name="NativeFlow Canvas Data"/>
          <p:cNvSpPr/>
          <p:nvPr/>
        </p:nvSpPr>
        <p:spPr>
          <a:xfrm>
            <a:off x="895000" y="2080000"/>
            <a:ext cx="6920000" cy="32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7EC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lang="zh-CN" sz="800">
                <a:solidFill>
                  <a:srgbClr val="24345C"/>
                </a:solidFill>
                <a:latin typeface="Microsoft YaHei"/>
                <a:ea typeface="Microsoft YaHei"/>
              </a:rPr>
              <a:t/>
            </a:r>
          </a:p>
        </p:txBody>
      </p:sp>
      <p:sp xmlns:p="http://schemas.openxmlformats.org/presentationml/2006/main" xmlns:a="http://schemas.openxmlformats.org/drawingml/2006/main">
        <p:nvSpPr>
          <p:cNvPr id="32" name="NativeFlow Title Data"/>
          <p:cNvSpPr/>
          <p:nvPr/>
        </p:nvSpPr>
        <p:spPr>
          <a:xfrm>
            <a:off x="1250000" y="2290000"/>
            <a:ext cx="6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sz="1100" b="1">
                <a:solidFill>
                  <a:srgbClr val="1C2B49"/>
                </a:solidFill>
                <a:latin typeface="Microsoft YaHei"/>
                <a:ea typeface="Microsoft YaHei"/>
              </a:rPr>
              <a:t>数据处理链条：从来源到指数</a:t>
            </a:r>
          </a:p>
        </p:txBody>
      </p:sp>
      <p:sp xmlns:p="http://schemas.openxmlformats.org/presentationml/2006/main" xmlns:a="http://schemas.openxmlformats.org/drawingml/2006/main">
        <p:nvSpPr>
          <p:cNvPr id="33" name="NativeFlow Data Top 0"/>
          <p:cNvSpPr/>
          <p:nvPr/>
        </p:nvSpPr>
        <p:spPr>
          <a:xfrm>
            <a:off x="1280000" y="3020000"/>
            <a:ext cx="1030000" cy="62000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典籍资料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53份 / 约900万字</a:t>
            </a:r>
          </a:p>
        </p:txBody>
      </p:sp>
      <p:sp xmlns:p="http://schemas.openxmlformats.org/presentationml/2006/main" xmlns:a="http://schemas.openxmlformats.org/drawingml/2006/main">
        <p:nvSpPr>
          <p:cNvPr id="34" name="NativeFlow Arrow 34"/>
          <p:cNvSpPr/>
          <p:nvPr/>
        </p:nvSpPr>
        <p:spPr>
          <a:xfrm>
            <a:off x="2335000" y="3225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35" name="NativeFlow Data Top 1"/>
          <p:cNvSpPr/>
          <p:nvPr/>
        </p:nvSpPr>
        <p:spPr>
          <a:xfrm>
            <a:off x="2570000" y="3020000"/>
            <a:ext cx="1030000" cy="6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文化实体关系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8,048实体 / 19,382关系</a:t>
            </a:r>
          </a:p>
        </p:txBody>
      </p:sp>
      <p:sp xmlns:p="http://schemas.openxmlformats.org/presentationml/2006/main" xmlns:a="http://schemas.openxmlformats.org/drawingml/2006/main">
        <p:nvSpPr>
          <p:cNvPr id="36" name="NativeFlow Arrow 36"/>
          <p:cNvSpPr/>
          <p:nvPr/>
        </p:nvSpPr>
        <p:spPr>
          <a:xfrm>
            <a:off x="3625000" y="3225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37" name="NativeFlow Data Top 2"/>
          <p:cNvSpPr/>
          <p:nvPr/>
        </p:nvSpPr>
        <p:spPr>
          <a:xfrm>
            <a:off x="3860000" y="3020000"/>
            <a:ext cx="1030000" cy="620000"/>
          </a:xfrm>
          <a:prstGeom prst="roundRect">
            <a:avLst/>
          </a:prstGeom>
          <a:solidFill>
            <a:srgbClr val="FFF3E4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POI 与评论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13,512 POI / 16,391评论</a:t>
            </a:r>
          </a:p>
        </p:txBody>
      </p:sp>
      <p:sp xmlns:p="http://schemas.openxmlformats.org/presentationml/2006/main" xmlns:a="http://schemas.openxmlformats.org/drawingml/2006/main">
        <p:nvSpPr>
          <p:cNvPr id="38" name="NativeFlow Arrow 38"/>
          <p:cNvSpPr/>
          <p:nvPr/>
        </p:nvSpPr>
        <p:spPr>
          <a:xfrm>
            <a:off x="4915000" y="3225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39" name="NativeFlow Data Top 3"/>
          <p:cNvSpPr/>
          <p:nvPr/>
        </p:nvSpPr>
        <p:spPr>
          <a:xfrm>
            <a:off x="5150000" y="3020000"/>
            <a:ext cx="1030000" cy="6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90非遗 / 165核心载体</a:t>
            </a:r>
          </a:p>
        </p:txBody>
      </p:sp>
      <p:sp xmlns:p="http://schemas.openxmlformats.org/presentationml/2006/main" xmlns:a="http://schemas.openxmlformats.org/drawingml/2006/main">
        <p:nvSpPr>
          <p:cNvPr id="40" name="NativeFlow Arrow 40"/>
          <p:cNvSpPr/>
          <p:nvPr/>
        </p:nvSpPr>
        <p:spPr>
          <a:xfrm>
            <a:off x="6205000" y="3225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41" name="NativeFlow Data Top 4"/>
          <p:cNvSpPr/>
          <p:nvPr/>
        </p:nvSpPr>
        <p:spPr>
          <a:xfrm>
            <a:off x="6440000" y="3020000"/>
            <a:ext cx="1030000" cy="620000"/>
          </a:xfrm>
          <a:prstGeom prst="roundRect">
            <a:avLst/>
          </a:prstGeom>
          <a:solidFill>
            <a:srgbClr val="EAF8FA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指数与空间分析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CMI / OAI / THI / MI</a:t>
            </a:r>
          </a:p>
        </p:txBody>
      </p:sp>
      <p:sp xmlns:p="http://schemas.openxmlformats.org/presentationml/2006/main" xmlns:a="http://schemas.openxmlformats.org/drawingml/2006/main">
        <p:nvSpPr>
          <p:cNvPr id="42" name="NativeFlow Data Bottom 0"/>
          <p:cNvSpPr/>
          <p:nvPr/>
        </p:nvSpPr>
        <p:spPr>
          <a:xfrm>
            <a:off x="188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坐标与名称统一</a:t>
            </a:r>
          </a:p>
        </p:txBody>
      </p:sp>
      <p:sp xmlns:p="http://schemas.openxmlformats.org/presentationml/2006/main" xmlns:a="http://schemas.openxmlformats.org/drawingml/2006/main">
        <p:nvSpPr>
          <p:cNvPr id="43" name="NativeFlow Arrow 43"/>
          <p:cNvSpPr/>
          <p:nvPr/>
        </p:nvSpPr>
        <p:spPr>
          <a:xfrm>
            <a:off x="3560000" y="4550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44" name="NativeFlow Data Bottom 1"/>
          <p:cNvSpPr/>
          <p:nvPr/>
        </p:nvSpPr>
        <p:spPr>
          <a:xfrm>
            <a:off x="402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桥梁匹配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载体—POI匹配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评论语义对应</a:t>
            </a:r>
          </a:p>
        </p:txBody>
      </p:sp>
      <p:sp xmlns:p="http://schemas.openxmlformats.org/presentationml/2006/main" xmlns:a="http://schemas.openxmlformats.org/drawingml/2006/main">
        <p:nvSpPr>
          <p:cNvPr id="45" name="NativeFlow Arrow 45"/>
          <p:cNvSpPr/>
          <p:nvPr/>
        </p:nvSpPr>
        <p:spPr>
          <a:xfrm>
            <a:off x="5700000" y="4550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46" name="NativeFlow Data Bottom 2"/>
          <p:cNvSpPr/>
          <p:nvPr/>
        </p:nvSpPr>
        <p:spPr>
          <a:xfrm>
            <a:off x="616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专题图与建议</a:t>
            </a:r>
          </a:p>
        </p:txBody>
      </p:sp>
      <p:sp xmlns:p="http://schemas.openxmlformats.org/presentationml/2006/main" xmlns:a="http://schemas.openxmlformats.org/drawingml/2006/main">
        <p:nvSpPr>
          <p:cNvPr id="47" name="NativeFlow Arrow 47"/>
          <p:cNvSpPr/>
          <p:nvPr/>
        </p:nvSpPr>
        <p:spPr>
          <a:xfrm>
            <a:off x="3980000" y="3820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2026-06-02T07:41:34.1300000Z</dcterms:created>
  <dcterms:modified xsi:type="dcterms:W3CDTF">2026-06-02T07:41:34.1300000Z</dcterms:modified>
</coreProperties>
</file>