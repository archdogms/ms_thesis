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72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53" d="100"/>
          <a:sy n="153" d="100"/>
        </p:scale>
        <p:origin x="372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7A09998-06A8-4604-9C07-48FB1351CEF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D3E81A-98E2-413B-9D03-2F36AAE50DE3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15D0C2-D9B8-4E06-93A9-4DC473E7C551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17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8DEBF6AD-0948-4C2C-BE7A-1BFB005EE60D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7.2 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9DF7DF1-4EFE-47AF-B3B7-49581E02CBCC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C63A04B-751E-4B0D-B1E6-6DD386D2CD6E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5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三类错位对应三类行动</a:t>
            </a:r>
            <a:endParaRPr sz="2450" b="1">
              <a:solidFill>
                <a:srgbClr val="261F1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891B033E-CE79-40DC-A5DC-5EFD50EFD626}"/>
              </a:ext>
            </a:extLst>
          </p:cNvPr>
          <p:cNvSpPr>
            <a:spLocks noGrp="1"/>
          </p:cNvSpPr>
          <p:nvPr/>
        </p:nvSpPr>
        <p:spPr>
          <a:xfrm>
            <a:off x="952500" y="21907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600070"/>
            </a:solidFill>
            <a:prstDash val="solid"/>
          </a:ln>
        </p:spPr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77A15712-E909-4C9A-ACD0-C64412F3A382}"/>
              </a:ext>
            </a:extLst>
          </p:cNvPr>
          <p:cNvSpPr>
            <a:spLocks noGrp="1"/>
          </p:cNvSpPr>
          <p:nvPr/>
        </p:nvSpPr>
        <p:spPr>
          <a:xfrm>
            <a:off x="1162050" y="23717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沉睡潜力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8FD12AF-D04E-4E1D-AE87-637C87E50114}"/>
              </a:ext>
            </a:extLst>
          </p:cNvPr>
          <p:cNvSpPr>
            <a:spLocks noGrp="1"/>
          </p:cNvSpPr>
          <p:nvPr/>
        </p:nvSpPr>
        <p:spPr>
          <a:xfrm>
            <a:off x="3000375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77916B7E-8EE9-4787-A626-CFD5CB746BF0}"/>
              </a:ext>
            </a:extLst>
          </p:cNvPr>
          <p:cNvSpPr>
            <a:spLocks noGrp="1"/>
          </p:cNvSpPr>
          <p:nvPr/>
        </p:nvSpPr>
        <p:spPr>
          <a:xfrm>
            <a:off x="4857750" y="23812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文化强、热度弱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ED7015B-AD50-425F-A3D5-88CD4382199B}"/>
              </a:ext>
            </a:extLst>
          </p:cNvPr>
          <p:cNvSpPr>
            <a:spLocks noGrp="1"/>
          </p:cNvSpPr>
          <p:nvPr/>
        </p:nvSpPr>
        <p:spPr>
          <a:xfrm>
            <a:off x="7048500" y="24860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F6818B8E-DEC4-4728-8A84-FD0A2EAFB3DF}"/>
              </a:ext>
            </a:extLst>
          </p:cNvPr>
          <p:cNvSpPr>
            <a:spLocks noGrp="1"/>
          </p:cNvSpPr>
          <p:nvPr/>
        </p:nvSpPr>
        <p:spPr>
          <a:xfrm>
            <a:off x="8905875" y="21145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EA2CADD8-E850-4D05-8745-C2661AF9854C}"/>
              </a:ext>
            </a:extLst>
          </p:cNvPr>
          <p:cNvSpPr>
            <a:spLocks noGrp="1"/>
          </p:cNvSpPr>
          <p:nvPr/>
        </p:nvSpPr>
        <p:spPr>
          <a:xfrm>
            <a:off x="9105900" y="23241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补可达性、展示空间、解说系统、活动运营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39CCF69D-1944-43CA-8DFB-3C912CFBE462}"/>
              </a:ext>
            </a:extLst>
          </p:cNvPr>
          <p:cNvSpPr>
            <a:spLocks noGrp="1"/>
          </p:cNvSpPr>
          <p:nvPr/>
        </p:nvSpPr>
        <p:spPr>
          <a:xfrm>
            <a:off x="952500" y="32575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AFE2A670-F840-4627-B8AF-91AEFC2392A7}"/>
              </a:ext>
            </a:extLst>
          </p:cNvPr>
          <p:cNvSpPr>
            <a:spLocks noGrp="1"/>
          </p:cNvSpPr>
          <p:nvPr/>
        </p:nvSpPr>
        <p:spPr>
          <a:xfrm>
            <a:off x="1162050" y="34385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空心景点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15E6BEC-53AD-440F-A71A-55F33668D99B}"/>
              </a:ext>
            </a:extLst>
          </p:cNvPr>
          <p:cNvSpPr>
            <a:spLocks noGrp="1"/>
          </p:cNvSpPr>
          <p:nvPr/>
        </p:nvSpPr>
        <p:spPr>
          <a:xfrm>
            <a:off x="3000375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5121F82-E693-4A35-83E0-23286EBDEDD7}"/>
              </a:ext>
            </a:extLst>
          </p:cNvPr>
          <p:cNvSpPr>
            <a:spLocks noGrp="1"/>
          </p:cNvSpPr>
          <p:nvPr/>
        </p:nvSpPr>
        <p:spPr>
          <a:xfrm>
            <a:off x="4857750" y="34480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热度强、叙事弱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43BED60-7666-4869-99D3-16D95DC3E5E9}"/>
              </a:ext>
            </a:extLst>
          </p:cNvPr>
          <p:cNvSpPr>
            <a:spLocks noGrp="1"/>
          </p:cNvSpPr>
          <p:nvPr/>
        </p:nvSpPr>
        <p:spPr>
          <a:xfrm>
            <a:off x="7048500" y="35528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39EC83EA-EC9C-45A1-89F2-05419F3F3914}"/>
              </a:ext>
            </a:extLst>
          </p:cNvPr>
          <p:cNvSpPr>
            <a:spLocks noGrp="1"/>
          </p:cNvSpPr>
          <p:nvPr/>
        </p:nvSpPr>
        <p:spPr>
          <a:xfrm>
            <a:off x="8905875" y="31813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4" name="矩形: 圆角 23">
            <a:extLst>
              <a:ext uri="{FF2B5EF4-FFF2-40B4-BE49-F238E27FC236}">
                <a16:creationId xmlns:a16="http://schemas.microsoft.com/office/drawing/2014/main" id="{EA4F8AFA-8FC3-4AF4-864F-D0B0D09F46F7}"/>
              </a:ext>
            </a:extLst>
          </p:cNvPr>
          <p:cNvSpPr>
            <a:spLocks noGrp="1"/>
          </p:cNvSpPr>
          <p:nvPr/>
        </p:nvSpPr>
        <p:spPr>
          <a:xfrm>
            <a:off x="9105900" y="33909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补地方叙事、非遗活动、解说与文化内容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3FAF0210-E22E-423E-A53E-683FB236889A}"/>
              </a:ext>
            </a:extLst>
          </p:cNvPr>
          <p:cNvSpPr>
            <a:spLocks noGrp="1"/>
          </p:cNvSpPr>
          <p:nvPr/>
        </p:nvSpPr>
        <p:spPr>
          <a:xfrm>
            <a:off x="952500" y="4324350"/>
            <a:ext cx="1733550" cy="59055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28EF7A1C-5064-4111-B370-E5F0C55DFA9A}"/>
              </a:ext>
            </a:extLst>
          </p:cNvPr>
          <p:cNvSpPr>
            <a:spLocks noGrp="1"/>
          </p:cNvSpPr>
          <p:nvPr/>
        </p:nvSpPr>
        <p:spPr>
          <a:xfrm>
            <a:off x="1162050" y="4505325"/>
            <a:ext cx="1295400" cy="2476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7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8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核心耦合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132ACB9B-8D0D-47AB-B2C0-6E877172F361}"/>
              </a:ext>
            </a:extLst>
          </p:cNvPr>
          <p:cNvSpPr>
            <a:spLocks noGrp="1"/>
          </p:cNvSpPr>
          <p:nvPr/>
        </p:nvSpPr>
        <p:spPr>
          <a:xfrm>
            <a:off x="3000375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C366EAB8-E914-4400-8ED9-8B898860D768}"/>
              </a:ext>
            </a:extLst>
          </p:cNvPr>
          <p:cNvSpPr>
            <a:spLocks noGrp="1"/>
          </p:cNvSpPr>
          <p:nvPr/>
        </p:nvSpPr>
        <p:spPr>
          <a:xfrm>
            <a:off x="4857750" y="4514850"/>
            <a:ext cx="2000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200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1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双高但未必成熟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8A45FD30-BCD9-4658-96BC-C5AF8B04A44C}"/>
              </a:ext>
            </a:extLst>
          </p:cNvPr>
          <p:cNvSpPr>
            <a:spLocks noGrp="1"/>
          </p:cNvSpPr>
          <p:nvPr/>
        </p:nvSpPr>
        <p:spPr>
          <a:xfrm>
            <a:off x="7048500" y="4619625"/>
            <a:ext cx="1619250" cy="19050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: 圆角 29">
            <a:extLst>
              <a:ext uri="{FF2B5EF4-FFF2-40B4-BE49-F238E27FC236}">
                <a16:creationId xmlns:a16="http://schemas.microsoft.com/office/drawing/2014/main" id="{87768B21-AF54-4305-9C5D-2606BB607645}"/>
              </a:ext>
            </a:extLst>
          </p:cNvPr>
          <p:cNvSpPr>
            <a:spLocks noGrp="1"/>
          </p:cNvSpPr>
          <p:nvPr/>
        </p:nvSpPr>
        <p:spPr>
          <a:xfrm>
            <a:off x="8905875" y="4248150"/>
            <a:ext cx="2438400" cy="800100"/>
          </a:xfrm>
          <a:prstGeom prst="roundRect">
            <a:avLst/>
          </a:prstGeom>
          <a:solidFill>
            <a:srgbClr val="FFFFFF">
              <a:alpha val="91765"/>
            </a:srgbClr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31" name="矩形: 圆角 30">
            <a:extLst>
              <a:ext uri="{FF2B5EF4-FFF2-40B4-BE49-F238E27FC236}">
                <a16:creationId xmlns:a16="http://schemas.microsoft.com/office/drawing/2014/main" id="{FD111162-60DE-471E-B8B4-963C8E3CB05E}"/>
              </a:ext>
            </a:extLst>
          </p:cNvPr>
          <p:cNvSpPr>
            <a:spLocks noGrp="1"/>
          </p:cNvSpPr>
          <p:nvPr/>
        </p:nvSpPr>
        <p:spPr>
          <a:xfrm>
            <a:off x="9105900" y="4457700"/>
            <a:ext cx="2000250" cy="40005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84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>
                <a:solidFill>
                  <a:srgbClr val="261F1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作为线路节点继续验证游客文化识别</a:t>
            </a:r>
          </a:p>
        </p:txBody>
      </p:sp>
      <p:sp>
        <p:nvSpPr>
          <p:cNvPr id="32" name="矩形: 圆角 31">
            <a:extLst>
              <a:ext uri="{FF2B5EF4-FFF2-40B4-BE49-F238E27FC236}">
                <a16:creationId xmlns:a16="http://schemas.microsoft.com/office/drawing/2014/main" id="{A192E912-8F38-44C8-A913-A14D1E74B89A}"/>
              </a:ext>
            </a:extLst>
          </p:cNvPr>
          <p:cNvSpPr>
            <a:spLocks noGrp="1"/>
          </p:cNvSpPr>
          <p:nvPr/>
        </p:nvSpPr>
        <p:spPr>
          <a:xfrm>
            <a:off x="2971800" y="5753100"/>
            <a:ext cx="6191250" cy="266700"/>
          </a:xfrm>
          <a:prstGeom prst="round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ctr">
              <a:defRPr sz="10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50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研究结果最终要转成风景园林的空间组织、游线设计和内容运营语言。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40779AB-B6B0-4BDD-7677-38761A2FC88E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04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规划转译与结论边界</a:t>
            </a:r>
          </a:p>
        </p:txBody>
      </p:sp>
    </p:spTree>
    <p:extLst>
      <p:ext uri="{BB962C8B-B14F-4D97-AF65-F5344CB8AC3E}">
        <p14:creationId xmlns:p14="http://schemas.microsoft.com/office/powerpoint/2010/main" val="1995799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48</Words>
  <Application>Microsoft Office PowerPoint</Application>
  <DocSecurity>0</DocSecurity>
  <PresentationFormat>宽屏</PresentationFormat>
  <Paragraphs>15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4" baseType="lpstr"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38</cp:revision>
  <dcterms:created xsi:type="dcterms:W3CDTF">2026-06-02T06:15:18Z</dcterms:created>
  <dcterms:modified xsi:type="dcterms:W3CDTF">2026-06-02T17:41:43Z</dcterms:modified>
</cp:coreProperties>
</file>