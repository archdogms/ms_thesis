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65" r:id="rId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53" d="100"/>
          <a:sy n="153" d="100"/>
        </p:scale>
        <p:origin x="37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图片 32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E8B9885B-1CA8-4B6B-87A1-A5C4283A5C7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B606E9E-65F3-4DE9-A0B6-8F1050A5032F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66675" cy="5524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8308D1E-5E8C-4B3E-A8B7-D8FD5BBEE81B}"/>
              </a:ext>
            </a:extLst>
          </p:cNvPr>
          <p:cNvSpPr>
            <a:spLocks noGrp="1"/>
          </p:cNvSpPr>
          <p:nvPr/>
        </p:nvSpPr>
        <p:spPr>
          <a:xfrm>
            <a:off x="11525250" y="6457950"/>
            <a:ext cx="266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10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26361" y="266700"/>
            <a:ext cx="1149927" cy="4572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8FE1543F-5A1A-47BC-9896-31F1A33D6593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723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第 5.3.5 节、表 5.2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F2CB098-60A9-4A46-83DA-E53CCAF025E1}"/>
              </a:ext>
            </a:extLst>
          </p:cNvPr>
          <p:cNvSpPr>
            <a:spLocks noGrp="1"/>
          </p:cNvSpPr>
          <p:nvPr/>
        </p:nvSpPr>
        <p:spPr>
          <a:xfrm>
            <a:off x="8667750" y="649605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孟帅 · 本科毕业设计答辩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CB5A616-54DD-480C-92F0-3FCB7A78BBBC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9144000" cy="482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sz="2450" b="1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165 </a:t>
            </a:r>
            <a:r>
              <a:rPr lang="zh-CN" altLang="en-US" sz="2450" b="1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条载体的四类错位</a:t>
            </a:r>
            <a:endParaRPr sz="2450" b="1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C7215289-9E07-4ECF-9C17-BF0872AF83AD}"/>
              </a:ext>
            </a:extLst>
          </p:cNvPr>
          <p:cNvSpPr>
            <a:spLocks noGrp="1"/>
          </p:cNvSpPr>
          <p:nvPr/>
        </p:nvSpPr>
        <p:spPr>
          <a:xfrm>
            <a:off x="819150" y="1860550"/>
            <a:ext cx="4857750" cy="1314450"/>
          </a:xfrm>
          <a:prstGeom prst="roundRect">
            <a:avLst/>
          </a:prstGeom>
          <a:solidFill>
            <a:srgbClr val="E9E1F7"/>
          </a:solidFill>
          <a:ln w="9525">
            <a:solidFill>
              <a:srgbClr val="600070"/>
            </a:solidFill>
            <a:prstDash val="solid"/>
          </a:ln>
        </p:spPr>
      </p:sp>
      <p:sp>
        <p:nvSpPr>
          <p:cNvPr id="10" name="Slide10 Intro">
            <a:extLst>
              <a:ext uri="{FF2B5EF4-FFF2-40B4-BE49-F238E27FC236}">
                <a16:creationId xmlns:a16="http://schemas.microsoft.com/office/drawing/2014/main" id="{45D868EB-0985-2363-FBB6-037FD9B661E8}"/>
              </a:ext>
            </a:extLst>
          </p:cNvPr>
          <p:cNvSpPr txBox="1"/>
          <p:nvPr/>
        </p:nvSpPr>
        <p:spPr>
          <a:xfrm>
            <a:off x="787400" y="1308099"/>
            <a:ext cx="9652000" cy="497572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altLang="zh-CN" sz="145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145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四类分层把 </a:t>
            </a:r>
            <a:r>
              <a:rPr lang="en-US" altLang="zh-CN" sz="145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165 </a:t>
            </a:r>
            <a:r>
              <a:rPr lang="zh-CN" altLang="en-US" sz="145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条载体转成可解释的诊断清单。</a:t>
            </a:r>
          </a:p>
          <a:p>
            <a:r>
              <a:rPr lang="en-US" altLang="zh-CN" sz="145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145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沉睡潜力与空心景点合计 </a:t>
            </a:r>
            <a:r>
              <a:rPr lang="en-US" altLang="zh-CN" sz="145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103 </a:t>
            </a:r>
            <a:r>
              <a:rPr lang="zh-CN" altLang="en-US" sz="145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条，占 </a:t>
            </a:r>
            <a:r>
              <a:rPr lang="en-US" altLang="zh-CN" sz="145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62.4%</a:t>
            </a:r>
            <a:r>
              <a:rPr lang="zh-CN" altLang="en-US" sz="145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。</a:t>
            </a:r>
          </a:p>
        </p:txBody>
      </p:sp>
      <p:sp>
        <p:nvSpPr>
          <p:cNvPr id="34" name="Slide10 ChartBox">
            <a:extLst>
              <a:ext uri="{FF2B5EF4-FFF2-40B4-BE49-F238E27FC236}">
                <a16:creationId xmlns:a16="http://schemas.microsoft.com/office/drawing/2014/main" id="{E0168F6D-CFC6-7E19-4294-C76038A6765D}"/>
              </a:ext>
            </a:extLst>
          </p:cNvPr>
          <p:cNvSpPr/>
          <p:nvPr/>
        </p:nvSpPr>
        <p:spPr>
          <a:xfrm>
            <a:off x="914400" y="1790700"/>
            <a:ext cx="6159500" cy="3759200"/>
          </a:xfrm>
          <a:prstGeom prst="roundRect">
            <a:avLst/>
          </a:prstGeom>
          <a:solidFill>
            <a:srgbClr val="FFFFFF">
              <a:alpha val="96000"/>
            </a:srgbClr>
          </a:solidFill>
          <a:ln w="10160">
            <a:solidFill>
              <a:srgbClr val="CDBE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Slide10 ChartTitle">
            <a:extLst>
              <a:ext uri="{FF2B5EF4-FFF2-40B4-BE49-F238E27FC236}">
                <a16:creationId xmlns:a16="http://schemas.microsoft.com/office/drawing/2014/main" id="{926751CD-DE8C-C724-F404-A81901CE4A93}"/>
              </a:ext>
            </a:extLst>
          </p:cNvPr>
          <p:cNvSpPr txBox="1"/>
          <p:nvPr/>
        </p:nvSpPr>
        <p:spPr>
          <a:xfrm>
            <a:off x="1168400" y="2032000"/>
            <a:ext cx="2286000" cy="282129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zh-CN" altLang="en-US" sz="150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四类错位载体数量</a:t>
            </a:r>
          </a:p>
        </p:txBody>
      </p:sp>
      <p:sp>
        <p:nvSpPr>
          <p:cNvPr id="36" name="Slide10 Bar1 Label">
            <a:extLst>
              <a:ext uri="{FF2B5EF4-FFF2-40B4-BE49-F238E27FC236}">
                <a16:creationId xmlns:a16="http://schemas.microsoft.com/office/drawing/2014/main" id="{CC2E0CFF-9AA6-CE34-5561-24EC697FAF07}"/>
              </a:ext>
            </a:extLst>
          </p:cNvPr>
          <p:cNvSpPr txBox="1"/>
          <p:nvPr/>
        </p:nvSpPr>
        <p:spPr>
          <a:xfrm>
            <a:off x="1168400" y="2540000"/>
            <a:ext cx="1295400" cy="254429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zh-CN" altLang="en-US" sz="132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一般耦合</a:t>
            </a:r>
          </a:p>
        </p:txBody>
      </p:sp>
      <p:sp>
        <p:nvSpPr>
          <p:cNvPr id="37" name="Slide10 Bar1 BarBG">
            <a:extLst>
              <a:ext uri="{FF2B5EF4-FFF2-40B4-BE49-F238E27FC236}">
                <a16:creationId xmlns:a16="http://schemas.microsoft.com/office/drawing/2014/main" id="{862309FF-BCF4-6160-0767-8D28A6120B0E}"/>
              </a:ext>
            </a:extLst>
          </p:cNvPr>
          <p:cNvSpPr/>
          <p:nvPr/>
        </p:nvSpPr>
        <p:spPr>
          <a:xfrm>
            <a:off x="2590800" y="2565400"/>
            <a:ext cx="3365500" cy="279400"/>
          </a:xfrm>
          <a:prstGeom prst="roundRect">
            <a:avLst/>
          </a:prstGeom>
          <a:solidFill>
            <a:srgbClr val="EEE9F2">
              <a:alpha val="90000"/>
            </a:srgbClr>
          </a:solidFill>
          <a:ln w="10160">
            <a:solidFill>
              <a:srgbClr val="EEE9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Slide10 Bar1 Bar">
            <a:extLst>
              <a:ext uri="{FF2B5EF4-FFF2-40B4-BE49-F238E27FC236}">
                <a16:creationId xmlns:a16="http://schemas.microsoft.com/office/drawing/2014/main" id="{8E80EC2E-608B-A2F7-CDA7-C4EA390227E6}"/>
              </a:ext>
            </a:extLst>
          </p:cNvPr>
          <p:cNvSpPr/>
          <p:nvPr/>
        </p:nvSpPr>
        <p:spPr>
          <a:xfrm>
            <a:off x="2590800" y="2565400"/>
            <a:ext cx="3365500" cy="279400"/>
          </a:xfrm>
          <a:prstGeom prst="roundRect">
            <a:avLst/>
          </a:prstGeom>
          <a:solidFill>
            <a:srgbClr val="6F2184"/>
          </a:solidFill>
          <a:ln w="1016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Slide10 Bar1 Value">
            <a:extLst>
              <a:ext uri="{FF2B5EF4-FFF2-40B4-BE49-F238E27FC236}">
                <a16:creationId xmlns:a16="http://schemas.microsoft.com/office/drawing/2014/main" id="{8B0DB231-FE6E-05DB-D770-18279E3B2954}"/>
              </a:ext>
            </a:extLst>
          </p:cNvPr>
          <p:cNvSpPr txBox="1"/>
          <p:nvPr/>
        </p:nvSpPr>
        <p:spPr>
          <a:xfrm>
            <a:off x="6083300" y="2578100"/>
            <a:ext cx="1016000" cy="248273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altLang="zh-CN" sz="128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57 / 34.5%</a:t>
            </a:r>
            <a:endParaRPr lang="zh-CN" altLang="en-US" sz="1280" b="1">
              <a:solidFill>
                <a:srgbClr val="7E006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0" name="Slide10 Bar2 Label">
            <a:extLst>
              <a:ext uri="{FF2B5EF4-FFF2-40B4-BE49-F238E27FC236}">
                <a16:creationId xmlns:a16="http://schemas.microsoft.com/office/drawing/2014/main" id="{C13D8C86-D13C-577E-BC73-64E705E68AF1}"/>
              </a:ext>
            </a:extLst>
          </p:cNvPr>
          <p:cNvSpPr txBox="1"/>
          <p:nvPr/>
        </p:nvSpPr>
        <p:spPr>
          <a:xfrm>
            <a:off x="1168400" y="3175000"/>
            <a:ext cx="1295400" cy="254429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zh-CN" altLang="en-US" sz="132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沉睡潜力</a:t>
            </a:r>
          </a:p>
        </p:txBody>
      </p:sp>
      <p:sp>
        <p:nvSpPr>
          <p:cNvPr id="41" name="Slide10 Bar2 BarBG">
            <a:extLst>
              <a:ext uri="{FF2B5EF4-FFF2-40B4-BE49-F238E27FC236}">
                <a16:creationId xmlns:a16="http://schemas.microsoft.com/office/drawing/2014/main" id="{4FBE33F9-BAAC-E0A4-54C7-C30D586C9D3F}"/>
              </a:ext>
            </a:extLst>
          </p:cNvPr>
          <p:cNvSpPr/>
          <p:nvPr/>
        </p:nvSpPr>
        <p:spPr>
          <a:xfrm>
            <a:off x="2590800" y="3200400"/>
            <a:ext cx="3365500" cy="279400"/>
          </a:xfrm>
          <a:prstGeom prst="roundRect">
            <a:avLst/>
          </a:prstGeom>
          <a:solidFill>
            <a:srgbClr val="EEE9F2">
              <a:alpha val="90000"/>
            </a:srgbClr>
          </a:solidFill>
          <a:ln w="10160">
            <a:solidFill>
              <a:srgbClr val="EEE9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Slide10 Bar2 Bar">
            <a:extLst>
              <a:ext uri="{FF2B5EF4-FFF2-40B4-BE49-F238E27FC236}">
                <a16:creationId xmlns:a16="http://schemas.microsoft.com/office/drawing/2014/main" id="{1CEDB32F-804C-8B42-911A-41D04D085F87}"/>
              </a:ext>
            </a:extLst>
          </p:cNvPr>
          <p:cNvSpPr/>
          <p:nvPr/>
        </p:nvSpPr>
        <p:spPr>
          <a:xfrm>
            <a:off x="2590800" y="3200400"/>
            <a:ext cx="3188368" cy="279400"/>
          </a:xfrm>
          <a:prstGeom prst="roundRect">
            <a:avLst/>
          </a:prstGeom>
          <a:solidFill>
            <a:srgbClr val="C1564F"/>
          </a:solidFill>
          <a:ln w="1016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Slide10 Bar2 Value">
            <a:extLst>
              <a:ext uri="{FF2B5EF4-FFF2-40B4-BE49-F238E27FC236}">
                <a16:creationId xmlns:a16="http://schemas.microsoft.com/office/drawing/2014/main" id="{DA42F488-0D0A-618C-F601-8DA843838BFE}"/>
              </a:ext>
            </a:extLst>
          </p:cNvPr>
          <p:cNvSpPr txBox="1"/>
          <p:nvPr/>
        </p:nvSpPr>
        <p:spPr>
          <a:xfrm>
            <a:off x="6083300" y="3213100"/>
            <a:ext cx="1016000" cy="248273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altLang="zh-CN" sz="128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54 / 32.7%</a:t>
            </a:r>
            <a:endParaRPr lang="zh-CN" altLang="en-US" sz="1280" b="1">
              <a:solidFill>
                <a:srgbClr val="7E006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4" name="Slide10 Bar3 Label">
            <a:extLst>
              <a:ext uri="{FF2B5EF4-FFF2-40B4-BE49-F238E27FC236}">
                <a16:creationId xmlns:a16="http://schemas.microsoft.com/office/drawing/2014/main" id="{EF167557-E30D-770A-F1A6-8B0118E142EA}"/>
              </a:ext>
            </a:extLst>
          </p:cNvPr>
          <p:cNvSpPr txBox="1"/>
          <p:nvPr/>
        </p:nvSpPr>
        <p:spPr>
          <a:xfrm>
            <a:off x="1168400" y="3810000"/>
            <a:ext cx="1295400" cy="254429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zh-CN" altLang="en-US" sz="132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空心景点</a:t>
            </a:r>
          </a:p>
        </p:txBody>
      </p:sp>
      <p:sp>
        <p:nvSpPr>
          <p:cNvPr id="45" name="Slide10 Bar3 BarBG">
            <a:extLst>
              <a:ext uri="{FF2B5EF4-FFF2-40B4-BE49-F238E27FC236}">
                <a16:creationId xmlns:a16="http://schemas.microsoft.com/office/drawing/2014/main" id="{BB4F602E-0920-C0FF-3C12-A81E283A85F5}"/>
              </a:ext>
            </a:extLst>
          </p:cNvPr>
          <p:cNvSpPr/>
          <p:nvPr/>
        </p:nvSpPr>
        <p:spPr>
          <a:xfrm>
            <a:off x="2590800" y="3835400"/>
            <a:ext cx="3365500" cy="279400"/>
          </a:xfrm>
          <a:prstGeom prst="roundRect">
            <a:avLst/>
          </a:prstGeom>
          <a:solidFill>
            <a:srgbClr val="EEE9F2">
              <a:alpha val="90000"/>
            </a:srgbClr>
          </a:solidFill>
          <a:ln w="10160">
            <a:solidFill>
              <a:srgbClr val="EEE9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Slide10 Bar3 Bar">
            <a:extLst>
              <a:ext uri="{FF2B5EF4-FFF2-40B4-BE49-F238E27FC236}">
                <a16:creationId xmlns:a16="http://schemas.microsoft.com/office/drawing/2014/main" id="{17D58EEE-596E-EC9D-C260-D0EE46F1D477}"/>
              </a:ext>
            </a:extLst>
          </p:cNvPr>
          <p:cNvSpPr/>
          <p:nvPr/>
        </p:nvSpPr>
        <p:spPr>
          <a:xfrm>
            <a:off x="2590800" y="3835400"/>
            <a:ext cx="2893149" cy="279400"/>
          </a:xfrm>
          <a:prstGeom prst="roundRect">
            <a:avLst/>
          </a:prstGeom>
          <a:solidFill>
            <a:srgbClr val="56849E"/>
          </a:solidFill>
          <a:ln w="1016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Slide10 Bar3 Value">
            <a:extLst>
              <a:ext uri="{FF2B5EF4-FFF2-40B4-BE49-F238E27FC236}">
                <a16:creationId xmlns:a16="http://schemas.microsoft.com/office/drawing/2014/main" id="{6288F71C-564C-B65C-E758-28DD8A78DEC3}"/>
              </a:ext>
            </a:extLst>
          </p:cNvPr>
          <p:cNvSpPr txBox="1"/>
          <p:nvPr/>
        </p:nvSpPr>
        <p:spPr>
          <a:xfrm>
            <a:off x="6083300" y="3848100"/>
            <a:ext cx="1016000" cy="248273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altLang="zh-CN" sz="128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49 / 29.7%</a:t>
            </a:r>
            <a:endParaRPr lang="zh-CN" altLang="en-US" sz="1280" b="1">
              <a:solidFill>
                <a:srgbClr val="7E006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8" name="Slide10 Bar4 Label">
            <a:extLst>
              <a:ext uri="{FF2B5EF4-FFF2-40B4-BE49-F238E27FC236}">
                <a16:creationId xmlns:a16="http://schemas.microsoft.com/office/drawing/2014/main" id="{FE500F35-6ED1-8C92-8EC3-CF08085C5D18}"/>
              </a:ext>
            </a:extLst>
          </p:cNvPr>
          <p:cNvSpPr txBox="1"/>
          <p:nvPr/>
        </p:nvSpPr>
        <p:spPr>
          <a:xfrm>
            <a:off x="1168400" y="4445000"/>
            <a:ext cx="1295400" cy="254429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zh-CN" altLang="en-US" sz="132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核心耦合</a:t>
            </a:r>
          </a:p>
        </p:txBody>
      </p:sp>
      <p:sp>
        <p:nvSpPr>
          <p:cNvPr id="49" name="Slide10 Bar4 BarBG">
            <a:extLst>
              <a:ext uri="{FF2B5EF4-FFF2-40B4-BE49-F238E27FC236}">
                <a16:creationId xmlns:a16="http://schemas.microsoft.com/office/drawing/2014/main" id="{FA15519A-7CB2-917C-1A29-51E17DC60D53}"/>
              </a:ext>
            </a:extLst>
          </p:cNvPr>
          <p:cNvSpPr/>
          <p:nvPr/>
        </p:nvSpPr>
        <p:spPr>
          <a:xfrm>
            <a:off x="2590800" y="4470400"/>
            <a:ext cx="3365500" cy="279400"/>
          </a:xfrm>
          <a:prstGeom prst="roundRect">
            <a:avLst/>
          </a:prstGeom>
          <a:solidFill>
            <a:srgbClr val="EEE9F2">
              <a:alpha val="90000"/>
            </a:srgbClr>
          </a:solidFill>
          <a:ln w="10160">
            <a:solidFill>
              <a:srgbClr val="EEE9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" name="Slide10 Bar4 Bar">
            <a:extLst>
              <a:ext uri="{FF2B5EF4-FFF2-40B4-BE49-F238E27FC236}">
                <a16:creationId xmlns:a16="http://schemas.microsoft.com/office/drawing/2014/main" id="{F0B368B6-9613-1313-2C1F-1B78E01942AC}"/>
              </a:ext>
            </a:extLst>
          </p:cNvPr>
          <p:cNvSpPr/>
          <p:nvPr/>
        </p:nvSpPr>
        <p:spPr>
          <a:xfrm>
            <a:off x="2590800" y="4470400"/>
            <a:ext cx="295219" cy="279400"/>
          </a:xfrm>
          <a:prstGeom prst="roundRect">
            <a:avLst/>
          </a:prstGeom>
          <a:solidFill>
            <a:srgbClr val="60937D"/>
          </a:solidFill>
          <a:ln w="1016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" name="Slide10 Bar4 Value">
            <a:extLst>
              <a:ext uri="{FF2B5EF4-FFF2-40B4-BE49-F238E27FC236}">
                <a16:creationId xmlns:a16="http://schemas.microsoft.com/office/drawing/2014/main" id="{1E1B7FC0-CBC5-C643-C537-65A7FBB51A85}"/>
              </a:ext>
            </a:extLst>
          </p:cNvPr>
          <p:cNvSpPr txBox="1"/>
          <p:nvPr/>
        </p:nvSpPr>
        <p:spPr>
          <a:xfrm>
            <a:off x="6083300" y="4483100"/>
            <a:ext cx="1016000" cy="248273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altLang="zh-CN" sz="128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 / 3.0%</a:t>
            </a:r>
            <a:endParaRPr lang="zh-CN" altLang="en-US" sz="1280" b="1">
              <a:solidFill>
                <a:srgbClr val="7E006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2" name="Slide10 BigNumberBox">
            <a:extLst>
              <a:ext uri="{FF2B5EF4-FFF2-40B4-BE49-F238E27FC236}">
                <a16:creationId xmlns:a16="http://schemas.microsoft.com/office/drawing/2014/main" id="{D30C5A58-A789-9FE0-0B38-B83686F159AB}"/>
              </a:ext>
            </a:extLst>
          </p:cNvPr>
          <p:cNvSpPr/>
          <p:nvPr/>
        </p:nvSpPr>
        <p:spPr>
          <a:xfrm>
            <a:off x="7556500" y="1930400"/>
            <a:ext cx="3302000" cy="1117600"/>
          </a:xfrm>
          <a:prstGeom prst="roundRect">
            <a:avLst/>
          </a:prstGeom>
          <a:solidFill>
            <a:srgbClr val="FFFFFF">
              <a:alpha val="96000"/>
            </a:srgbClr>
          </a:solidFill>
          <a:ln w="10160">
            <a:solidFill>
              <a:srgbClr val="CDBE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Slide10 BigNumber">
            <a:extLst>
              <a:ext uri="{FF2B5EF4-FFF2-40B4-BE49-F238E27FC236}">
                <a16:creationId xmlns:a16="http://schemas.microsoft.com/office/drawing/2014/main" id="{C2AD37E8-A477-8705-6F12-5D1E9C0D2873}"/>
              </a:ext>
            </a:extLst>
          </p:cNvPr>
          <p:cNvSpPr txBox="1"/>
          <p:nvPr/>
        </p:nvSpPr>
        <p:spPr>
          <a:xfrm>
            <a:off x="7810500" y="2133600"/>
            <a:ext cx="27940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2200" b="1">
                <a:solidFill>
                  <a:srgbClr val="C1564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103 </a:t>
            </a:r>
            <a:r>
              <a:rPr lang="zh-CN" altLang="en-US" sz="2200" b="1">
                <a:solidFill>
                  <a:srgbClr val="C1564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条 </a:t>
            </a:r>
            <a:r>
              <a:rPr lang="en-US" altLang="zh-CN" sz="2200" b="1">
                <a:solidFill>
                  <a:srgbClr val="C1564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 62.4%</a:t>
            </a:r>
            <a:endParaRPr lang="zh-CN" altLang="en-US" sz="2200" b="1">
              <a:solidFill>
                <a:srgbClr val="C1564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4" name="Slide10 BigNumberText">
            <a:extLst>
              <a:ext uri="{FF2B5EF4-FFF2-40B4-BE49-F238E27FC236}">
                <a16:creationId xmlns:a16="http://schemas.microsoft.com/office/drawing/2014/main" id="{8F017508-54B5-0546-2B18-43AB18168195}"/>
              </a:ext>
            </a:extLst>
          </p:cNvPr>
          <p:cNvSpPr txBox="1"/>
          <p:nvPr/>
        </p:nvSpPr>
        <p:spPr>
          <a:xfrm>
            <a:off x="7810500" y="2616200"/>
            <a:ext cx="2730500" cy="414472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zh-CN" altLang="en-US"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沉睡潜力 </a:t>
            </a:r>
            <a:r>
              <a:rPr lang="en-US" altLang="zh-CN"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+ </a:t>
            </a:r>
            <a:r>
              <a:rPr lang="zh-CN" altLang="en-US"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空心景点，说明主要问题是承接关系错位。</a:t>
            </a:r>
          </a:p>
        </p:txBody>
      </p:sp>
      <p:sp>
        <p:nvSpPr>
          <p:cNvPr id="55" name="Slide10 Card1 Card">
            <a:extLst>
              <a:ext uri="{FF2B5EF4-FFF2-40B4-BE49-F238E27FC236}">
                <a16:creationId xmlns:a16="http://schemas.microsoft.com/office/drawing/2014/main" id="{66432AAA-7F23-3C87-232F-CA71EF2616E6}"/>
              </a:ext>
            </a:extLst>
          </p:cNvPr>
          <p:cNvSpPr/>
          <p:nvPr/>
        </p:nvSpPr>
        <p:spPr>
          <a:xfrm>
            <a:off x="7556500" y="3454400"/>
            <a:ext cx="1587500" cy="1041400"/>
          </a:xfrm>
          <a:prstGeom prst="roundRect">
            <a:avLst/>
          </a:prstGeom>
          <a:solidFill>
            <a:srgbClr val="FFFFFF">
              <a:alpha val="97000"/>
            </a:srgbClr>
          </a:solidFill>
          <a:ln w="10160">
            <a:solidFill>
              <a:srgbClr val="CDBE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" name="Slide10 Card1 Accent">
            <a:extLst>
              <a:ext uri="{FF2B5EF4-FFF2-40B4-BE49-F238E27FC236}">
                <a16:creationId xmlns:a16="http://schemas.microsoft.com/office/drawing/2014/main" id="{1F4A0FF4-C05F-3058-F5F9-D0533908AF46}"/>
              </a:ext>
            </a:extLst>
          </p:cNvPr>
          <p:cNvSpPr/>
          <p:nvPr/>
        </p:nvSpPr>
        <p:spPr>
          <a:xfrm>
            <a:off x="7556500" y="3454400"/>
            <a:ext cx="1587500" cy="50800"/>
          </a:xfrm>
          <a:prstGeom prst="rect">
            <a:avLst/>
          </a:prstGeom>
          <a:solidFill>
            <a:srgbClr val="C1564F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" name="Slide10 Card1 Head">
            <a:extLst>
              <a:ext uri="{FF2B5EF4-FFF2-40B4-BE49-F238E27FC236}">
                <a16:creationId xmlns:a16="http://schemas.microsoft.com/office/drawing/2014/main" id="{27E5AB93-AF10-C3FC-5377-28FC20159DE8}"/>
              </a:ext>
            </a:extLst>
          </p:cNvPr>
          <p:cNvSpPr txBox="1"/>
          <p:nvPr/>
        </p:nvSpPr>
        <p:spPr>
          <a:xfrm>
            <a:off x="7683500" y="3619500"/>
            <a:ext cx="1333500" cy="254429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zh-CN" altLang="en-US" sz="132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沉睡潜力</a:t>
            </a:r>
          </a:p>
        </p:txBody>
      </p:sp>
      <p:sp>
        <p:nvSpPr>
          <p:cNvPr id="58" name="Slide10 Card1 Body">
            <a:extLst>
              <a:ext uri="{FF2B5EF4-FFF2-40B4-BE49-F238E27FC236}">
                <a16:creationId xmlns:a16="http://schemas.microsoft.com/office/drawing/2014/main" id="{51409277-276B-F52D-5383-0F077F13A4EC}"/>
              </a:ext>
            </a:extLst>
          </p:cNvPr>
          <p:cNvSpPr txBox="1"/>
          <p:nvPr/>
        </p:nvSpPr>
        <p:spPr>
          <a:xfrm>
            <a:off x="7683500" y="3886200"/>
            <a:ext cx="1333500" cy="405239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zh-CN" altLang="en-US" sz="11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文化强、热度弱；补可达与展示。</a:t>
            </a:r>
          </a:p>
        </p:txBody>
      </p:sp>
      <p:sp>
        <p:nvSpPr>
          <p:cNvPr id="59" name="Slide10 Card2 Card">
            <a:extLst>
              <a:ext uri="{FF2B5EF4-FFF2-40B4-BE49-F238E27FC236}">
                <a16:creationId xmlns:a16="http://schemas.microsoft.com/office/drawing/2014/main" id="{7687E133-E040-C051-4007-E435DDD7B379}"/>
              </a:ext>
            </a:extLst>
          </p:cNvPr>
          <p:cNvSpPr/>
          <p:nvPr/>
        </p:nvSpPr>
        <p:spPr>
          <a:xfrm>
            <a:off x="9334500" y="3454400"/>
            <a:ext cx="1587500" cy="1041400"/>
          </a:xfrm>
          <a:prstGeom prst="roundRect">
            <a:avLst/>
          </a:prstGeom>
          <a:solidFill>
            <a:srgbClr val="FFFFFF">
              <a:alpha val="97000"/>
            </a:srgbClr>
          </a:solidFill>
          <a:ln w="10160">
            <a:solidFill>
              <a:srgbClr val="CDBE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" name="Slide10 Card2 Accent">
            <a:extLst>
              <a:ext uri="{FF2B5EF4-FFF2-40B4-BE49-F238E27FC236}">
                <a16:creationId xmlns:a16="http://schemas.microsoft.com/office/drawing/2014/main" id="{16858A7D-D3C6-AE08-719F-204FEFA6529D}"/>
              </a:ext>
            </a:extLst>
          </p:cNvPr>
          <p:cNvSpPr/>
          <p:nvPr/>
        </p:nvSpPr>
        <p:spPr>
          <a:xfrm>
            <a:off x="9334500" y="3454400"/>
            <a:ext cx="1587500" cy="50800"/>
          </a:xfrm>
          <a:prstGeom prst="rect">
            <a:avLst/>
          </a:prstGeom>
          <a:solidFill>
            <a:srgbClr val="56849E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1" name="Slide10 Card2 Head">
            <a:extLst>
              <a:ext uri="{FF2B5EF4-FFF2-40B4-BE49-F238E27FC236}">
                <a16:creationId xmlns:a16="http://schemas.microsoft.com/office/drawing/2014/main" id="{191FAAA2-2A92-4027-D4C1-92AC5983C891}"/>
              </a:ext>
            </a:extLst>
          </p:cNvPr>
          <p:cNvSpPr txBox="1"/>
          <p:nvPr/>
        </p:nvSpPr>
        <p:spPr>
          <a:xfrm>
            <a:off x="9461500" y="3619500"/>
            <a:ext cx="1333500" cy="254429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zh-CN" altLang="en-US" sz="132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空心景点</a:t>
            </a:r>
          </a:p>
        </p:txBody>
      </p:sp>
      <p:sp>
        <p:nvSpPr>
          <p:cNvPr id="62" name="Slide10 Card2 Body">
            <a:extLst>
              <a:ext uri="{FF2B5EF4-FFF2-40B4-BE49-F238E27FC236}">
                <a16:creationId xmlns:a16="http://schemas.microsoft.com/office/drawing/2014/main" id="{17D0DD43-2518-B114-47CD-AA43A0E9D3BD}"/>
              </a:ext>
            </a:extLst>
          </p:cNvPr>
          <p:cNvSpPr txBox="1"/>
          <p:nvPr/>
        </p:nvSpPr>
        <p:spPr>
          <a:xfrm>
            <a:off x="9461500" y="3886200"/>
            <a:ext cx="1333500" cy="405239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zh-CN" altLang="en-US" sz="11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热度高、叙事弱；补解说与活动。</a:t>
            </a:r>
          </a:p>
        </p:txBody>
      </p:sp>
      <p:sp>
        <p:nvSpPr>
          <p:cNvPr id="63" name="Slide10 Card3 Card">
            <a:extLst>
              <a:ext uri="{FF2B5EF4-FFF2-40B4-BE49-F238E27FC236}">
                <a16:creationId xmlns:a16="http://schemas.microsoft.com/office/drawing/2014/main" id="{399D48D6-1FD6-3111-7594-1F40D797BFD9}"/>
              </a:ext>
            </a:extLst>
          </p:cNvPr>
          <p:cNvSpPr/>
          <p:nvPr/>
        </p:nvSpPr>
        <p:spPr>
          <a:xfrm>
            <a:off x="7556500" y="4724400"/>
            <a:ext cx="1587500" cy="889000"/>
          </a:xfrm>
          <a:prstGeom prst="roundRect">
            <a:avLst/>
          </a:prstGeom>
          <a:solidFill>
            <a:srgbClr val="FFFFFF">
              <a:alpha val="97000"/>
            </a:srgbClr>
          </a:solidFill>
          <a:ln w="10160">
            <a:solidFill>
              <a:srgbClr val="CDBE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" name="Slide10 Card3 Accent">
            <a:extLst>
              <a:ext uri="{FF2B5EF4-FFF2-40B4-BE49-F238E27FC236}">
                <a16:creationId xmlns:a16="http://schemas.microsoft.com/office/drawing/2014/main" id="{B1A00C95-3993-2D8C-046B-206A8C6EA4C4}"/>
              </a:ext>
            </a:extLst>
          </p:cNvPr>
          <p:cNvSpPr/>
          <p:nvPr/>
        </p:nvSpPr>
        <p:spPr>
          <a:xfrm>
            <a:off x="7556500" y="4724400"/>
            <a:ext cx="1587500" cy="50800"/>
          </a:xfrm>
          <a:prstGeom prst="rect">
            <a:avLst/>
          </a:prstGeom>
          <a:solidFill>
            <a:srgbClr val="60937D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5" name="Slide10 Card3 Head">
            <a:extLst>
              <a:ext uri="{FF2B5EF4-FFF2-40B4-BE49-F238E27FC236}">
                <a16:creationId xmlns:a16="http://schemas.microsoft.com/office/drawing/2014/main" id="{6E7F8884-987C-7464-2F15-A5038CD0803D}"/>
              </a:ext>
            </a:extLst>
          </p:cNvPr>
          <p:cNvSpPr txBox="1"/>
          <p:nvPr/>
        </p:nvSpPr>
        <p:spPr>
          <a:xfrm>
            <a:off x="7683500" y="4889500"/>
            <a:ext cx="1333500" cy="254429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zh-CN" altLang="en-US" sz="132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核心耦合</a:t>
            </a:r>
          </a:p>
        </p:txBody>
      </p:sp>
      <p:sp>
        <p:nvSpPr>
          <p:cNvPr id="66" name="Slide10 Card3 Body">
            <a:extLst>
              <a:ext uri="{FF2B5EF4-FFF2-40B4-BE49-F238E27FC236}">
                <a16:creationId xmlns:a16="http://schemas.microsoft.com/office/drawing/2014/main" id="{2FE7C616-D891-C044-3D4F-1A5F5F19D3E7}"/>
              </a:ext>
            </a:extLst>
          </p:cNvPr>
          <p:cNvSpPr txBox="1"/>
          <p:nvPr/>
        </p:nvSpPr>
        <p:spPr>
          <a:xfrm>
            <a:off x="7683500" y="5156200"/>
            <a:ext cx="1333500" cy="405239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zh-CN" altLang="en-US" sz="11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双高节点，优先做线路样本。</a:t>
            </a:r>
          </a:p>
        </p:txBody>
      </p:sp>
      <p:sp>
        <p:nvSpPr>
          <p:cNvPr id="67" name="Slide10 Card4 Card">
            <a:extLst>
              <a:ext uri="{FF2B5EF4-FFF2-40B4-BE49-F238E27FC236}">
                <a16:creationId xmlns:a16="http://schemas.microsoft.com/office/drawing/2014/main" id="{178C504D-C29A-94F2-BA0D-A901772B8E2C}"/>
              </a:ext>
            </a:extLst>
          </p:cNvPr>
          <p:cNvSpPr/>
          <p:nvPr/>
        </p:nvSpPr>
        <p:spPr>
          <a:xfrm>
            <a:off x="9334500" y="4724400"/>
            <a:ext cx="1587500" cy="889000"/>
          </a:xfrm>
          <a:prstGeom prst="roundRect">
            <a:avLst/>
          </a:prstGeom>
          <a:solidFill>
            <a:srgbClr val="FFFFFF">
              <a:alpha val="97000"/>
            </a:srgbClr>
          </a:solidFill>
          <a:ln w="10160">
            <a:solidFill>
              <a:srgbClr val="CDBE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8" name="Slide10 Card4 Accent">
            <a:extLst>
              <a:ext uri="{FF2B5EF4-FFF2-40B4-BE49-F238E27FC236}">
                <a16:creationId xmlns:a16="http://schemas.microsoft.com/office/drawing/2014/main" id="{4B69E3B3-9106-F8FC-02E3-0D03F889415C}"/>
              </a:ext>
            </a:extLst>
          </p:cNvPr>
          <p:cNvSpPr/>
          <p:nvPr/>
        </p:nvSpPr>
        <p:spPr>
          <a:xfrm>
            <a:off x="9334500" y="4724400"/>
            <a:ext cx="1587500" cy="50800"/>
          </a:xfrm>
          <a:prstGeom prst="rect">
            <a:avLst/>
          </a:prstGeom>
          <a:solidFill>
            <a:srgbClr val="6F2184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9" name="Slide10 Card4 Head">
            <a:extLst>
              <a:ext uri="{FF2B5EF4-FFF2-40B4-BE49-F238E27FC236}">
                <a16:creationId xmlns:a16="http://schemas.microsoft.com/office/drawing/2014/main" id="{63B3ED78-5608-C545-1D15-B8878D7660DE}"/>
              </a:ext>
            </a:extLst>
          </p:cNvPr>
          <p:cNvSpPr txBox="1"/>
          <p:nvPr/>
        </p:nvSpPr>
        <p:spPr>
          <a:xfrm>
            <a:off x="9461500" y="4889500"/>
            <a:ext cx="1333500" cy="254429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zh-CN" altLang="en-US" sz="132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一般耦合</a:t>
            </a:r>
          </a:p>
        </p:txBody>
      </p:sp>
      <p:sp>
        <p:nvSpPr>
          <p:cNvPr id="70" name="Slide10 Card4 Body">
            <a:extLst>
              <a:ext uri="{FF2B5EF4-FFF2-40B4-BE49-F238E27FC236}">
                <a16:creationId xmlns:a16="http://schemas.microsoft.com/office/drawing/2014/main" id="{9AA8BD66-E869-BD9C-9DE3-49F57CFA9A28}"/>
              </a:ext>
            </a:extLst>
          </p:cNvPr>
          <p:cNvSpPr txBox="1"/>
          <p:nvPr/>
        </p:nvSpPr>
        <p:spPr>
          <a:xfrm>
            <a:off x="9461500" y="5156200"/>
            <a:ext cx="1333500" cy="414472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zh-CN" altLang="en-US" sz="11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过渡样本，检验承接稳定性。</a:t>
            </a:r>
          </a:p>
        </p:txBody>
      </p:sp>
      <p:sp>
        <p:nvSpPr>
          <p:cNvPr id="71" name="Slide10 FootExplain">
            <a:extLst>
              <a:ext uri="{FF2B5EF4-FFF2-40B4-BE49-F238E27FC236}">
                <a16:creationId xmlns:a16="http://schemas.microsoft.com/office/drawing/2014/main" id="{6B00FC27-BA2C-77A9-ABFC-299B097BD6A8}"/>
              </a:ext>
            </a:extLst>
          </p:cNvPr>
          <p:cNvSpPr txBox="1"/>
          <p:nvPr/>
        </p:nvSpPr>
        <p:spPr>
          <a:xfrm>
            <a:off x="1905000" y="5816600"/>
            <a:ext cx="8255000" cy="239040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zh-CN" altLang="en-US" sz="122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读法：数量越大越常见；后续建议重点围绕“沉睡”和“空心”两类展开。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B5D0A00E-DDC4-74BF-0FDB-0E49791E2C0E}"/>
              </a:ext>
            </a:extLst>
          </p:cNvPr>
          <p:cNvSpPr txBox="1"/>
          <p:nvPr/>
        </p:nvSpPr>
        <p:spPr>
          <a:xfrm>
            <a:off x="571500" y="177800"/>
            <a:ext cx="68580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03 | </a:t>
            </a:r>
            <a:r>
              <a:rPr lang="zh-CN" altLang="en-US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结果诊断与空间格局</a:t>
            </a:r>
          </a:p>
        </p:txBody>
      </p:sp>
    </p:spTree>
    <p:extLst>
      <p:ext uri="{BB962C8B-B14F-4D97-AF65-F5344CB8AC3E}">
        <p14:creationId xmlns:p14="http://schemas.microsoft.com/office/powerpoint/2010/main" val="1573156842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167</Words>
  <Application>Microsoft Office PowerPoint</Application>
  <DocSecurity>0</DocSecurity>
  <PresentationFormat>宽屏</PresentationFormat>
  <Paragraphs>27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4" baseType="lpstr">
      <vt:lpstr>Microsoft YaHei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帅 孟</cp:lastModifiedBy>
  <cp:revision>43</cp:revision>
  <dcterms:created xsi:type="dcterms:W3CDTF">2026-06-02T06:15:18Z</dcterms:created>
  <dcterms:modified xsi:type="dcterms:W3CDTF">2026-06-03T04:38:26Z</dcterms:modified>
</cp:coreProperties>
</file>