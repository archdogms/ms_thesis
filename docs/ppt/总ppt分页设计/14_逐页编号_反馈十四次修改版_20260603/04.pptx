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1.2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双谱系耦合的连接口径</a:t>
            </a:r>
            <a:endParaRPr sz="2400" b="1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16" name="Round14 Top Bullets">
            <a:extLst>
              <a:ext uri="{FF2B5EF4-FFF2-40B4-BE49-F238E27FC236}">
                <a16:creationId xmlns:a16="http://schemas.microsoft.com/office/drawing/2014/main" id="{3CA1815F-C829-0A09-B661-1DA46F433145}"/>
              </a:ext>
            </a:extLst>
          </p:cNvPr>
          <p:cNvSpPr txBox="1"/>
          <p:nvPr/>
        </p:nvSpPr>
        <p:spPr>
          <a:xfrm>
            <a:off x="889000" y="1181100"/>
            <a:ext cx="10414000" cy="4493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文化谱系来自典籍文本和知识图谱，旅游谱系来自 </a:t>
            </a:r>
            <a:r>
              <a:rPr lang="en-US" altLang="zh-CN" sz="14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4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、评分和评论。</a:t>
            </a:r>
          </a:p>
          <a:p>
            <a:r>
              <a:rPr lang="en-US" altLang="zh-CN" sz="14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二者不直接相加，而是通过文化景点 </a:t>
            </a:r>
            <a:r>
              <a:rPr lang="en-US" altLang="zh-CN" sz="14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文化载体锚点落到同一空间对象。</a:t>
            </a:r>
          </a:p>
        </p:txBody>
      </p:sp>
      <p:sp>
        <p:nvSpPr>
          <p:cNvPr id="19" name="Round14 Framework Card">
            <a:extLst>
              <a:ext uri="{FF2B5EF4-FFF2-40B4-BE49-F238E27FC236}">
                <a16:creationId xmlns:a16="http://schemas.microsoft.com/office/drawing/2014/main" id="{954CB801-2CB8-0431-E024-66C91B642B78}"/>
              </a:ext>
            </a:extLst>
          </p:cNvPr>
          <p:cNvSpPr/>
          <p:nvPr/>
        </p:nvSpPr>
        <p:spPr>
          <a:xfrm>
            <a:off x="889000" y="2032000"/>
            <a:ext cx="3111500" cy="2260600"/>
          </a:xfrm>
          <a:prstGeom prst="roundRect">
            <a:avLst/>
          </a:prstGeom>
          <a:solidFill>
            <a:srgbClr val="FBF7FD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ound14 Framework Accent">
            <a:extLst>
              <a:ext uri="{FF2B5EF4-FFF2-40B4-BE49-F238E27FC236}">
                <a16:creationId xmlns:a16="http://schemas.microsoft.com/office/drawing/2014/main" id="{69AD4F3C-DAE6-55F7-508A-9782369B524A}"/>
              </a:ext>
            </a:extLst>
          </p:cNvPr>
          <p:cNvSpPr/>
          <p:nvPr/>
        </p:nvSpPr>
        <p:spPr>
          <a:xfrm>
            <a:off x="889000" y="2032000"/>
            <a:ext cx="3111500" cy="635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ound14 Framework Card Title">
            <a:extLst>
              <a:ext uri="{FF2B5EF4-FFF2-40B4-BE49-F238E27FC236}">
                <a16:creationId xmlns:a16="http://schemas.microsoft.com/office/drawing/2014/main" id="{F869D0EB-9898-1356-43A5-CF59E943377D}"/>
              </a:ext>
            </a:extLst>
          </p:cNvPr>
          <p:cNvSpPr txBox="1"/>
          <p:nvPr/>
        </p:nvSpPr>
        <p:spPr>
          <a:xfrm>
            <a:off x="1066800" y="2235200"/>
            <a:ext cx="2755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文化谱系（典籍）</a:t>
            </a:r>
          </a:p>
        </p:txBody>
      </p:sp>
      <p:sp>
        <p:nvSpPr>
          <p:cNvPr id="28" name="Round14 Framework Card Body">
            <a:extLst>
              <a:ext uri="{FF2B5EF4-FFF2-40B4-BE49-F238E27FC236}">
                <a16:creationId xmlns:a16="http://schemas.microsoft.com/office/drawing/2014/main" id="{F2C03483-B8A0-2F4B-CB95-3DB5971DF0A1}"/>
              </a:ext>
            </a:extLst>
          </p:cNvPr>
          <p:cNvSpPr txBox="1"/>
          <p:nvPr/>
        </p:nvSpPr>
        <p:spPr>
          <a:xfrm>
            <a:off x="1066800" y="2654300"/>
            <a:ext cx="27559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典籍语料与地方文献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知识图谱实体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  <a:p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：文化记忆厚度</a:t>
            </a:r>
          </a:p>
          <a:p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：官方认定基础</a:t>
            </a:r>
          </a:p>
        </p:txBody>
      </p:sp>
      <p:sp>
        <p:nvSpPr>
          <p:cNvPr id="32" name="Round14 Framework Card">
            <a:extLst>
              <a:ext uri="{FF2B5EF4-FFF2-40B4-BE49-F238E27FC236}">
                <a16:creationId xmlns:a16="http://schemas.microsoft.com/office/drawing/2014/main" id="{FC66D95E-218C-7F1B-4CAB-0F67BF07963D}"/>
              </a:ext>
            </a:extLst>
          </p:cNvPr>
          <p:cNvSpPr/>
          <p:nvPr/>
        </p:nvSpPr>
        <p:spPr>
          <a:xfrm>
            <a:off x="8153400" y="2032000"/>
            <a:ext cx="3111500" cy="2260600"/>
          </a:xfrm>
          <a:prstGeom prst="roundRect">
            <a:avLst/>
          </a:prstGeom>
          <a:solidFill>
            <a:srgbClr val="F4F8FC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ound14 Framework Accent">
            <a:extLst>
              <a:ext uri="{FF2B5EF4-FFF2-40B4-BE49-F238E27FC236}">
                <a16:creationId xmlns:a16="http://schemas.microsoft.com/office/drawing/2014/main" id="{15AEC355-92C7-3A41-1C19-B8F187B612D6}"/>
              </a:ext>
            </a:extLst>
          </p:cNvPr>
          <p:cNvSpPr/>
          <p:nvPr/>
        </p:nvSpPr>
        <p:spPr>
          <a:xfrm>
            <a:off x="8153400" y="2032000"/>
            <a:ext cx="3111500" cy="63500"/>
          </a:xfrm>
          <a:prstGeom prst="rect">
            <a:avLst/>
          </a:prstGeom>
          <a:solidFill>
            <a:srgbClr val="50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ound14 Framework Card Title">
            <a:extLst>
              <a:ext uri="{FF2B5EF4-FFF2-40B4-BE49-F238E27FC236}">
                <a16:creationId xmlns:a16="http://schemas.microsoft.com/office/drawing/2014/main" id="{E1A184E3-4AD2-8369-7BF1-CC6B41140C2F}"/>
              </a:ext>
            </a:extLst>
          </p:cNvPr>
          <p:cNvSpPr txBox="1"/>
          <p:nvPr/>
        </p:nvSpPr>
        <p:spPr>
          <a:xfrm>
            <a:off x="8331200" y="2235200"/>
            <a:ext cx="2755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50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旅游谱系（</a:t>
            </a:r>
            <a:r>
              <a:rPr lang="en-US" altLang="zh-CN" sz="1600" b="1">
                <a:solidFill>
                  <a:srgbClr val="50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600" b="1">
                <a:solidFill>
                  <a:srgbClr val="50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38" name="Round14 Framework Card Body">
            <a:extLst>
              <a:ext uri="{FF2B5EF4-FFF2-40B4-BE49-F238E27FC236}">
                <a16:creationId xmlns:a16="http://schemas.microsoft.com/office/drawing/2014/main" id="{49028159-5C1C-56E9-1C66-10A9286A4C97}"/>
              </a:ext>
            </a:extLst>
          </p:cNvPr>
          <p:cNvSpPr txBox="1"/>
          <p:nvPr/>
        </p:nvSpPr>
        <p:spPr>
          <a:xfrm>
            <a:off x="8331200" y="2654300"/>
            <a:ext cx="27559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条旅游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评分、评论量与平台评论</a:t>
            </a:r>
          </a:p>
          <a:p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：旅游热度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评论图谱复核游客感知</a:t>
            </a:r>
          </a:p>
        </p:txBody>
      </p:sp>
      <p:sp>
        <p:nvSpPr>
          <p:cNvPr id="39" name="Round14 Framework Card">
            <a:extLst>
              <a:ext uri="{FF2B5EF4-FFF2-40B4-BE49-F238E27FC236}">
                <a16:creationId xmlns:a16="http://schemas.microsoft.com/office/drawing/2014/main" id="{9EFED898-474C-8B5B-043C-23EFBF58ABCD}"/>
              </a:ext>
            </a:extLst>
          </p:cNvPr>
          <p:cNvSpPr/>
          <p:nvPr/>
        </p:nvSpPr>
        <p:spPr>
          <a:xfrm>
            <a:off x="4521200" y="1841500"/>
            <a:ext cx="3111500" cy="2717800"/>
          </a:xfrm>
          <a:prstGeom prst="roundRect">
            <a:avLst/>
          </a:prstGeom>
          <a:solidFill>
            <a:srgbClr val="F4FAF8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Round14 Framework Accent">
            <a:extLst>
              <a:ext uri="{FF2B5EF4-FFF2-40B4-BE49-F238E27FC236}">
                <a16:creationId xmlns:a16="http://schemas.microsoft.com/office/drawing/2014/main" id="{BB033A04-C492-E4ED-49A5-8AF947EAEF94}"/>
              </a:ext>
            </a:extLst>
          </p:cNvPr>
          <p:cNvSpPr/>
          <p:nvPr/>
        </p:nvSpPr>
        <p:spPr>
          <a:xfrm>
            <a:off x="4521200" y="1841500"/>
            <a:ext cx="3111500" cy="635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Round14 Framework Card Title">
            <a:extLst>
              <a:ext uri="{FF2B5EF4-FFF2-40B4-BE49-F238E27FC236}">
                <a16:creationId xmlns:a16="http://schemas.microsoft.com/office/drawing/2014/main" id="{6039434C-F94D-932A-4A72-43046C94B32B}"/>
              </a:ext>
            </a:extLst>
          </p:cNvPr>
          <p:cNvSpPr txBox="1"/>
          <p:nvPr/>
        </p:nvSpPr>
        <p:spPr>
          <a:xfrm>
            <a:off x="4699000" y="2044700"/>
            <a:ext cx="27559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中间层：文化景点锚点</a:t>
            </a:r>
          </a:p>
        </p:txBody>
      </p:sp>
      <p:sp>
        <p:nvSpPr>
          <p:cNvPr id="42" name="Round14 Framework Card Body">
            <a:extLst>
              <a:ext uri="{FF2B5EF4-FFF2-40B4-BE49-F238E27FC236}">
                <a16:creationId xmlns:a16="http://schemas.microsoft.com/office/drawing/2014/main" id="{5FFB5302-ED5A-C8B1-850E-2B9B8BCB57FF}"/>
              </a:ext>
            </a:extLst>
          </p:cNvPr>
          <p:cNvSpPr txBox="1"/>
          <p:nvPr/>
        </p:nvSpPr>
        <p:spPr>
          <a:xfrm>
            <a:off x="4699000" y="2463800"/>
            <a:ext cx="27559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条核心文化载体</a:t>
            </a:r>
          </a:p>
          <a:p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条物质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空间类载体</a:t>
            </a:r>
          </a:p>
          <a:p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项空间锚点非遗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坐标落位 </a:t>
            </a:r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+ 500 m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</a:t>
            </a:r>
          </a:p>
          <a:p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连接文化侧与旅游侧</a:t>
            </a:r>
          </a:p>
        </p:txBody>
      </p:sp>
      <p:cxnSp>
        <p:nvCxnSpPr>
          <p:cNvPr id="43" name="Round14 Framework Arrow">
            <a:extLst>
              <a:ext uri="{FF2B5EF4-FFF2-40B4-BE49-F238E27FC236}">
                <a16:creationId xmlns:a16="http://schemas.microsoft.com/office/drawing/2014/main" id="{8D39FCD8-4250-646F-8F62-0E7142B9218F}"/>
              </a:ext>
            </a:extLst>
          </p:cNvPr>
          <p:cNvCxnSpPr/>
          <p:nvPr/>
        </p:nvCxnSpPr>
        <p:spPr>
          <a:xfrm>
            <a:off x="4000500" y="3124200"/>
            <a:ext cx="520700" cy="0"/>
          </a:xfrm>
          <a:prstGeom prst="line">
            <a:avLst/>
          </a:prstGeom>
          <a:ln w="2540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Round14 Framework Arrow">
            <a:extLst>
              <a:ext uri="{FF2B5EF4-FFF2-40B4-BE49-F238E27FC236}">
                <a16:creationId xmlns:a16="http://schemas.microsoft.com/office/drawing/2014/main" id="{A5B6DD28-BDC4-8700-FB72-025C9671F33D}"/>
              </a:ext>
            </a:extLst>
          </p:cNvPr>
          <p:cNvCxnSpPr/>
          <p:nvPr/>
        </p:nvCxnSpPr>
        <p:spPr>
          <a:xfrm flipH="1">
            <a:off x="7632700" y="3124200"/>
            <a:ext cx="520700" cy="0"/>
          </a:xfrm>
          <a:prstGeom prst="line">
            <a:avLst/>
          </a:prstGeom>
          <a:ln w="25400">
            <a:solidFill>
              <a:srgbClr val="508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ound14 Framework Arrow">
            <a:extLst>
              <a:ext uri="{FF2B5EF4-FFF2-40B4-BE49-F238E27FC236}">
                <a16:creationId xmlns:a16="http://schemas.microsoft.com/office/drawing/2014/main" id="{DBF57CA4-EED9-2A7E-4575-EA13DA5FDC5C}"/>
              </a:ext>
            </a:extLst>
          </p:cNvPr>
          <p:cNvCxnSpPr/>
          <p:nvPr/>
        </p:nvCxnSpPr>
        <p:spPr>
          <a:xfrm>
            <a:off x="6070600" y="4559300"/>
            <a:ext cx="0" cy="342900"/>
          </a:xfrm>
          <a:prstGeom prst="line">
            <a:avLst/>
          </a:prstGeom>
          <a:ln w="2540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14 Output Card">
            <a:extLst>
              <a:ext uri="{FF2B5EF4-FFF2-40B4-BE49-F238E27FC236}">
                <a16:creationId xmlns:a16="http://schemas.microsoft.com/office/drawing/2014/main" id="{EE5ED992-ADA1-5DB4-12F7-D2AE33E5E58F}"/>
              </a:ext>
            </a:extLst>
          </p:cNvPr>
          <p:cNvSpPr/>
          <p:nvPr/>
        </p:nvSpPr>
        <p:spPr>
          <a:xfrm>
            <a:off x="2768600" y="4927600"/>
            <a:ext cx="6629400" cy="9271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ound14 Output Title">
            <a:extLst>
              <a:ext uri="{FF2B5EF4-FFF2-40B4-BE49-F238E27FC236}">
                <a16:creationId xmlns:a16="http://schemas.microsoft.com/office/drawing/2014/main" id="{A51029C8-53D5-2561-ED09-68B0B9F8C813}"/>
              </a:ext>
            </a:extLst>
          </p:cNvPr>
          <p:cNvSpPr txBox="1"/>
          <p:nvPr/>
        </p:nvSpPr>
        <p:spPr>
          <a:xfrm>
            <a:off x="3048000" y="5118100"/>
            <a:ext cx="6070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双谱系耦合分析输出</a:t>
            </a:r>
          </a:p>
        </p:txBody>
      </p:sp>
      <p:sp>
        <p:nvSpPr>
          <p:cNvPr id="48" name="Round14 Output Body">
            <a:extLst>
              <a:ext uri="{FF2B5EF4-FFF2-40B4-BE49-F238E27FC236}">
                <a16:creationId xmlns:a16="http://schemas.microsoft.com/office/drawing/2014/main" id="{C5DAD247-78DF-C844-9B09-31945FC88063}"/>
              </a:ext>
            </a:extLst>
          </p:cNvPr>
          <p:cNvSpPr txBox="1"/>
          <p:nvPr/>
        </p:nvSpPr>
        <p:spPr>
          <a:xfrm>
            <a:off x="3048000" y="5473700"/>
            <a:ext cx="6070600" cy="2092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3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共同识别沉睡潜力、空心景点、核心耦合与一般耦合。</a:t>
            </a:r>
          </a:p>
        </p:txBody>
      </p:sp>
      <p:sp>
        <p:nvSpPr>
          <p:cNvPr id="49" name="Round14 Metric Value">
            <a:extLst>
              <a:ext uri="{FF2B5EF4-FFF2-40B4-BE49-F238E27FC236}">
                <a16:creationId xmlns:a16="http://schemas.microsoft.com/office/drawing/2014/main" id="{25D1DC65-0A1C-501A-033B-2D700702F734}"/>
              </a:ext>
            </a:extLst>
          </p:cNvPr>
          <p:cNvSpPr txBox="1"/>
          <p:nvPr/>
        </p:nvSpPr>
        <p:spPr>
          <a:xfrm>
            <a:off x="1193800" y="6019800"/>
            <a:ext cx="152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endParaRPr lang="zh-CN" altLang="en-US" sz="17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Round14 Metric Label">
            <a:extLst>
              <a:ext uri="{FF2B5EF4-FFF2-40B4-BE49-F238E27FC236}">
                <a16:creationId xmlns:a16="http://schemas.microsoft.com/office/drawing/2014/main" id="{CE380E93-532D-1BBF-1BFA-DABB6232F7F8}"/>
              </a:ext>
            </a:extLst>
          </p:cNvPr>
          <p:cNvSpPr txBox="1"/>
          <p:nvPr/>
        </p:nvSpPr>
        <p:spPr>
          <a:xfrm>
            <a:off x="1193800" y="6324600"/>
            <a:ext cx="152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典籍语料</a:t>
            </a:r>
          </a:p>
        </p:txBody>
      </p:sp>
      <p:sp>
        <p:nvSpPr>
          <p:cNvPr id="51" name="Round14 Metric Value">
            <a:extLst>
              <a:ext uri="{FF2B5EF4-FFF2-40B4-BE49-F238E27FC236}">
                <a16:creationId xmlns:a16="http://schemas.microsoft.com/office/drawing/2014/main" id="{F5175676-EA40-FE24-297E-7600D3A8458A}"/>
              </a:ext>
            </a:extLst>
          </p:cNvPr>
          <p:cNvSpPr txBox="1"/>
          <p:nvPr/>
        </p:nvSpPr>
        <p:spPr>
          <a:xfrm>
            <a:off x="3606800" y="6019800"/>
            <a:ext cx="152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</a:t>
            </a:r>
            <a:endParaRPr lang="zh-CN" altLang="en-US" sz="17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Round14 Metric Label">
            <a:extLst>
              <a:ext uri="{FF2B5EF4-FFF2-40B4-BE49-F238E27FC236}">
                <a16:creationId xmlns:a16="http://schemas.microsoft.com/office/drawing/2014/main" id="{DB220811-D573-F409-5F0F-15933F1D617A}"/>
              </a:ext>
            </a:extLst>
          </p:cNvPr>
          <p:cNvSpPr txBox="1"/>
          <p:nvPr/>
        </p:nvSpPr>
        <p:spPr>
          <a:xfrm>
            <a:off x="3606800" y="6324600"/>
            <a:ext cx="152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 </a:t>
            </a:r>
            <a:r>
              <a:rPr lang="en-US" altLang="zh-CN" sz="85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endParaRPr lang="zh-CN" altLang="en-US" sz="85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Round14 Metric Value">
            <a:extLst>
              <a:ext uri="{FF2B5EF4-FFF2-40B4-BE49-F238E27FC236}">
                <a16:creationId xmlns:a16="http://schemas.microsoft.com/office/drawing/2014/main" id="{58260F71-B91C-7F20-6D90-B0614EEA28EF}"/>
              </a:ext>
            </a:extLst>
          </p:cNvPr>
          <p:cNvSpPr txBox="1"/>
          <p:nvPr/>
        </p:nvSpPr>
        <p:spPr>
          <a:xfrm>
            <a:off x="6019800" y="6019800"/>
            <a:ext cx="152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Round14 Metric Label">
            <a:extLst>
              <a:ext uri="{FF2B5EF4-FFF2-40B4-BE49-F238E27FC236}">
                <a16:creationId xmlns:a16="http://schemas.microsoft.com/office/drawing/2014/main" id="{3A43C644-C83A-5F4B-891A-0C91478911F7}"/>
              </a:ext>
            </a:extLst>
          </p:cNvPr>
          <p:cNvSpPr txBox="1"/>
          <p:nvPr/>
        </p:nvSpPr>
        <p:spPr>
          <a:xfrm>
            <a:off x="6019800" y="6324600"/>
            <a:ext cx="152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  <p:sp>
        <p:nvSpPr>
          <p:cNvPr id="56" name="Round14 Metric Value">
            <a:extLst>
              <a:ext uri="{FF2B5EF4-FFF2-40B4-BE49-F238E27FC236}">
                <a16:creationId xmlns:a16="http://schemas.microsoft.com/office/drawing/2014/main" id="{A6220CAB-B959-9B9D-4B24-60AAB95DD60B}"/>
              </a:ext>
            </a:extLst>
          </p:cNvPr>
          <p:cNvSpPr txBox="1"/>
          <p:nvPr/>
        </p:nvSpPr>
        <p:spPr>
          <a:xfrm>
            <a:off x="8432800" y="6019800"/>
            <a:ext cx="152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Round14 Metric Label">
            <a:extLst>
              <a:ext uri="{FF2B5EF4-FFF2-40B4-BE49-F238E27FC236}">
                <a16:creationId xmlns:a16="http://schemas.microsoft.com/office/drawing/2014/main" id="{FB6DFED1-5359-D4A6-C8F7-8339D95DBACF}"/>
              </a:ext>
            </a:extLst>
          </p:cNvPr>
          <p:cNvSpPr txBox="1"/>
          <p:nvPr/>
        </p:nvSpPr>
        <p:spPr>
          <a:xfrm>
            <a:off x="8432800" y="6324600"/>
            <a:ext cx="152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网格匹配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196</Words>
  <Application>Microsoft Office PowerPoint</Application>
  <DocSecurity>0</DocSecurity>
  <PresentationFormat>宽屏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2026-06-03T05:15:02Z</dcterms:modified>
</cp:coreProperties>
</file>