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F59411E-5C6E-4D51-AE1D-F6048DADEC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1CD5C2-9867-4323-A3C2-16E1E98DDD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3EB7AA-1820-4BBE-A864-0521F42F176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07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61B0E08-3959-4652-A9C5-3C3818C271D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4.1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1B6A6A-55C4-4B15-A69F-A3D11A397A2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689EF2-C24E-433C-9DCA-D160B09A2800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知识图谱生成文化记忆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Slide07 KGGlobal Frame">
            <a:extLst>
              <a:ext uri="{FF2B5EF4-FFF2-40B4-BE49-F238E27FC236}">
                <a16:creationId xmlns:a16="http://schemas.microsoft.com/office/drawing/2014/main" id="{6C4486AF-0CDC-013C-F998-41F73201590E}"/>
              </a:ext>
            </a:extLst>
          </p:cNvPr>
          <p:cNvSpPr/>
          <p:nvPr/>
        </p:nvSpPr>
        <p:spPr>
          <a:xfrm>
            <a:off x="965200" y="1478071"/>
            <a:ext cx="5003800" cy="469412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Slide07 KGGlobal Caption">
            <a:extLst>
              <a:ext uri="{FF2B5EF4-FFF2-40B4-BE49-F238E27FC236}">
                <a16:creationId xmlns:a16="http://schemas.microsoft.com/office/drawing/2014/main" id="{B62F43B1-8C39-682E-F41D-8A1725A3D337}"/>
              </a:ext>
            </a:extLst>
          </p:cNvPr>
          <p:cNvSpPr txBox="1"/>
          <p:nvPr/>
        </p:nvSpPr>
        <p:spPr>
          <a:xfrm>
            <a:off x="1238250" y="5792875"/>
            <a:ext cx="45466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68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知识图谱全局网络总图</a:t>
            </a:r>
            <a:endParaRPr lang="zh-CN" altLang="en-US" sz="680" b="1" dirty="0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229477-FEDA-09F8-C142-3CCBC53B091A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7" name="Round8 Slide07 Rebuilt Panel">
            <a:extLst>
              <a:ext uri="{FF2B5EF4-FFF2-40B4-BE49-F238E27FC236}">
                <a16:creationId xmlns:a16="http://schemas.microsoft.com/office/drawing/2014/main" id="{E57DAF01-FFDF-9EF7-4591-D898CD6469EE}"/>
              </a:ext>
            </a:extLst>
          </p:cNvPr>
          <p:cNvSpPr/>
          <p:nvPr/>
        </p:nvSpPr>
        <p:spPr>
          <a:xfrm>
            <a:off x="6096000" y="1422400"/>
            <a:ext cx="4927600" cy="48006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Round8 Slide07 Panel Head">
            <a:extLst>
              <a:ext uri="{FF2B5EF4-FFF2-40B4-BE49-F238E27FC236}">
                <a16:creationId xmlns:a16="http://schemas.microsoft.com/office/drawing/2014/main" id="{4F505C62-754B-ECCC-5CFD-B22817F35EB9}"/>
              </a:ext>
            </a:extLst>
          </p:cNvPr>
          <p:cNvSpPr txBox="1"/>
          <p:nvPr/>
        </p:nvSpPr>
        <p:spPr>
          <a:xfrm>
            <a:off x="6502400" y="1676400"/>
            <a:ext cx="4140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从文本到图谱</a:t>
            </a:r>
          </a:p>
        </p:txBody>
      </p:sp>
      <p:sp>
        <p:nvSpPr>
          <p:cNvPr id="49" name="Round8 Slide07 Panel Lead">
            <a:extLst>
              <a:ext uri="{FF2B5EF4-FFF2-40B4-BE49-F238E27FC236}">
                <a16:creationId xmlns:a16="http://schemas.microsoft.com/office/drawing/2014/main" id="{5BC41ACE-1BFD-D4EA-CB04-CDE71711F985}"/>
              </a:ext>
            </a:extLst>
          </p:cNvPr>
          <p:cNvSpPr txBox="1"/>
          <p:nvPr/>
        </p:nvSpPr>
        <p:spPr>
          <a:xfrm>
            <a:off x="6502400" y="2057400"/>
            <a:ext cx="4140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知识图谱是中间关系层，不只是展示图；它把文本转成可追溯、可计算的关系。</a:t>
            </a:r>
          </a:p>
        </p:txBody>
      </p:sp>
      <p:sp>
        <p:nvSpPr>
          <p:cNvPr id="50" name="Round8 Slide07 Card">
            <a:extLst>
              <a:ext uri="{FF2B5EF4-FFF2-40B4-BE49-F238E27FC236}">
                <a16:creationId xmlns:a16="http://schemas.microsoft.com/office/drawing/2014/main" id="{3F6BED44-D4FA-78E5-C2C3-706CE8E65828}"/>
              </a:ext>
            </a:extLst>
          </p:cNvPr>
          <p:cNvSpPr/>
          <p:nvPr/>
        </p:nvSpPr>
        <p:spPr>
          <a:xfrm>
            <a:off x="6502400" y="2730500"/>
            <a:ext cx="4241800" cy="723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Round8 Slide07 Card Accent">
            <a:extLst>
              <a:ext uri="{FF2B5EF4-FFF2-40B4-BE49-F238E27FC236}">
                <a16:creationId xmlns:a16="http://schemas.microsoft.com/office/drawing/2014/main" id="{1A5BD2CC-3F06-96E1-EB80-41E28CFC3D30}"/>
              </a:ext>
            </a:extLst>
          </p:cNvPr>
          <p:cNvSpPr/>
          <p:nvPr/>
        </p:nvSpPr>
        <p:spPr>
          <a:xfrm>
            <a:off x="6502400" y="2730500"/>
            <a:ext cx="4241800" cy="38100"/>
          </a:xfrm>
          <a:prstGeom prst="rect">
            <a:avLst/>
          </a:prstGeom>
          <a:solidFill>
            <a:srgbClr val="7E007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Round8 Slide07 Card Head">
            <a:extLst>
              <a:ext uri="{FF2B5EF4-FFF2-40B4-BE49-F238E27FC236}">
                <a16:creationId xmlns:a16="http://schemas.microsoft.com/office/drawing/2014/main" id="{58D7AFAC-266E-3B49-D081-656A20F9D4B2}"/>
              </a:ext>
            </a:extLst>
          </p:cNvPr>
          <p:cNvSpPr txBox="1"/>
          <p:nvPr/>
        </p:nvSpPr>
        <p:spPr>
          <a:xfrm>
            <a:off x="6654800" y="2832100"/>
            <a:ext cx="393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语料抽取</a:t>
            </a:r>
          </a:p>
        </p:txBody>
      </p:sp>
      <p:sp>
        <p:nvSpPr>
          <p:cNvPr id="53" name="Round8 Slide07 Card Body">
            <a:extLst>
              <a:ext uri="{FF2B5EF4-FFF2-40B4-BE49-F238E27FC236}">
                <a16:creationId xmlns:a16="http://schemas.microsoft.com/office/drawing/2014/main" id="{ACD45F2A-79F5-5D87-2449-1016498F22C7}"/>
              </a:ext>
            </a:extLst>
          </p:cNvPr>
          <p:cNvSpPr txBox="1"/>
          <p:nvPr/>
        </p:nvSpPr>
        <p:spPr>
          <a:xfrm>
            <a:off x="6654800" y="3111500"/>
            <a:ext cx="393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份典籍语料 → 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61,218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条实体记录</a:t>
            </a:r>
          </a:p>
        </p:txBody>
      </p:sp>
      <p:sp>
        <p:nvSpPr>
          <p:cNvPr id="54" name="Round8 Slide07 Card">
            <a:extLst>
              <a:ext uri="{FF2B5EF4-FFF2-40B4-BE49-F238E27FC236}">
                <a16:creationId xmlns:a16="http://schemas.microsoft.com/office/drawing/2014/main" id="{260AEDCC-D4E4-CFB4-8560-1EA7CB701120}"/>
              </a:ext>
            </a:extLst>
          </p:cNvPr>
          <p:cNvSpPr/>
          <p:nvPr/>
        </p:nvSpPr>
        <p:spPr>
          <a:xfrm>
            <a:off x="6502400" y="3606800"/>
            <a:ext cx="4241800" cy="723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Round8 Slide07 Card Accent">
            <a:extLst>
              <a:ext uri="{FF2B5EF4-FFF2-40B4-BE49-F238E27FC236}">
                <a16:creationId xmlns:a16="http://schemas.microsoft.com/office/drawing/2014/main" id="{74B46F66-B236-26F9-2F7C-61ADCD8A3123}"/>
              </a:ext>
            </a:extLst>
          </p:cNvPr>
          <p:cNvSpPr/>
          <p:nvPr/>
        </p:nvSpPr>
        <p:spPr>
          <a:xfrm>
            <a:off x="6502400" y="3606800"/>
            <a:ext cx="4241800" cy="38100"/>
          </a:xfrm>
          <a:prstGeom prst="rect">
            <a:avLst/>
          </a:prstGeom>
          <a:solidFill>
            <a:srgbClr val="7E007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Round8 Slide07 Card Head">
            <a:extLst>
              <a:ext uri="{FF2B5EF4-FFF2-40B4-BE49-F238E27FC236}">
                <a16:creationId xmlns:a16="http://schemas.microsoft.com/office/drawing/2014/main" id="{B0649B4B-A771-B48C-475B-E90B64ACFC90}"/>
              </a:ext>
            </a:extLst>
          </p:cNvPr>
          <p:cNvSpPr txBox="1"/>
          <p:nvPr/>
        </p:nvSpPr>
        <p:spPr>
          <a:xfrm>
            <a:off x="6654800" y="3708400"/>
            <a:ext cx="393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关系合并</a:t>
            </a:r>
          </a:p>
        </p:txBody>
      </p:sp>
      <p:sp>
        <p:nvSpPr>
          <p:cNvPr id="57" name="Round8 Slide07 Card Body">
            <a:extLst>
              <a:ext uri="{FF2B5EF4-FFF2-40B4-BE49-F238E27FC236}">
                <a16:creationId xmlns:a16="http://schemas.microsoft.com/office/drawing/2014/main" id="{7F2ECAAA-7376-BDF3-31F7-6EC3236DD094}"/>
              </a:ext>
            </a:extLst>
          </p:cNvPr>
          <p:cNvSpPr txBox="1"/>
          <p:nvPr/>
        </p:nvSpPr>
        <p:spPr>
          <a:xfrm>
            <a:off x="6654800" y="3987800"/>
            <a:ext cx="393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42,024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条关系记录 → 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8,048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实体、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19,382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</a:t>
            </a:r>
          </a:p>
        </p:txBody>
      </p:sp>
      <p:sp>
        <p:nvSpPr>
          <p:cNvPr id="58" name="Round8 Slide07 Card">
            <a:extLst>
              <a:ext uri="{FF2B5EF4-FFF2-40B4-BE49-F238E27FC236}">
                <a16:creationId xmlns:a16="http://schemas.microsoft.com/office/drawing/2014/main" id="{0655CD5D-A395-C1B0-8EC9-8C3DC81541CA}"/>
              </a:ext>
            </a:extLst>
          </p:cNvPr>
          <p:cNvSpPr/>
          <p:nvPr/>
        </p:nvSpPr>
        <p:spPr>
          <a:xfrm>
            <a:off x="6502400" y="4483100"/>
            <a:ext cx="4241800" cy="723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Round8 Slide07 Card Accent">
            <a:extLst>
              <a:ext uri="{FF2B5EF4-FFF2-40B4-BE49-F238E27FC236}">
                <a16:creationId xmlns:a16="http://schemas.microsoft.com/office/drawing/2014/main" id="{2C26DD06-2E45-4275-2866-0DEE5F031DD4}"/>
              </a:ext>
            </a:extLst>
          </p:cNvPr>
          <p:cNvSpPr/>
          <p:nvPr/>
        </p:nvSpPr>
        <p:spPr>
          <a:xfrm>
            <a:off x="6502400" y="4483100"/>
            <a:ext cx="4241800" cy="38100"/>
          </a:xfrm>
          <a:prstGeom prst="rect">
            <a:avLst/>
          </a:prstGeom>
          <a:solidFill>
            <a:srgbClr val="49837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Round8 Slide07 Card Head">
            <a:extLst>
              <a:ext uri="{FF2B5EF4-FFF2-40B4-BE49-F238E27FC236}">
                <a16:creationId xmlns:a16="http://schemas.microsoft.com/office/drawing/2014/main" id="{034BB7AC-44E6-34F5-D0D8-B67E5320B8B6}"/>
              </a:ext>
            </a:extLst>
          </p:cNvPr>
          <p:cNvSpPr txBox="1"/>
          <p:nvPr/>
        </p:nvSpPr>
        <p:spPr>
          <a:xfrm>
            <a:off x="6654800" y="4584700"/>
            <a:ext cx="393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空间落位</a:t>
            </a:r>
          </a:p>
        </p:txBody>
      </p:sp>
      <p:sp>
        <p:nvSpPr>
          <p:cNvPr id="61" name="Round8 Slide07 Card Body">
            <a:extLst>
              <a:ext uri="{FF2B5EF4-FFF2-40B4-BE49-F238E27FC236}">
                <a16:creationId xmlns:a16="http://schemas.microsoft.com/office/drawing/2014/main" id="{224802E5-C706-84BE-54FB-346C1BDE4C3E}"/>
              </a:ext>
            </a:extLst>
          </p:cNvPr>
          <p:cNvSpPr txBox="1"/>
          <p:nvPr/>
        </p:nvSpPr>
        <p:spPr>
          <a:xfrm>
            <a:off x="6654800" y="4864100"/>
            <a:ext cx="393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575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个实体落位，进入 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与网格匹配</a:t>
            </a:r>
          </a:p>
        </p:txBody>
      </p:sp>
      <p:sp>
        <p:nvSpPr>
          <p:cNvPr id="62" name="Round8 Slide07 Panel Note">
            <a:extLst>
              <a:ext uri="{FF2B5EF4-FFF2-40B4-BE49-F238E27FC236}">
                <a16:creationId xmlns:a16="http://schemas.microsoft.com/office/drawing/2014/main" id="{F77C80A7-783F-8274-A0F5-E87EE6EF6613}"/>
              </a:ext>
            </a:extLst>
          </p:cNvPr>
          <p:cNvSpPr txBox="1"/>
          <p:nvPr/>
        </p:nvSpPr>
        <p:spPr>
          <a:xfrm>
            <a:off x="6502400" y="5410200"/>
            <a:ext cx="4241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后续用人物、地点、技艺、事件关系解释文化记忆，并与 </a:t>
            </a:r>
            <a:r>
              <a:rPr lang="en-US" altLang="zh-CN" sz="14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/ </a:t>
            </a:r>
            <a:r>
              <a:rPr lang="zh-CN" altLang="en-US" sz="14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评论热度对照。</a:t>
            </a:r>
          </a:p>
        </p:txBody>
      </p:sp>
      <p:pic>
        <p:nvPicPr>
          <p:cNvPr id="10" name="Slide07 KGGlobal">
            <a:extLst>
              <a:ext uri="{FF2B5EF4-FFF2-40B4-BE49-F238E27FC236}">
                <a16:creationId xmlns:a16="http://schemas.microsoft.com/office/drawing/2014/main" id="{F2BE8C57-DE1E-FDF2-CEA9-57BB3BC08E7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263" y="1758211"/>
            <a:ext cx="4608012" cy="393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8151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115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48</cp:revision>
  <dcterms:created xsi:type="dcterms:W3CDTF">2026-06-02T06:15:18Z</dcterms:created>
  <dcterms:modified xsi:type="dcterms:W3CDTF">2026-06-03T05:15:03Z</dcterms:modified>
</cp:coreProperties>
</file>