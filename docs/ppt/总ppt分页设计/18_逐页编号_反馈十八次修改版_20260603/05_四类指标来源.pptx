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05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5.3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5.2—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5.5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四类指标来源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84D6BCE-5109-E5ED-F872-E2866DD336C5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数据基础与指标口径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E2986B1-95EC-B37A-C414-6835F70AEA5B}"/>
              </a:ext>
            </a:extLst>
          </p:cNvPr>
          <p:cNvSpPr txBox="1"/>
          <p:nvPr/>
        </p:nvSpPr>
        <p:spPr>
          <a:xfrm>
            <a:off x="889000" y="1168400"/>
            <a:ext cx="10414000" cy="34111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55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四类指标先归一化到同一分值口径，再比较文化基础与旅游承接之间的偏离。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5966770-E1DC-71E7-AE3A-BB4F5371403A}"/>
              </a:ext>
            </a:extLst>
          </p:cNvPr>
          <p:cNvCxnSpPr/>
          <p:nvPr/>
        </p:nvCxnSpPr>
        <p:spPr>
          <a:xfrm>
            <a:off x="889000" y="1651000"/>
            <a:ext cx="10414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0217B54-895D-AFCA-5985-AFF9C05305E8}"/>
              </a:ext>
            </a:extLst>
          </p:cNvPr>
          <p:cNvSpPr/>
          <p:nvPr/>
        </p:nvSpPr>
        <p:spPr>
          <a:xfrm>
            <a:off x="889000" y="1879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EA91451-373D-9C68-9134-E1F46A1DBB9C}"/>
              </a:ext>
            </a:extLst>
          </p:cNvPr>
          <p:cNvSpPr txBox="1"/>
          <p:nvPr/>
        </p:nvSpPr>
        <p:spPr>
          <a:xfrm>
            <a:off x="1117600" y="2032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 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文化记忆指数（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1FA5CA2-A29E-07D1-C462-64B83DFE30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50" y="2349500"/>
            <a:ext cx="1219200" cy="1219200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2BCF607-CB35-9062-133D-EB3B94AF70F0}"/>
              </a:ext>
            </a:extLst>
          </p:cNvPr>
          <p:cNvSpPr/>
          <p:nvPr/>
        </p:nvSpPr>
        <p:spPr>
          <a:xfrm>
            <a:off x="4699000" y="1879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E039A2A-C6AA-0679-4EB7-277C52C10B90}"/>
              </a:ext>
            </a:extLst>
          </p:cNvPr>
          <p:cNvSpPr txBox="1"/>
          <p:nvPr/>
        </p:nvSpPr>
        <p:spPr>
          <a:xfrm>
            <a:off x="4927600" y="2032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5.3  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官方认定指数（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F2936AF-CC1A-C1B1-067E-D787A21A6C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650" y="2349500"/>
            <a:ext cx="1219200" cy="1219200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14AE10B-017A-33C6-0E32-4F176F0158A3}"/>
              </a:ext>
            </a:extLst>
          </p:cNvPr>
          <p:cNvSpPr/>
          <p:nvPr/>
        </p:nvSpPr>
        <p:spPr>
          <a:xfrm>
            <a:off x="889000" y="4038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FA4B27-B070-829F-1F45-593A4F6AED77}"/>
              </a:ext>
            </a:extLst>
          </p:cNvPr>
          <p:cNvSpPr txBox="1"/>
          <p:nvPr/>
        </p:nvSpPr>
        <p:spPr>
          <a:xfrm>
            <a:off x="1117600" y="4191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  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旅游热度指数（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A7CF73ED-F3C8-A9DA-DEF4-DA55CD6347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50" y="4508500"/>
            <a:ext cx="1219200" cy="1219200"/>
          </a:xfrm>
          <a:prstGeom prst="rect">
            <a:avLst/>
          </a:prstGeom>
        </p:spPr>
      </p:pic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A2801DF-7035-E8BF-C93A-EB2EF0730ECB}"/>
              </a:ext>
            </a:extLst>
          </p:cNvPr>
          <p:cNvSpPr/>
          <p:nvPr/>
        </p:nvSpPr>
        <p:spPr>
          <a:xfrm>
            <a:off x="4699000" y="4038600"/>
            <a:ext cx="34925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E6F86E8-79C6-037D-EC43-9C1ACAE1B82A}"/>
              </a:ext>
            </a:extLst>
          </p:cNvPr>
          <p:cNvSpPr txBox="1"/>
          <p:nvPr/>
        </p:nvSpPr>
        <p:spPr>
          <a:xfrm>
            <a:off x="4927600" y="4191000"/>
            <a:ext cx="3035300" cy="31034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5.5  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错位指数（</a:t>
            </a:r>
            <a:r>
              <a:rPr lang="en-US" altLang="zh-CN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r>
              <a:rPr lang="zh-CN" altLang="en-US" sz="135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）分布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26922968-1A13-303C-BAC7-5014E761B1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650" y="4508500"/>
            <a:ext cx="1219200" cy="1219200"/>
          </a:xfrm>
          <a:prstGeom prst="rect">
            <a:avLst/>
          </a:prstGeom>
        </p:spPr>
      </p:pic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90B49170-AD6D-F18C-DA6B-DD06F15CBB31}"/>
              </a:ext>
            </a:extLst>
          </p:cNvPr>
          <p:cNvSpPr/>
          <p:nvPr/>
        </p:nvSpPr>
        <p:spPr>
          <a:xfrm>
            <a:off x="8763000" y="1879600"/>
            <a:ext cx="2540000" cy="40640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775C902-79A8-A73C-C447-6CFC529707EB}"/>
              </a:ext>
            </a:extLst>
          </p:cNvPr>
          <p:cNvSpPr txBox="1"/>
          <p:nvPr/>
        </p:nvSpPr>
        <p:spPr>
          <a:xfrm>
            <a:off x="9017000" y="2159000"/>
            <a:ext cx="2032000" cy="379591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指标计算口径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1ED7BA9-43F5-911B-A66B-F739686E8B97}"/>
              </a:ext>
            </a:extLst>
          </p:cNvPr>
          <p:cNvSpPr txBox="1"/>
          <p:nvPr/>
        </p:nvSpPr>
        <p:spPr>
          <a:xfrm>
            <a:off x="9017000" y="2667000"/>
            <a:ext cx="2032000" cy="1321387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文化记忆指数（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CMI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）：典籍频次 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图谱中心性</a:t>
            </a:r>
          </a:p>
          <a:p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官方认定指数（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OAI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）：官方认定等级</a:t>
            </a:r>
          </a:p>
          <a:p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旅游热度指数（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en-US" altLang="zh-CN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320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、评分与评论热度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6BC9A90-F45B-F61C-587F-54B326E13A77}"/>
              </a:ext>
            </a:extLst>
          </p:cNvPr>
          <p:cNvCxnSpPr/>
          <p:nvPr/>
        </p:nvCxnSpPr>
        <p:spPr>
          <a:xfrm>
            <a:off x="9017000" y="4089400"/>
            <a:ext cx="20320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019CE85-A718-414C-F833-30A5C635AADC}"/>
              </a:ext>
            </a:extLst>
          </p:cNvPr>
          <p:cNvSpPr txBox="1"/>
          <p:nvPr/>
        </p:nvSpPr>
        <p:spPr>
          <a:xfrm>
            <a:off x="9017000" y="4318000"/>
            <a:ext cx="2032000" cy="364202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70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错位指数（</a:t>
            </a:r>
            <a:r>
              <a:rPr lang="en-US" altLang="zh-CN" sz="170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</a:t>
            </a:r>
            <a:r>
              <a:rPr lang="zh-CN" altLang="en-US" sz="1700" b="1">
                <a:solidFill>
                  <a:srgbClr val="C1524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34F60F1-2BCB-E5E6-A69C-C9B8DCE888F5}"/>
              </a:ext>
            </a:extLst>
          </p:cNvPr>
          <p:cNvSpPr txBox="1"/>
          <p:nvPr/>
        </p:nvSpPr>
        <p:spPr>
          <a:xfrm>
            <a:off x="9017000" y="4749800"/>
            <a:ext cx="2032000" cy="59503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6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= THI - 0.5 CMI - 0.5 OAI</a:t>
            </a:r>
            <a:endParaRPr lang="zh-CN" altLang="en-US" sz="1600" b="1">
              <a:solidFill>
                <a:srgbClr val="663D8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41DEB9B-8B0D-105A-E06F-A1EB1A5CFD93}"/>
              </a:ext>
            </a:extLst>
          </p:cNvPr>
          <p:cNvSpPr txBox="1"/>
          <p:nvPr/>
        </p:nvSpPr>
        <p:spPr>
          <a:xfrm>
            <a:off x="9017000" y="5384800"/>
            <a:ext cx="2032000" cy="49654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2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 </a:t>
            </a:r>
            <a:r>
              <a:rPr lang="zh-CN" altLang="en-US" sz="128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衡量旅游热度相对文化基础的偏离。</a:t>
            </a:r>
          </a:p>
        </p:txBody>
      </p: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145</Words>
  <Application>Microsoft Office PowerPoint</Application>
  <DocSecurity>0</DocSecurity>
  <PresentationFormat>宽屏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58</cp:revision>
  <dcterms:created xsi:type="dcterms:W3CDTF">2026-06-02T06:15:18Z</dcterms:created>
  <dcterms:modified xsi:type="dcterms:W3CDTF">2026-06-03T08:45:55Z</dcterms:modified>
</cp:coreProperties>
</file>