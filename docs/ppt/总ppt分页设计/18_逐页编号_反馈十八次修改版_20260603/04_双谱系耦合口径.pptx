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04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1.2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3.1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3.2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5.3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双谱系耦合口径</a:t>
            </a:r>
            <a:endParaRPr sz="3000" b="1" dirty="0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965B0F-B369-017E-98DE-527750705D55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研究问题与逻辑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45072DF-AEEB-EA18-C5F9-CFDB327965A5}"/>
              </a:ext>
            </a:extLst>
          </p:cNvPr>
          <p:cNvSpPr txBox="1"/>
          <p:nvPr/>
        </p:nvSpPr>
        <p:spPr>
          <a:xfrm>
            <a:off x="889000" y="1193800"/>
            <a:ext cx="10414000" cy="5950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研究对象不是单独给景点评分，而是选取坐标明确、能够与旅游数据匹配的 </a:t>
            </a:r>
            <a:r>
              <a:rPr lang="en-US" altLang="zh-CN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条核心文化载体，把文化谱系与旅游谱系放到同一空间对象上比较。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C1F4A09-2641-E3F7-274D-922B65B0CD41}"/>
              </a:ext>
            </a:extLst>
          </p:cNvPr>
          <p:cNvCxnSpPr/>
          <p:nvPr/>
        </p:nvCxnSpPr>
        <p:spPr>
          <a:xfrm>
            <a:off x="889000" y="1714500"/>
            <a:ext cx="10414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5763557-2511-BE53-40E0-22F92C0DAC44}"/>
              </a:ext>
            </a:extLst>
          </p:cNvPr>
          <p:cNvSpPr/>
          <p:nvPr/>
        </p:nvSpPr>
        <p:spPr>
          <a:xfrm>
            <a:off x="889000" y="2006600"/>
            <a:ext cx="3111500" cy="27051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7CF3BEA-8AD9-2F1C-A6A5-EB1DCE7E5E3F}"/>
              </a:ext>
            </a:extLst>
          </p:cNvPr>
          <p:cNvSpPr/>
          <p:nvPr/>
        </p:nvSpPr>
        <p:spPr>
          <a:xfrm>
            <a:off x="889000" y="2006600"/>
            <a:ext cx="3111500" cy="63500"/>
          </a:xfrm>
          <a:prstGeom prst="rect">
            <a:avLst/>
          </a:prstGeom>
          <a:solidFill>
            <a:srgbClr val="663D87"/>
          </a:solidFill>
          <a:ln w="12700" cap="flat" cmpd="sng" algn="ctr">
            <a:solidFill>
              <a:srgbClr val="663D87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FDB715A-5D99-F8AD-7C74-853E873F1814}"/>
              </a:ext>
            </a:extLst>
          </p:cNvPr>
          <p:cNvSpPr txBox="1"/>
          <p:nvPr/>
        </p:nvSpPr>
        <p:spPr>
          <a:xfrm>
            <a:off x="1041400" y="2235200"/>
            <a:ext cx="28067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文化谱系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4530283-8C32-5CF9-A1EE-1287EDED2645}"/>
              </a:ext>
            </a:extLst>
          </p:cNvPr>
          <p:cNvSpPr txBox="1"/>
          <p:nvPr/>
        </p:nvSpPr>
        <p:spPr>
          <a:xfrm>
            <a:off x="1041400" y="2641600"/>
            <a:ext cx="2806700" cy="93358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典籍语料与地方文献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知识图谱实体与关系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文化记忆指数（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官方认定指数（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DD6F53A-30C5-6D08-4182-BD3299C6C4F8}"/>
              </a:ext>
            </a:extLst>
          </p:cNvPr>
          <p:cNvSpPr/>
          <p:nvPr/>
        </p:nvSpPr>
        <p:spPr>
          <a:xfrm>
            <a:off x="4851400" y="1841500"/>
            <a:ext cx="3111500" cy="3048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C025AD3-EEE0-963C-2ACC-F33140E09CAD}"/>
              </a:ext>
            </a:extLst>
          </p:cNvPr>
          <p:cNvSpPr/>
          <p:nvPr/>
        </p:nvSpPr>
        <p:spPr>
          <a:xfrm>
            <a:off x="4851400" y="1841500"/>
            <a:ext cx="3111500" cy="63500"/>
          </a:xfrm>
          <a:prstGeom prst="rect">
            <a:avLst/>
          </a:prstGeom>
          <a:solidFill>
            <a:srgbClr val="227E8E"/>
          </a:solidFill>
          <a:ln w="12700" cap="flat" cmpd="sng" algn="ctr">
            <a:solidFill>
              <a:srgbClr val="227E8E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47D2A2A-B638-1D57-EAD8-EAD625D7FF27}"/>
              </a:ext>
            </a:extLst>
          </p:cNvPr>
          <p:cNvSpPr txBox="1"/>
          <p:nvPr/>
        </p:nvSpPr>
        <p:spPr>
          <a:xfrm>
            <a:off x="5003800" y="2070100"/>
            <a:ext cx="28067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中间层：核心锚点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126D486-A7B1-3F03-98AD-00217895E1C1}"/>
              </a:ext>
            </a:extLst>
          </p:cNvPr>
          <p:cNvSpPr txBox="1"/>
          <p:nvPr/>
        </p:nvSpPr>
        <p:spPr>
          <a:xfrm>
            <a:off x="5003800" y="2476500"/>
            <a:ext cx="2806700" cy="93358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条核心文化载体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坐标明确、类型可辨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可与 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和评论匹配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 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网格口径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26D96F12-1946-E3B5-7DDB-61ADB346B82F}"/>
              </a:ext>
            </a:extLst>
          </p:cNvPr>
          <p:cNvSpPr/>
          <p:nvPr/>
        </p:nvSpPr>
        <p:spPr>
          <a:xfrm>
            <a:off x="8826500" y="2006600"/>
            <a:ext cx="3111500" cy="27051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778D115-02E6-BA0E-E143-8508B22F2655}"/>
              </a:ext>
            </a:extLst>
          </p:cNvPr>
          <p:cNvSpPr/>
          <p:nvPr/>
        </p:nvSpPr>
        <p:spPr>
          <a:xfrm>
            <a:off x="8826500" y="2006600"/>
            <a:ext cx="3111500" cy="63500"/>
          </a:xfrm>
          <a:prstGeom prst="rect">
            <a:avLst/>
          </a:prstGeom>
          <a:solidFill>
            <a:srgbClr val="BE892C"/>
          </a:solidFill>
          <a:ln w="12700" cap="flat" cmpd="sng" algn="ctr">
            <a:solidFill>
              <a:srgbClr val="BE892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745EFCC-3C93-2A55-4A88-9445B87D9411}"/>
              </a:ext>
            </a:extLst>
          </p:cNvPr>
          <p:cNvSpPr txBox="1"/>
          <p:nvPr/>
        </p:nvSpPr>
        <p:spPr>
          <a:xfrm>
            <a:off x="8978900" y="2235200"/>
            <a:ext cx="28067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旅游谱系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D1618CD-E608-9CE4-71CA-548CFC273E41}"/>
              </a:ext>
            </a:extLst>
          </p:cNvPr>
          <p:cNvSpPr txBox="1"/>
          <p:nvPr/>
        </p:nvSpPr>
        <p:spPr>
          <a:xfrm>
            <a:off x="8978900" y="2641600"/>
            <a:ext cx="2806700" cy="93358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13,512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条旅游 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平台评分与评论量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旅游热度指数（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评论知识图谱复核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B950744-99F8-3C4F-1CA5-1040CDADDAC0}"/>
              </a:ext>
            </a:extLst>
          </p:cNvPr>
          <p:cNvSpPr txBox="1"/>
          <p:nvPr/>
        </p:nvSpPr>
        <p:spPr>
          <a:xfrm>
            <a:off x="1168400" y="43434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8,048</a:t>
            </a:r>
            <a:endParaRPr lang="zh-CN" altLang="en-US" sz="2300" b="1">
              <a:solidFill>
                <a:srgbClr val="663D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F487D71-FCD8-B82C-7607-ED9A506D364B}"/>
              </a:ext>
            </a:extLst>
          </p:cNvPr>
          <p:cNvCxnSpPr/>
          <p:nvPr/>
        </p:nvCxnSpPr>
        <p:spPr>
          <a:xfrm>
            <a:off x="1168400" y="4737100"/>
            <a:ext cx="1168400" cy="0"/>
          </a:xfrm>
          <a:prstGeom prst="line">
            <a:avLst/>
          </a:prstGeom>
          <a:ln w="12700">
            <a:solidFill>
              <a:srgbClr val="663D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54B944F2-33EB-74AE-54E3-4BF663267A7F}"/>
              </a:ext>
            </a:extLst>
          </p:cNvPr>
          <p:cNvSpPr txBox="1"/>
          <p:nvPr/>
        </p:nvSpPr>
        <p:spPr>
          <a:xfrm>
            <a:off x="1168400" y="47879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图谱实体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BC9703E-06FB-0075-6747-67322EB396D1}"/>
              </a:ext>
            </a:extLst>
          </p:cNvPr>
          <p:cNvSpPr txBox="1"/>
          <p:nvPr/>
        </p:nvSpPr>
        <p:spPr>
          <a:xfrm>
            <a:off x="5130800" y="44958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227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</a:t>
            </a:r>
            <a:endParaRPr lang="zh-CN" altLang="en-US" sz="2300" b="1">
              <a:solidFill>
                <a:srgbClr val="227E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071DDCE8-73B2-7240-15BF-819BB30925C1}"/>
              </a:ext>
            </a:extLst>
          </p:cNvPr>
          <p:cNvCxnSpPr/>
          <p:nvPr/>
        </p:nvCxnSpPr>
        <p:spPr>
          <a:xfrm>
            <a:off x="5130800" y="4889500"/>
            <a:ext cx="1168400" cy="0"/>
          </a:xfrm>
          <a:prstGeom prst="line">
            <a:avLst/>
          </a:prstGeom>
          <a:ln w="12700">
            <a:solidFill>
              <a:srgbClr val="227E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945A5FE6-3F3D-3829-A680-5630CBD527B2}"/>
              </a:ext>
            </a:extLst>
          </p:cNvPr>
          <p:cNvSpPr txBox="1"/>
          <p:nvPr/>
        </p:nvSpPr>
        <p:spPr>
          <a:xfrm>
            <a:off x="5130800" y="49403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核心载体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D6F4CD3-553C-CACF-FD00-E8363D693D94}"/>
              </a:ext>
            </a:extLst>
          </p:cNvPr>
          <p:cNvSpPr txBox="1"/>
          <p:nvPr/>
        </p:nvSpPr>
        <p:spPr>
          <a:xfrm>
            <a:off x="6731000" y="44958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227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</a:t>
            </a:r>
            <a:endParaRPr lang="zh-CN" altLang="en-US" sz="2300" b="1">
              <a:solidFill>
                <a:srgbClr val="227E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5802F462-10D6-F567-73CA-F5942D84D782}"/>
              </a:ext>
            </a:extLst>
          </p:cNvPr>
          <p:cNvCxnSpPr/>
          <p:nvPr/>
        </p:nvCxnSpPr>
        <p:spPr>
          <a:xfrm>
            <a:off x="6731000" y="4889500"/>
            <a:ext cx="1168400" cy="0"/>
          </a:xfrm>
          <a:prstGeom prst="line">
            <a:avLst/>
          </a:prstGeom>
          <a:ln w="12700">
            <a:solidFill>
              <a:srgbClr val="227E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2C26BA6F-D285-76ED-162C-B9D0DD751977}"/>
              </a:ext>
            </a:extLst>
          </p:cNvPr>
          <p:cNvSpPr txBox="1"/>
          <p:nvPr/>
        </p:nvSpPr>
        <p:spPr>
          <a:xfrm>
            <a:off x="6731000" y="49403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网格口径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C05EF00-46AF-BFE1-D57A-CA7E2B90F38C}"/>
              </a:ext>
            </a:extLst>
          </p:cNvPr>
          <p:cNvSpPr txBox="1"/>
          <p:nvPr/>
        </p:nvSpPr>
        <p:spPr>
          <a:xfrm>
            <a:off x="9105900" y="43434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BE89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13,512</a:t>
            </a:r>
            <a:endParaRPr lang="zh-CN" altLang="en-US" sz="2300" b="1">
              <a:solidFill>
                <a:srgbClr val="BE89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1BFED1AA-D49B-E4CD-D9E5-AE2531702B47}"/>
              </a:ext>
            </a:extLst>
          </p:cNvPr>
          <p:cNvCxnSpPr/>
          <p:nvPr/>
        </p:nvCxnSpPr>
        <p:spPr>
          <a:xfrm>
            <a:off x="9105900" y="4737100"/>
            <a:ext cx="1168400" cy="0"/>
          </a:xfrm>
          <a:prstGeom prst="line">
            <a:avLst/>
          </a:prstGeom>
          <a:ln w="12700">
            <a:solidFill>
              <a:srgbClr val="BE89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5D9B593F-1382-DD39-898B-BAA91176EC97}"/>
              </a:ext>
            </a:extLst>
          </p:cNvPr>
          <p:cNvSpPr txBox="1"/>
          <p:nvPr/>
        </p:nvSpPr>
        <p:spPr>
          <a:xfrm>
            <a:off x="9105900" y="47879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 </a:t>
            </a:r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DEAC13F0-09D9-8F9F-CF8E-3434F705D0A3}"/>
              </a:ext>
            </a:extLst>
          </p:cNvPr>
          <p:cNvCxnSpPr/>
          <p:nvPr/>
        </p:nvCxnSpPr>
        <p:spPr>
          <a:xfrm>
            <a:off x="4038600" y="3302000"/>
            <a:ext cx="736600" cy="0"/>
          </a:xfrm>
          <a:prstGeom prst="line">
            <a:avLst/>
          </a:prstGeom>
          <a:ln w="17780">
            <a:solidFill>
              <a:srgbClr val="60606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CCA25D39-075B-E444-EE1C-0F0E1094F793}"/>
              </a:ext>
            </a:extLst>
          </p:cNvPr>
          <p:cNvCxnSpPr/>
          <p:nvPr/>
        </p:nvCxnSpPr>
        <p:spPr>
          <a:xfrm>
            <a:off x="8001000" y="3302000"/>
            <a:ext cx="762000" cy="0"/>
          </a:xfrm>
          <a:prstGeom prst="line">
            <a:avLst/>
          </a:prstGeom>
          <a:ln w="17780">
            <a:solidFill>
              <a:srgbClr val="60606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9D113FB6-A06D-EC89-64C1-92A562DA9F59}"/>
              </a:ext>
            </a:extLst>
          </p:cNvPr>
          <p:cNvSpPr/>
          <p:nvPr/>
        </p:nvSpPr>
        <p:spPr>
          <a:xfrm>
            <a:off x="2387600" y="5435600"/>
            <a:ext cx="7416800" cy="711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56FCE73-CC02-C577-53DA-6D771A05BF93}"/>
              </a:ext>
            </a:extLst>
          </p:cNvPr>
          <p:cNvSpPr txBox="1"/>
          <p:nvPr/>
        </p:nvSpPr>
        <p:spPr>
          <a:xfrm>
            <a:off x="2717800" y="5626100"/>
            <a:ext cx="6858000" cy="56425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输出：文化记忆指数（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官方认定指数（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旅游热度指数（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错位指数（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180</Words>
  <Application>Microsoft Office PowerPoint</Application>
  <DocSecurity>0</DocSecurity>
  <PresentationFormat>宽屏</PresentationFormat>
  <Paragraphs>30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58</cp:revision>
  <dcterms:created xsi:type="dcterms:W3CDTF">2026-06-02T06:15:18Z</dcterms:created>
  <dcterms:modified xsi:type="dcterms:W3CDTF">2026-06-03T08:45:55Z</dcterms:modified>
</cp:coreProperties>
</file>