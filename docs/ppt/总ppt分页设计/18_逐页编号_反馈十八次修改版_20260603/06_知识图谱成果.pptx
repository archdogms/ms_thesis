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2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DF59411E-5C6E-4D51-AE1D-F6048DADEC8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11CD5C2-9867-4323-A3C2-16E1E98DDD2B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23EB7AA-1820-4BBE-A864-0521F42F1760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533400" cy="203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76200" tIns="50800" rIns="76200" bIns="50800" anchor="t"/>
          <a:lstStyle/>
          <a:p>
            <a:pPr algn="ct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0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06</a:t>
            </a:r>
            <a:endParaRPr sz="1000" b="1">
              <a:solidFill>
                <a:srgbClr val="2222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B61B0E08-3959-4652-A9C5-3C3818C271D3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50800" rIns="76200" bIns="50800" anchor="t"/>
          <a:lstStyle/>
          <a:p>
            <a:pPr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论文第 </a:t>
            </a:r>
            <a:r>
              <a:rPr lang="en-US" altLang="zh-CN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4 </a:t>
            </a:r>
            <a:r>
              <a:rPr lang="zh-CN" altLang="en-US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章、图 </a:t>
            </a:r>
            <a:r>
              <a:rPr lang="en-US" altLang="zh-CN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4.1</a:t>
            </a:r>
            <a:r>
              <a:rPr lang="zh-CN" altLang="en-US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、图 </a:t>
            </a:r>
            <a:r>
              <a:rPr lang="en-US" altLang="zh-CN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4.2</a:t>
            </a:r>
            <a:endParaRPr sz="850">
              <a:solidFill>
                <a:srgbClr val="60606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D1B6A6A-55C4-4B15-A69F-A3D11A397A22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1689EF2-C24E-433C-9DCA-D160B09A2800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50800" rIns="76200" bIns="50800" anchor="t"/>
          <a:lstStyle/>
          <a:p>
            <a:pPr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30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知识图谱成果</a:t>
            </a:r>
            <a:endParaRPr sz="3000" b="1">
              <a:solidFill>
                <a:srgbClr val="2222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4229477-FEDA-09F8-C142-3CCBC53B091A}"/>
              </a:ext>
            </a:extLst>
          </p:cNvPr>
          <p:cNvSpPr txBox="1"/>
          <p:nvPr/>
        </p:nvSpPr>
        <p:spPr>
          <a:xfrm>
            <a:off x="571500" y="177800"/>
            <a:ext cx="6858000" cy="33342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 | </a:t>
            </a:r>
            <a:r>
              <a:rPr lang="zh-CN" altLang="en-US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知识图谱成果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C293016-541A-A174-D3AB-B22605168165}"/>
              </a:ext>
            </a:extLst>
          </p:cNvPr>
          <p:cNvSpPr txBox="1"/>
          <p:nvPr/>
        </p:nvSpPr>
        <p:spPr>
          <a:xfrm>
            <a:off x="889000" y="1168400"/>
            <a:ext cx="10414000" cy="348813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60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知识图谱是本研究的文化记忆计算层：它把文本中的人物、地点、技艺、文献和事件关系转成可追溯网络。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F1185D01-A9CE-071F-0457-6C0EFC34F8FB}"/>
              </a:ext>
            </a:extLst>
          </p:cNvPr>
          <p:cNvSpPr/>
          <p:nvPr/>
        </p:nvSpPr>
        <p:spPr>
          <a:xfrm>
            <a:off x="889000" y="1752600"/>
            <a:ext cx="5270500" cy="4191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ADDE4">
                <a:alpha val="88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BD8DCB7E-5DC9-079F-B3FD-F267906C47C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0" y="2006600"/>
            <a:ext cx="3429000" cy="3429000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45B9BA9E-575E-CB7E-09CA-8CEA765478DE}"/>
              </a:ext>
            </a:extLst>
          </p:cNvPr>
          <p:cNvSpPr txBox="1"/>
          <p:nvPr/>
        </p:nvSpPr>
        <p:spPr>
          <a:xfrm>
            <a:off x="1092200" y="5549900"/>
            <a:ext cx="4864100" cy="287258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lang="zh-CN" altLang="en-US" sz="120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  <a:r>
              <a:rPr lang="en-US" altLang="zh-CN" sz="120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  </a:t>
            </a:r>
            <a:r>
              <a:rPr lang="zh-CN" altLang="en-US" sz="120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知识图谱全局网络总图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2FACD101-34D8-818F-9143-823CB22D1A3A}"/>
              </a:ext>
            </a:extLst>
          </p:cNvPr>
          <p:cNvSpPr/>
          <p:nvPr/>
        </p:nvSpPr>
        <p:spPr>
          <a:xfrm>
            <a:off x="6604000" y="1752600"/>
            <a:ext cx="4699000" cy="1168400"/>
          </a:xfrm>
          <a:prstGeom prst="roundRect">
            <a:avLst/>
          </a:prstGeom>
          <a:solidFill>
            <a:srgbClr val="F8F8FB"/>
          </a:solidFill>
          <a:ln w="12700" cap="flat" cmpd="sng" algn="ctr">
            <a:solidFill>
              <a:srgbClr val="DADDE4">
                <a:alpha val="88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8617961-DFD6-B506-8536-1EBDD063328D}"/>
              </a:ext>
            </a:extLst>
          </p:cNvPr>
          <p:cNvSpPr txBox="1"/>
          <p:nvPr/>
        </p:nvSpPr>
        <p:spPr>
          <a:xfrm>
            <a:off x="6883400" y="2032000"/>
            <a:ext cx="1397000" cy="45653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23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8,048</a:t>
            </a:r>
            <a:endParaRPr lang="zh-CN" altLang="en-US" sz="2300" b="1">
              <a:solidFill>
                <a:srgbClr val="663D8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4DD7E6F6-59BB-FC21-74B1-06C567079D1D}"/>
              </a:ext>
            </a:extLst>
          </p:cNvPr>
          <p:cNvCxnSpPr/>
          <p:nvPr/>
        </p:nvCxnSpPr>
        <p:spPr>
          <a:xfrm>
            <a:off x="6883400" y="2425700"/>
            <a:ext cx="1168400" cy="0"/>
          </a:xfrm>
          <a:prstGeom prst="line">
            <a:avLst/>
          </a:prstGeom>
          <a:ln w="12700">
            <a:solidFill>
              <a:srgbClr val="663D8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1040538F-4E96-9323-518E-3A18935CAA65}"/>
              </a:ext>
            </a:extLst>
          </p:cNvPr>
          <p:cNvSpPr txBox="1"/>
          <p:nvPr/>
        </p:nvSpPr>
        <p:spPr>
          <a:xfrm>
            <a:off x="6883400" y="2476500"/>
            <a:ext cx="1524000" cy="279564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1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实体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D7B4B17-75EA-D319-6CAB-6C0186CC4DD2}"/>
              </a:ext>
            </a:extLst>
          </p:cNvPr>
          <p:cNvSpPr txBox="1"/>
          <p:nvPr/>
        </p:nvSpPr>
        <p:spPr>
          <a:xfrm>
            <a:off x="8318500" y="2032000"/>
            <a:ext cx="1397000" cy="45653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2300" b="1">
                <a:solidFill>
                  <a:srgbClr val="227E8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19,382</a:t>
            </a:r>
            <a:endParaRPr lang="zh-CN" altLang="en-US" sz="2300" b="1">
              <a:solidFill>
                <a:srgbClr val="227E8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9B698C73-9FAA-F6E3-DCED-BBCE7511B46F}"/>
              </a:ext>
            </a:extLst>
          </p:cNvPr>
          <p:cNvCxnSpPr/>
          <p:nvPr/>
        </p:nvCxnSpPr>
        <p:spPr>
          <a:xfrm>
            <a:off x="8318500" y="2425700"/>
            <a:ext cx="1168400" cy="0"/>
          </a:xfrm>
          <a:prstGeom prst="line">
            <a:avLst/>
          </a:prstGeom>
          <a:ln w="12700">
            <a:solidFill>
              <a:srgbClr val="227E8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4EEE10ED-048E-2126-3AFD-790E889B98D2}"/>
              </a:ext>
            </a:extLst>
          </p:cNvPr>
          <p:cNvSpPr txBox="1"/>
          <p:nvPr/>
        </p:nvSpPr>
        <p:spPr>
          <a:xfrm>
            <a:off x="8318500" y="2476500"/>
            <a:ext cx="1524000" cy="279564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1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D4B5113-EC67-DFE9-F3E1-99DFA467D6BE}"/>
              </a:ext>
            </a:extLst>
          </p:cNvPr>
          <p:cNvSpPr txBox="1"/>
          <p:nvPr/>
        </p:nvSpPr>
        <p:spPr>
          <a:xfrm>
            <a:off x="10033000" y="2032000"/>
            <a:ext cx="1397000" cy="45653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2300" b="1">
                <a:solidFill>
                  <a:srgbClr val="BE892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575</a:t>
            </a:r>
            <a:endParaRPr lang="zh-CN" altLang="en-US" sz="2300" b="1">
              <a:solidFill>
                <a:srgbClr val="BE892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AB8FB928-FDAC-F46B-30DD-A2CC5960D9C7}"/>
              </a:ext>
            </a:extLst>
          </p:cNvPr>
          <p:cNvCxnSpPr/>
          <p:nvPr/>
        </p:nvCxnSpPr>
        <p:spPr>
          <a:xfrm>
            <a:off x="10033000" y="2425700"/>
            <a:ext cx="1168400" cy="0"/>
          </a:xfrm>
          <a:prstGeom prst="line">
            <a:avLst/>
          </a:prstGeom>
          <a:ln w="12700">
            <a:solidFill>
              <a:srgbClr val="BE892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9695BB75-8D4A-4E05-931C-63B69BF0FE5E}"/>
              </a:ext>
            </a:extLst>
          </p:cNvPr>
          <p:cNvSpPr txBox="1"/>
          <p:nvPr/>
        </p:nvSpPr>
        <p:spPr>
          <a:xfrm>
            <a:off x="10033000" y="2476500"/>
            <a:ext cx="1524000" cy="279564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1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空间落位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6AA0AFA-31BA-19A5-6A0E-26070575F8C9}"/>
              </a:ext>
            </a:extLst>
          </p:cNvPr>
          <p:cNvSpPr txBox="1"/>
          <p:nvPr/>
        </p:nvSpPr>
        <p:spPr>
          <a:xfrm>
            <a:off x="6604000" y="3200400"/>
            <a:ext cx="4699000" cy="379591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分类体系：</a:t>
            </a:r>
            <a:r>
              <a:rPr lang="en-US" altLang="zh-CN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 </a:t>
            </a:r>
            <a:r>
              <a:rPr lang="zh-CN" altLang="en-US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大体系 </a:t>
            </a:r>
            <a:r>
              <a:rPr lang="en-US" altLang="zh-CN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11 </a:t>
            </a:r>
            <a:r>
              <a:rPr lang="zh-CN" altLang="en-US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类实体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2B632A19-F8BD-7EFD-1B85-9D74848923FF}"/>
              </a:ext>
            </a:extLst>
          </p:cNvPr>
          <p:cNvSpPr/>
          <p:nvPr/>
        </p:nvSpPr>
        <p:spPr>
          <a:xfrm>
            <a:off x="6604000" y="3632200"/>
            <a:ext cx="4699000" cy="20066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ADDE4">
                <a:alpha val="88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BD760C0B-F970-DE23-B0BA-40957CED2639}"/>
              </a:ext>
            </a:extLst>
          </p:cNvPr>
          <p:cNvSpPr txBox="1"/>
          <p:nvPr/>
        </p:nvSpPr>
        <p:spPr>
          <a:xfrm>
            <a:off x="6832600" y="3835400"/>
            <a:ext cx="4241800" cy="141372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42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非遗体系：非遗项目、民俗礼仪、物产饮食</a:t>
            </a:r>
          </a:p>
          <a:p>
            <a:r>
              <a:rPr lang="zh-CN" altLang="en-US" sz="142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文物体系：文物建筑、文物遗址</a:t>
            </a:r>
          </a:p>
          <a:p>
            <a:r>
              <a:rPr lang="zh-CN" altLang="en-US" sz="142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传承主体：人物、宗族姓氏</a:t>
            </a:r>
          </a:p>
          <a:p>
            <a:r>
              <a:rPr lang="zh-CN" altLang="en-US" sz="142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空间载体：地名空间</a:t>
            </a:r>
          </a:p>
          <a:p>
            <a:r>
              <a:rPr lang="zh-CN" altLang="en-US" sz="142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文献记忆：典籍文献</a:t>
            </a:r>
          </a:p>
          <a:p>
            <a:r>
              <a:rPr lang="zh-CN" altLang="en-US" sz="142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历史时序：朝代年号、历史事件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7D2F7A2B-D06F-1C6A-CABA-D2F39CA1EA60}"/>
              </a:ext>
            </a:extLst>
          </p:cNvPr>
          <p:cNvSpPr txBox="1"/>
          <p:nvPr/>
        </p:nvSpPr>
        <p:spPr>
          <a:xfrm>
            <a:off x="6832600" y="5384800"/>
            <a:ext cx="4241800" cy="518091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3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后续用该分类体系计算文化记忆指数，并解释文化载体之间的关系。</a:t>
            </a:r>
          </a:p>
        </p:txBody>
      </p:sp>
    </p:spTree>
    <p:extLst>
      <p:ext uri="{BB962C8B-B14F-4D97-AF65-F5344CB8AC3E}">
        <p14:creationId xmlns:p14="http://schemas.microsoft.com/office/powerpoint/2010/main" val="120481518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145</Words>
  <Application>Microsoft Office PowerPoint</Application>
  <DocSecurity>0</DocSecurity>
  <PresentationFormat>宽屏</PresentationFormat>
  <Paragraphs>21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微软雅黑</vt:lpstr>
      <vt:lpstr>微软雅黑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58</cp:revision>
  <dcterms:created xsi:type="dcterms:W3CDTF">2026-06-02T06:15:18Z</dcterms:created>
  <dcterms:modified xsi:type="dcterms:W3CDTF">2026-06-03T08:45:55Z</dcterms:modified>
</cp:coreProperties>
</file>