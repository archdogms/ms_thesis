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2102d8ea044fb" /><Relationship Type="http://schemas.openxmlformats.org/officeDocument/2006/relationships/extended-properties" Target="/docProps/app.xml" Id="R108ddb7dba0d4cf0" /><Relationship Type="http://schemas.openxmlformats.org/officeDocument/2006/relationships/officeDocument" Target="/ppt/presentation.xml" Id="R165fdabe30ff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eb44db22bd4998"/>
  </p:sldMasterIdLst>
  <p:notesMasterIdLst>
    <p:notesMasterId xmlns:r="http://schemas.openxmlformats.org/officeDocument/2006/relationships" r:id="R45ef7b6258044e35"/>
  </p:notesMasterIdLst>
  <p:sldIdLst>
    <p:sldId xmlns:r="http://schemas.openxmlformats.org/officeDocument/2006/relationships" id="256" r:id="Rc8581dc7eb6848d3"/>
    <p:sldId xmlns:r="http://schemas.openxmlformats.org/officeDocument/2006/relationships" id="257" r:id="Rb03ec9616ec54ab7"/>
    <p:sldId xmlns:r="http://schemas.openxmlformats.org/officeDocument/2006/relationships" id="258" r:id="Rc2aaf07091a542bf"/>
    <p:sldId xmlns:r="http://schemas.openxmlformats.org/officeDocument/2006/relationships" id="259" r:id="R96595dfa0a3f4043"/>
    <p:sldId xmlns:r="http://schemas.openxmlformats.org/officeDocument/2006/relationships" id="260" r:id="R2ff948c7606f40d0"/>
    <p:sldId xmlns:r="http://schemas.openxmlformats.org/officeDocument/2006/relationships" id="261" r:id="Rbb59f8c65bff4029"/>
    <p:sldId xmlns:r="http://schemas.openxmlformats.org/officeDocument/2006/relationships" id="262" r:id="Ree69a8a8aa644a9c"/>
    <p:sldId xmlns:r="http://schemas.openxmlformats.org/officeDocument/2006/relationships" id="263" r:id="R385ae621b7d943a7"/>
    <p:sldId xmlns:r="http://schemas.openxmlformats.org/officeDocument/2006/relationships" id="264" r:id="R9fc8bfef493f41a5"/>
    <p:sldId xmlns:r="http://schemas.openxmlformats.org/officeDocument/2006/relationships" id="265" r:id="R4458d5cac8514885"/>
    <p:sldId xmlns:r="http://schemas.openxmlformats.org/officeDocument/2006/relationships" id="266" r:id="R5ba5bbb3405b4395"/>
    <p:sldId xmlns:r="http://schemas.openxmlformats.org/officeDocument/2006/relationships" id="267" r:id="Rde6b46377ed548b6"/>
    <p:sldId xmlns:r="http://schemas.openxmlformats.org/officeDocument/2006/relationships" id="268" r:id="Rf2e6780ab64343fc"/>
    <p:sldId xmlns:r="http://schemas.openxmlformats.org/officeDocument/2006/relationships" id="269" r:id="Rf5a6025419264bb8"/>
    <p:sldId xmlns:r="http://schemas.openxmlformats.org/officeDocument/2006/relationships" id="270" r:id="Ra713f6a30824455c"/>
    <p:sldId xmlns:r="http://schemas.openxmlformats.org/officeDocument/2006/relationships" id="271" r:id="R2334bf3db80d4294"/>
    <p:sldId xmlns:r="http://schemas.openxmlformats.org/officeDocument/2006/relationships" id="272" r:id="R0b8f65dbcd2448d8"/>
    <p:sldId xmlns:r="http://schemas.openxmlformats.org/officeDocument/2006/relationships" id="273" r:id="R520b7653ec8d4c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b44db22bd4998" /><Relationship Type="http://schemas.openxmlformats.org/officeDocument/2006/relationships/theme" Target="/ppt/theme/theme1.xml" Id="Rbf400be0c42e494a" /><Relationship Type="http://schemas.openxmlformats.org/officeDocument/2006/relationships/notesMaster" Target="/ppt/notesMasters/notesMaster1.xml" Id="R45ef7b6258044e35" /><Relationship Type="http://schemas.openxmlformats.org/officeDocument/2006/relationships/presProps" Target="/ppt/presProps.xml" Id="R0e8747e5609b42f6" /><Relationship Type="http://schemas.openxmlformats.org/officeDocument/2006/relationships/viewProps" Target="/ppt/viewProps.xml" Id="R302f89df03654bee" /><Relationship Type="http://schemas.openxmlformats.org/officeDocument/2006/relationships/tableStyles" Target="/ppt/tableStyles.xml" Id="Rfcc6597f5db2440e" /><Relationship Type="http://schemas.openxmlformats.org/officeDocument/2006/relationships/slide" Target="/ppt/slides/slide1.xml" Id="Rc8581dc7eb6848d3" /><Relationship Type="http://schemas.openxmlformats.org/officeDocument/2006/relationships/slide" Target="/ppt/slides/slide2.xml" Id="Rb03ec9616ec54ab7" /><Relationship Type="http://schemas.openxmlformats.org/officeDocument/2006/relationships/slide" Target="/ppt/slides/slide3.xml" Id="Rc2aaf07091a542bf" /><Relationship Type="http://schemas.openxmlformats.org/officeDocument/2006/relationships/slide" Target="/ppt/slides/slide4.xml" Id="R96595dfa0a3f4043" /><Relationship Type="http://schemas.openxmlformats.org/officeDocument/2006/relationships/slide" Target="/ppt/slides/slide5.xml" Id="R2ff948c7606f40d0" /><Relationship Type="http://schemas.openxmlformats.org/officeDocument/2006/relationships/slide" Target="/ppt/slides/slide6.xml" Id="Rbb59f8c65bff4029" /><Relationship Type="http://schemas.openxmlformats.org/officeDocument/2006/relationships/slide" Target="/ppt/slides/slide7.xml" Id="Ree69a8a8aa644a9c" /><Relationship Type="http://schemas.openxmlformats.org/officeDocument/2006/relationships/slide" Target="/ppt/slides/slide8.xml" Id="R385ae621b7d943a7" /><Relationship Type="http://schemas.openxmlformats.org/officeDocument/2006/relationships/slide" Target="/ppt/slides/slide9.xml" Id="R9fc8bfef493f41a5" /><Relationship Type="http://schemas.openxmlformats.org/officeDocument/2006/relationships/slide" Target="/ppt/slides/slide10.xml" Id="R4458d5cac8514885" /><Relationship Type="http://schemas.openxmlformats.org/officeDocument/2006/relationships/slide" Target="/ppt/slides/slide11.xml" Id="R5ba5bbb3405b4395" /><Relationship Type="http://schemas.openxmlformats.org/officeDocument/2006/relationships/slide" Target="/ppt/slides/slide12.xml" Id="Rde6b46377ed548b6" /><Relationship Type="http://schemas.openxmlformats.org/officeDocument/2006/relationships/slide" Target="/ppt/slides/slide13.xml" Id="Rf2e6780ab64343fc" /><Relationship Type="http://schemas.openxmlformats.org/officeDocument/2006/relationships/slide" Target="/ppt/slides/slide14.xml" Id="Rf5a6025419264bb8" /><Relationship Type="http://schemas.openxmlformats.org/officeDocument/2006/relationships/slide" Target="/ppt/slides/slide15.xml" Id="Ra713f6a30824455c" /><Relationship Type="http://schemas.openxmlformats.org/officeDocument/2006/relationships/slide" Target="/ppt/slides/slide16.xml" Id="R2334bf3db80d4294" /><Relationship Type="http://schemas.openxmlformats.org/officeDocument/2006/relationships/slide" Target="/ppt/slides/slide17.xml" Id="R0b8f65dbcd2448d8" /><Relationship Type="http://schemas.openxmlformats.org/officeDocument/2006/relationships/slide" Target="/ppt/slides/slide18.xml" Id="R520b7653ec8d4c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6f9e73a113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161ee6b9441a3" /><Relationship Type="http://schemas.openxmlformats.org/officeDocument/2006/relationships/notesMaster" Target="/ppt/notesMasters/notesMaster1.xml" Id="Ra1002a5d04f344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94f2531e04df2" /><Relationship Type="http://schemas.openxmlformats.org/officeDocument/2006/relationships/notesMaster" Target="/ppt/notesMasters/notesMaster1.xml" Id="R25eba95bfc15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e2649a7b547e9" /><Relationship Type="http://schemas.openxmlformats.org/officeDocument/2006/relationships/notesMaster" Target="/ppt/notesMasters/notesMaster1.xml" Id="Rcc1ee68f6439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bdab716f14529" /><Relationship Type="http://schemas.openxmlformats.org/officeDocument/2006/relationships/notesMaster" Target="/ppt/notesMasters/notesMaster1.xml" Id="Rdda1134f74c8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8b4d9c195b4a31" /><Relationship Type="http://schemas.openxmlformats.org/officeDocument/2006/relationships/notesMaster" Target="/ppt/notesMasters/notesMaster1.xml" Id="Ra6d45d4ce5de42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1b5db67eac4dac" /><Relationship Type="http://schemas.openxmlformats.org/officeDocument/2006/relationships/notesMaster" Target="/ppt/notesMasters/notesMaster1.xml" Id="R2a3465c48171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7c92871a04727" /><Relationship Type="http://schemas.openxmlformats.org/officeDocument/2006/relationships/notesMaster" Target="/ppt/notesMasters/notesMaster1.xml" Id="Rff225d2279b7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177f89d664a8c" /><Relationship Type="http://schemas.openxmlformats.org/officeDocument/2006/relationships/notesMaster" Target="/ppt/notesMasters/notesMaster1.xml" Id="R52c98ef0bc6f42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31f060fce4a80" /><Relationship Type="http://schemas.openxmlformats.org/officeDocument/2006/relationships/notesMaster" Target="/ppt/notesMasters/notesMaster1.xml" Id="R94bd2c1b0e2c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5666d51a594d77" /><Relationship Type="http://schemas.openxmlformats.org/officeDocument/2006/relationships/notesMaster" Target="/ppt/notesMasters/notesMaster1.xml" Id="R08af0e0c20504c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4985c4f92d43ac" /><Relationship Type="http://schemas.openxmlformats.org/officeDocument/2006/relationships/notesMaster" Target="/ppt/notesMasters/notesMaster1.xml" Id="R0f94835a537146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c4f4ae692f4b74" /><Relationship Type="http://schemas.openxmlformats.org/officeDocument/2006/relationships/notesMaster" Target="/ppt/notesMasters/notesMaster1.xml" Id="Rfd2538f3b26d41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6bcd8b84a149de" /><Relationship Type="http://schemas.openxmlformats.org/officeDocument/2006/relationships/notesMaster" Target="/ppt/notesMasters/notesMaster1.xml" Id="Rd617987bb6374e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3b01d6688346e5" /><Relationship Type="http://schemas.openxmlformats.org/officeDocument/2006/relationships/notesMaster" Target="/ppt/notesMasters/notesMaster1.xml" Id="R6ec0f46f6f994c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8067b90db34408" /><Relationship Type="http://schemas.openxmlformats.org/officeDocument/2006/relationships/notesMaster" Target="/ppt/notesMasters/notesMaster1.xml" Id="R3dad5079beee4c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d742a2729540df" /><Relationship Type="http://schemas.openxmlformats.org/officeDocument/2006/relationships/notesMaster" Target="/ppt/notesMasters/notesMaster1.xml" Id="R113f099a827f49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a0664e1ab64686" /><Relationship Type="http://schemas.openxmlformats.org/officeDocument/2006/relationships/notesMaster" Target="/ppt/notesMasters/notesMaster1.xml" Id="R4b06a0b325cd43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5e3d71a2f7405a" /><Relationship Type="http://schemas.openxmlformats.org/officeDocument/2006/relationships/notesMaster" Target="/ppt/notesMasters/notesMaster1.xml" Id="R1be66df8cd55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bd815aa7b44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452b8372204be6" /><Relationship Type="http://schemas.openxmlformats.org/officeDocument/2006/relationships/slideLayout" Target="/ppt/slideLayouts/slideLayout2.xml" Id="R27e86128b27749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e86128b27749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c83bf60014de9" /><Relationship Type="http://schemas.openxmlformats.org/officeDocument/2006/relationships/image" Target="/ppt/media/image.png" Id="Rbc9005d047ff4df6" /><Relationship Type="http://schemas.openxmlformats.org/officeDocument/2006/relationships/notesSlide" Target="/ppt/notesSlides/notesSlide1.xml" Id="R94ee434d42f7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13d61173d45f9" /><Relationship Type="http://schemas.openxmlformats.org/officeDocument/2006/relationships/notesSlide" Target="/ppt/notesSlides/notesSlide2.xml" Id="R9b3b745258704c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6a2f7ee12c43be" /><Relationship Type="http://schemas.openxmlformats.org/officeDocument/2006/relationships/notesSlide" Target="/ppt/notesSlides/notesSlide3.xml" Id="R19c1f3d59dba43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9aa33ac7214707" /><Relationship Type="http://schemas.openxmlformats.org/officeDocument/2006/relationships/notesSlide" Target="/ppt/notesSlides/notesSlide4.xml" Id="R33d9aed364114f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7ba1cded404d33" /><Relationship Type="http://schemas.openxmlformats.org/officeDocument/2006/relationships/image" Target="/ppt/media/image2.png" Id="R582b4a3b54db42a0" /><Relationship Type="http://schemas.openxmlformats.org/officeDocument/2006/relationships/notesSlide" Target="/ppt/notesSlides/notesSlide5.xml" Id="Rfa6bae8b397a40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e4b3a9fa04d48" /><Relationship Type="http://schemas.openxmlformats.org/officeDocument/2006/relationships/notesSlide" Target="/ppt/notesSlides/notesSlide6.xml" Id="Rb9c9be3fedac49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0b6cc6fae249df" /><Relationship Type="http://schemas.openxmlformats.org/officeDocument/2006/relationships/image" Target="/ppt/media/image3.png" Id="R363199a064f54d78" /><Relationship Type="http://schemas.openxmlformats.org/officeDocument/2006/relationships/notesSlide" Target="/ppt/notesSlides/notesSlide7.xml" Id="R9ff3b7796005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f8b41f26d42ca" /><Relationship Type="http://schemas.openxmlformats.org/officeDocument/2006/relationships/image" Target="/ppt/media/image4.png" Id="Raf207f7342d24c6e" /><Relationship Type="http://schemas.openxmlformats.org/officeDocument/2006/relationships/notesSlide" Target="/ppt/notesSlides/notesSlide8.xml" Id="Rd5b9904596d5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cc38250ed04219" /><Relationship Type="http://schemas.openxmlformats.org/officeDocument/2006/relationships/notesSlide" Target="/ppt/notesSlides/notesSlide9.xml" Id="Rcfad74b9b99346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8b1ad1d7f4090" /><Relationship Type="http://schemas.openxmlformats.org/officeDocument/2006/relationships/image" Target="/ppt/media/image5.png" Id="R2f2abf6297154346" /><Relationship Type="http://schemas.openxmlformats.org/officeDocument/2006/relationships/notesSlide" Target="/ppt/notesSlides/notesSlide10.xml" Id="Rc4df84f8a4c44a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ec22e5e564b7e" /><Relationship Type="http://schemas.openxmlformats.org/officeDocument/2006/relationships/image" Target="/ppt/media/image6.png" Id="R521308d551404dc0" /><Relationship Type="http://schemas.openxmlformats.org/officeDocument/2006/relationships/notesSlide" Target="/ppt/notesSlides/notesSlide11.xml" Id="R4680a3832e7e4c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f239e381348f8" /><Relationship Type="http://schemas.openxmlformats.org/officeDocument/2006/relationships/image" Target="/ppt/media/image7.png" Id="R2a12317d428d4ac8" /><Relationship Type="http://schemas.openxmlformats.org/officeDocument/2006/relationships/notesSlide" Target="/ppt/notesSlides/notesSlide12.xml" Id="R33cb82bc693f42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376d56a2a47ac" /><Relationship Type="http://schemas.openxmlformats.org/officeDocument/2006/relationships/image" Target="/ppt/media/image8.png" Id="R65051a38da404764" /><Relationship Type="http://schemas.openxmlformats.org/officeDocument/2006/relationships/notesSlide" Target="/ppt/notesSlides/notesSlide13.xml" Id="Re86cc8fafb934d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60a882590472b" /><Relationship Type="http://schemas.openxmlformats.org/officeDocument/2006/relationships/image" Target="/ppt/media/image9.png" Id="R7333657745074bd1" /><Relationship Type="http://schemas.openxmlformats.org/officeDocument/2006/relationships/notesSlide" Target="/ppt/notesSlides/notesSlide14.xml" Id="R6e0fa86709ff43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3b3f0757c4179" /><Relationship Type="http://schemas.openxmlformats.org/officeDocument/2006/relationships/image" Target="/ppt/media/image10.png" Id="Re01b4c072a5a424f" /><Relationship Type="http://schemas.openxmlformats.org/officeDocument/2006/relationships/image" Target="/ppt/media/image11.png" Id="R242ee0f1e0cb4aac" /><Relationship Type="http://schemas.openxmlformats.org/officeDocument/2006/relationships/notesSlide" Target="/ppt/notesSlides/notesSlide15.xml" Id="R7725e24529244a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dac643cd5476e" /><Relationship Type="http://schemas.openxmlformats.org/officeDocument/2006/relationships/image" Target="/ppt/media/image12.png" Id="Reed2782d67084883" /><Relationship Type="http://schemas.openxmlformats.org/officeDocument/2006/relationships/notesSlide" Target="/ppt/notesSlides/notesSlide16.xml" Id="Rf3f055f51beb40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11af3b31e45ef" /><Relationship Type="http://schemas.openxmlformats.org/officeDocument/2006/relationships/notesSlide" Target="/ppt/notesSlides/notesSlide17.xml" Id="Ra9786957925d48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9a513972741e3" /><Relationship Type="http://schemas.openxmlformats.org/officeDocument/2006/relationships/notesSlide" Target="/ppt/notesSlides/notesSlide18.xml" Id="R8df43190101549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FADE1-3434-4441-82BF-9AB7AAB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11257-9C80-47FE-8ECE-6CCE0F49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EFC4-F935-4568-87F3-0F1EAAD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5FB5A44-3489-455D-9D71-DDBD693C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40CAE-D3D8-4F11-A598-B47E428B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C8754-C354-4747-9302-B766C99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4EB8-4025-4DA8-9D48-26B5171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最终论文封面与方案二模板图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39AE-E3C2-401B-B670-F3F2932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97428-65DF-434E-A627-348BE0DE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55734-48E9-4652-BD1C-9BC81210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EBCF9-08BF-4D3B-A8B0-1318EDB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7B3C5-08C2-4407-ADC7-A77C80F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D8B1-4503-4BA6-B7A2-BAC696BD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8462E-1DE8-48AD-B1C2-26732EA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40A3C-8A4D-46F8-BE2C-EE13D10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62EC9-5E26-46F6-9B9B-20CE758C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85F58-A97E-42F9-9201-41C1DBC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46E7A-460F-4B2A-BA00-97D58DDD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72055-953C-433B-9B1F-AAE6AC6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5C8CA-FAC2-47AD-B751-92101D2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C8618-810A-4B5B-9129-8CDA37A3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A149D-8F77-465F-90FE-E3C3C69C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46955-F61F-4781-AC56-50B36DBB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CA4EE-6B88-4180-A458-D3EEBC0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84E1F-1E90-43B7-9D58-495B3EE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4A080-6B32-4A16-8380-BC8EF8F6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03D4B-974A-4985-BA10-9F97EDC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35B0A-6B2F-42FD-9CD6-7AEA441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D9047-47E7-4F70-8848-EEAA884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B0608-9814-4F10-AE06-B860690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C4CD2F-E94F-4CF0-9EDE-4EA1DA7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51C1A-0601-4B26-8AF1-9C8C7979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FEF871-855C-422F-8C09-CCD933C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63B35-FBA0-46E1-964B-9BADA9C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189704-513F-4FE2-8232-6CA77CDA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EA174-4766-4116-B833-7921B79F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EC3C11-85C5-4132-B0F0-5DFDFA46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4F6D67-89FD-4B65-B526-2105E7AD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31C7FE-372A-4C29-9467-54734CB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23F437-0269-4199-805B-2D664A9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B7FF9D-F5B8-48FF-9726-E78DF85C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A7CABB-71EE-4C5A-A6C8-99B2FD43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3E109A-C83F-40D3-8022-854855F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53EA74-F78A-43BE-A8C6-C1057A4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447729-13F2-4EE0-9444-F81A926B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704745-3FA6-4280-AA25-A0FAA67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F19A55-5E3F-49B4-8B8D-F3E2B2F7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4661B8-53D4-4202-844F-1874EE9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3E8DE2-CF55-4976-AC9F-56A8BBF1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729873-409D-41BD-9A5A-3264629B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46A1C6-BE7A-477A-9AE8-30751761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0FB46E-0353-4257-981F-50BBE8A4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28700"/>
            <a:ext cx="4857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005d047ff4df6"/>
          <a:stretch xmlns:a="http://schemas.openxmlformats.org/drawingml/2006/main"/>
        </p:blipFill>
        <p:spPr>
          <a:xfrm xmlns:a="http://schemas.openxmlformats.org/drawingml/2006/main">
            <a:off x="6810375" y="1415779"/>
            <a:ext cx="4381500" cy="2426242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82992-C62A-4CC3-9413-1DACEEE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57300"/>
            <a:ext cx="4381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1B34D8-048A-42EA-B37A-EECB7F8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C91DAD-E535-4F49-BD37-5D4A9078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C1ED3B-EFF8-479B-9B74-41EC2E92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542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旅游景点文旅融合</a:t>
            </a:r>
          </a:p>
          <a:p xmlns:a="http://schemas.openxmlformats.org/drawingml/2006/main">
            <a:pPr algn="l">
              <a:defRPr sz="29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潜力研究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5C48C2-CF80-4B7E-BD27-F654C83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文化记忆 · 官方认定 · 空间载体 · 游客热度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1B6667-D4AB-4B0B-9505-7C92E773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E5BB04-1962-4D60-8691-38FABE4E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6E4FFE-3CD1-467C-9E74-8C9CF02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4F797F-042F-478B-B9E6-E3DBD43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D7305D-C924-4353-8D0C-81316ED6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NANHAI DATA MAP</a:t>
            </a:r>
          </a:p>
        </p:txBody>
      </p:sp>
    </p:spTree>
    <p:extLst>
      <p:ext uri="{BB962C8B-B14F-4D97-AF65-F5344CB8AC3E}">
        <p14:creationId xmlns:p14="http://schemas.microsoft.com/office/powerpoint/2010/main" val="20949991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CE7B2-CCCC-422F-B161-1BD84F05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EEFF0-3F63-41FC-8265-06EAD61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4F90B-700B-4973-9F00-861FB642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9DAB52-4587-411A-92A9-5C06EAC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52A8-0650-41B7-B417-60ED41C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36ADA-39BA-41C4-B4FB-B3522CB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E28F4-8CAF-4CFB-919F-EDAFDF4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摘要、结论第 7.1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EA6E-8FF0-4492-AE5E-71BBCAD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08633-0DB7-46BB-8952-DC7FA9A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答辩主线不是资源罗列，而是判断“接不接得上”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275BB-C9C9-4AD2-A883-897AB653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文化资源、官方认定、空间载体和游客热度之间是否形成有效衔接，是本研究要回答的核心问题。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3C95D-D56B-4888-A563-44F49812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E1A0C-5C97-4938-AF48-D936AEB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8598D-6713-424B-8D6F-D4991BC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76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8F604-4300-4E1B-8314-FD79F9DF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文化记忆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7AE10-E0F9-43C0-A810-2300A9D8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典籍与知识图谱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83A25-6A8E-4C27-BAE0-63C4F40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D2628-A02E-44B9-8B0E-5A9DD033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76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47BF4-BC92-47E8-AAB8-5BBF71C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官方认定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966A9-3572-4009-B005-FBFB1B37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文物、非遗与资源名录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E4DAF-ED69-42C4-B09F-3E68DF01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6B4AF-3AEB-46D4-BFFD-C66B7AA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76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204EA-3A42-46AA-A3CD-BC2FC533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旅游热度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89578-886E-44DA-B9E2-329E21FA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POI、评分与评论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BE035-9580-4333-BFEA-9CF3994A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1600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64BD3-BD1F-49CA-8589-6DF53469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76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1A890-582A-4430-B483-EAEAE36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错位诊断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9DC84-F774-4474-9C05-466752A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CMI / OAI / THI / MI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B1C57-2105-4496-B60C-C30360FA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从文献记忆出发，经官方载体和旅游数据校准，最后落到错位诊断与规划转译。</a:t>
            </a:r>
          </a:p>
        </p:txBody>
      </p:sp>
    </p:spTree>
    <p:extLst>
      <p:ext uri="{BB962C8B-B14F-4D97-AF65-F5344CB8AC3E}">
        <p14:creationId xmlns:p14="http://schemas.microsoft.com/office/powerpoint/2010/main" val="12449972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CE88C-FC33-4347-9444-7C06621F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B820-04F1-4E87-93B3-7DA1141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7902-C3B3-4BF5-92F2-DDA9D9E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C9CE72F-AF47-4240-B86B-476992DE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7D9C7-0FC1-4E1B-A541-43B74B77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F6800-CDC6-4631-A99C-2077F873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2DD50-8E02-4EF5-9F1A-0AF7A68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第 1 章、第 3 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E37F-7095-41EB-8BF8-6E6EF9B9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9F0CF-2693-4F42-BF08-21836F92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南海不缺文化或旅游，真正的问题是两套体系发生错位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0DCF7-D8CF-4E89-B690-0C2994A1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文化记忆和遗产名录中的资源，不一定自动转化为游客能够接触和识别的旅游体验。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57396-ECC9-4B21-B9F5-D86B593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4B33C-8E64-4542-BCCC-0F29DEF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F400F-4797-42FE-8B76-AA4E891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3CA82-40AC-4AA1-A7EA-BAC6FFCA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错位关系识别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B91FB-9FA7-4F73-A132-3002F61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59A23-ABBB-42C8-B396-15C529D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9A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09FBF-5665-4219-91F2-7872C235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文化侧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D5412-7745-484A-BB8C-F3DA614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旅游侧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1F251-BB60-4F8F-B949-55531C7A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1C6BF-7087-441A-83FC-BDF95EF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地方典籍与文史资料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1645C-800E-4D46-8CF3-A66C6AC1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EEC94-E9A5-4BA0-9E26-D84A115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非遗与文物保护名录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7B7AE-25CF-4E89-BA8D-C5B0649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A39A4-88DA-4E9E-A2C1-CCDF49F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历史村落、圩市与文化景观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33D3A-9B66-4B8F-840F-F06F1262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86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0BA562-453E-416D-B0C7-BB3DE2EC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13,512 条旅游 POI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BDE45-9F00-45F3-9BED-3A00819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1D298-A182-456F-A859-78886997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平台评分与评论热度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09872-1E26-4ABB-979A-2513930A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3C446-97C3-4E22-BD97-1FEF6D12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A 级景区作辅助校准</a:t>
            </a:r>
          </a:p>
        </p:txBody>
      </p:sp>
    </p:spTree>
    <p:extLst>
      <p:ext uri="{BB962C8B-B14F-4D97-AF65-F5344CB8AC3E}">
        <p14:creationId xmlns:p14="http://schemas.microsoft.com/office/powerpoint/2010/main" val="21086539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EFD88-672F-4A71-84E4-F9D7E7D7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43BF7-398C-4B0A-91F1-C945EF5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D1A7-23E7-40C9-A860-2C613807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C64580-062C-4C77-BC02-5FA2C6E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431D-1568-4BB3-9F18-10AD548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E9040-4154-42A8-861B-59532E64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60BF6-22FF-49F3-A6A4-63A79C9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4006D-05A4-43F9-906F-7AC1802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D97DA-FB6D-483E-B5B0-4AC7368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研究对象下沉到景点级文旅载体，避免把复合景区简单打包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6C313-1FA5-47CF-93C3-B2F8165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完整景区内部差异很大，本文把分析对象收敛为可定位、可匹配、可比较的空间单元。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9E739-6713-450A-8CF0-35535AB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C7471-B773-4DFC-9FF8-A900814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2BFB2-9FE6-4EAC-9BC3-61D0A606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2BB18-1546-4BD1-9CBE-808CBF21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D6E6B-C83E-4D04-BE41-CE629871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ED0EF-8B13-4E93-AEAD-CF32C01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79B5-2770-48E7-9D62-6EA1BC8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FC5C1-E40C-4509-8C9C-BF55820A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108AD-B3AA-444F-802D-B1D1B2B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408D5-26D1-489A-A567-9E93E76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56EAA-0EC9-4504-BECD-2DBB539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B21A0-5C7E-4125-A719-769B3128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25E9B-81D0-45AA-88A0-24A46AA2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61DDD-F749-4FEB-B55C-4EB5902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28809-A369-4306-BC0C-E73F8A4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E4EE3-E7D1-4E19-A49E-17DA869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7CA83-86E1-44C5-9B38-792718F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CDDB8-7E94-467F-AB5F-C024135F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B0C4D-9DC6-48E3-959E-BC0E42C3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4A563-90F5-4911-A5DE-526B4CC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6FE19-682E-4BE1-81C7-3EA86CE1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69354-EA81-4AA5-A19E-C343E6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3734A-01FC-4F12-8AC6-4C40F5A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4FA91-D276-4A9A-A7EE-0CD4DDEF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09624-CDD0-414A-A034-ED626302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3A233-DA20-41CA-A8D7-077C80A7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CC3F2-66DA-4E15-B58D-D56087F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003389-A40B-4BE8-937A-1D729697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90008C-1B31-41AA-AA22-24FF2AA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46D7A2-2C81-49C2-9032-A2E4898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790700"/>
            <a:ext cx="952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55B1A-0AEB-4470-A898-C9F95FC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278F63-F0D8-41F0-A7E5-35D4FBF4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93301-859F-477A-87DB-8EEC346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2F0858-3559-4030-B317-B1DF454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539C4B-8199-45D7-97EF-B75738D8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7B77A0-1CEF-40DA-A1E8-029C612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FEF3F2-A72E-41BC-8AFF-C153CC18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98A0DD-A1EF-4713-8E44-20AFC0B1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0C1200-8710-4296-A805-69E06E63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B6E441-8036-4C59-94AD-5B748D4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1E8924-B39B-4CAF-BCCA-1716AB48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20292E-B566-4761-BED0-0EBABD38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3BD4E5-D9AD-4E35-AD80-145F6B5B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F73A93-1CB5-4816-8AA1-061CE65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景点级文旅载体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00C026-BA01-4A39-BDCA-D0C3F9AF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同一空间尺度上比较文化记忆、官方认证与旅游热度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408739-5D0D-4BC5-904C-6DF2C4E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57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165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3AFEF1-AC5F-422E-B6D6-77AF2EC6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323B8E-418F-4093-BA5C-E366BE9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核心文化载体样本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71F7DC-8AA9-4863-925A-59371BDA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90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956A67-6209-4661-9558-69C286E7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29ED1D-3CCB-48B2-8976-FBEADD69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非遗项目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9B6A23-C160-4B4A-AD84-DBDD785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36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09DC6E-2B77-458D-9EC0-62197BE5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338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0D0782-11C1-4E2E-AD92-CB12A76D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具备空间锚点的非遗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BD7EE3-DA5E-4C93-84C9-1EE7F0A8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76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129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B222BB-5C1B-40F4-9A16-10BADF15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D217A2-5166-4EC6-AFD5-3B1502F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物质 / 空间类载体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BA70C8-762E-4874-8518-8444CA1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A 级景区只作为辅助校准变量，不替代景点级载体分析。</a:t>
            </a:r>
          </a:p>
        </p:txBody>
      </p:sp>
    </p:spTree>
    <p:extLst>
      <p:ext uri="{BB962C8B-B14F-4D97-AF65-F5344CB8AC3E}">
        <p14:creationId xmlns:p14="http://schemas.microsoft.com/office/powerpoint/2010/main" val="21285006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F1383-CD3E-4335-A546-D4A53B6A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858F-B485-4D99-AC0C-65B25C9D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BEDBE-C608-48F3-AC60-91CF4BF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A60F13-BF4E-43DC-BF5A-FB3BC38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6FDA-BCF7-424F-B8FF-B976E153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23093-154C-4C26-8605-6B76B559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EC7C5-E0F8-4964-A190-5FE32F33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3.1、第 3.2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88E54-F9F3-4BD6-AAED-316D42B7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BA167-6DE5-43D5-A156-C3A77AD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五类数据被汇入同一张空间分析底图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4C4C9-0895-45B3-BCC3-2CE0A4E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每类数据回答一个不同问题：文化记忆有什么、官方认定在哪里、现实旅游供给和游客反馈如何。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557E4-9816-48D9-B9A6-8863D5D3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9532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b4a3b54db42a0"/>
          <a:stretch xmlns:a="http://schemas.openxmlformats.org/drawingml/2006/main"/>
        </p:blipFill>
        <p:spPr>
          <a:xfrm xmlns:a="http://schemas.openxmlformats.org/drawingml/2006/main">
            <a:off x="669925" y="1962150"/>
            <a:ext cx="6604000" cy="3962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2DFC1-7815-45D3-92E8-D8EECB4C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AA133-7DAA-4303-BD9E-61DEA286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5E95-6467-45C7-9E76-9D44D57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标准化典籍语料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1D501-A47F-4B70-9F39-35FC5F26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13,512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A9211-3989-4FE9-9CAB-8AAA482F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B35A4-A9C1-4E15-A425-4E5F75E5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6223F-A63E-4E87-AD75-0CA8930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16,391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FB032-1182-450E-9516-A74F94A8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7BB7B-D3C9-4D5D-A96D-4AF0B67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EB8C5-DA22-4130-BFFF-01447C6D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20072-5950-41EC-9AA1-CC38251F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8D69F-F3A3-493E-BF45-4A162554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非遗项目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A6E51-0732-4C97-950F-5E77F2E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62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D68AA-7EF7-4947-B75B-6F82DA7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ECBDB-8B6F-45BD-8017-5868943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核心载体样本</a:t>
            </a:r>
          </a:p>
        </p:txBody>
      </p:sp>
    </p:spTree>
    <p:extLst>
      <p:ext uri="{BB962C8B-B14F-4D97-AF65-F5344CB8AC3E}">
        <p14:creationId xmlns:p14="http://schemas.microsoft.com/office/powerpoint/2010/main" val="20890677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AF2CD-49DC-4DE1-B29C-697AC49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4A9B4-B4AE-409E-8780-47B2A58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769E6-AD28-4FBC-B621-EBFDCDD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23EBD2-6C94-4455-B8CC-063142F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4E47D-2D7C-47D5-BC29-934D7C5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6FBE2-365F-49BE-B214-BB8E7E5A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822F9-3969-4652-A1BC-2B99E95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B6D0D-FE88-426B-B6D6-C5F5C6FE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1F44B-B394-4E58-9CA0-5370E6C6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双谱系对照把文化与旅游压缩为四个可比较指标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DF456-C29F-4EEC-8F55-97392C2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CMI 表征文化记忆，OAI 表征官方认证，THI 表征旅游热度，MI 判断文化与旅游之间的相对错位。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525D4-FF2B-443F-B1B5-88E22E8E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F40E4-94EE-4404-AF6C-F8B78BA4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BA60-AD8E-4A4F-8280-719405E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E740C-605F-4BBE-B835-B0FFF7BE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0B876-65CC-4A89-8121-D71D2C29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99D51-513E-48A7-9087-1376216A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7D9B3-1FE0-43AD-94E2-C1DB3914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2BD3A-6C3F-4240-BD51-8DBA764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17C8B-8AF1-4E14-A3F2-6ECAB95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6C014-BE61-4FDC-ACFB-2C4A97B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654A9-5467-499B-BD57-F27F37D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DE2D7-7724-4FA6-8D5C-0E62904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92B6E-9C1C-439B-B17F-C71DFB0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505BA-3F21-483C-8AEB-B6525CB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32254-FC8A-47DC-A357-38A2F42F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E9A03-D2CA-4A6A-92C5-E972036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3247C-10E3-487A-92A0-C1D4E8E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0FC13-4896-46FA-A881-997B11E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D9246-DBD5-428C-A7E1-C688B0B4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FFA93-8913-4B92-AD22-F6EE28C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25C0D-6359-4725-9193-D87E71C5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A2285-E9C5-4588-915B-4E0E60BB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DF2F9-C2A0-4446-88DC-2D7018DB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518133-5EF3-4500-B414-A62CF9E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ADAF6-776C-483D-A31F-41953F2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5FDFE0-F029-43FA-932D-A68A71A8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THI − 文化侧基准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D8AEF-CCE1-48C1-B8DF-A05A132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054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6D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76D5B"/>
                </a:solidFill>
                <a:latin typeface="Microsoft YaHei UI"/>
                <a:ea typeface="Microsoft YaHei UI"/>
                <a:cs typeface="Microsoft YaHei UI"/>
              </a:rPr>
              <a:t>THI 只表示旅游热度，不能替代文化识别判断。</a:t>
            </a:r>
          </a:p>
        </p:txBody>
      </p:sp>
    </p:spTree>
    <p:extLst>
      <p:ext uri="{BB962C8B-B14F-4D97-AF65-F5344CB8AC3E}">
        <p14:creationId xmlns:p14="http://schemas.microsoft.com/office/powerpoint/2010/main" val="2547981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BCF11-EEFD-4D7E-A263-1C856118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99E89-BC32-4016-843D-6A010DDD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4EBCE-56EE-40D9-B858-C5A03C9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173E1E-8A15-4E13-AC93-407C6DEB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CULTURE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97E65-EA85-497E-8C45-8269447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66B6-4E4F-40DE-A53A-E41D37B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CA90E-911D-4DD3-A52A-539F3E46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4.1—4.4、第 4 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4FC42-D423-4646-8DDE-2B6FB71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15C98-2035-403B-8385-AC1C71B1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知识图谱把地方文化记忆转化为可追溯的关系网络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EDC86-5929-42C6-BBC9-296B292F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典籍中的人物、地点、技艺、事件被结构化后，才能与官方名录和旅游空间进行匹配。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60138-B463-48E6-BA97-18B8D537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6200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199a064f54d78"/>
          <a:stretch xmlns:a="http://schemas.openxmlformats.org/drawingml/2006/main"/>
        </p:blipFill>
        <p:spPr>
          <a:xfrm xmlns:a="http://schemas.openxmlformats.org/drawingml/2006/main">
            <a:off x="1342040" y="1943100"/>
            <a:ext cx="6040821" cy="3981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108F1-020F-4F28-B6C6-92357B2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8,048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75600-FFEE-48FD-BFD0-60A4EEBD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729CE-9AF8-422C-8CBC-8AFB485B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实体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DC6F9-D03F-4BDA-9A8C-52224AA6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19,382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85E09-4926-4722-A361-3A4C1C07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420D1-D0E9-426F-9D9A-8CF48932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9ABCF-ACF1-4001-B816-3588E11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53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0ADEA-5533-4917-88D3-CC29C9F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C7985-22E4-412F-8728-CAA1F7E7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典籍语料</a:t>
            </a:r>
          </a:p>
        </p:txBody>
      </p:sp>
    </p:spTree>
    <p:extLst>
      <p:ext uri="{BB962C8B-B14F-4D97-AF65-F5344CB8AC3E}">
        <p14:creationId xmlns:p14="http://schemas.microsoft.com/office/powerpoint/2010/main" val="4221536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74A31-396E-498A-8DFB-FF3CEF2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15753-957B-4F05-A9C4-DD1ECAC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6218-D537-4D7C-B7EF-4A831329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66116E-BDE1-487F-9F38-5DCC345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TOURISM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06901-FFC5-47B1-8EFB-8ADBB42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25AE5-C967-45B0-885F-4F78E43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79F77-9A46-4D90-B9E4-065F3D5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5.1、第 5.1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88C6F-2AD6-401A-A44C-115A4C3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BB72A-33EA-4A5F-A75C-CDF39BE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旅游供给不弱，但直接文化体验入口偏薄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DFE14-2B89-4288-AC71-5CEA00E9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POI 供给首先表现为绿色开放空间和自然游憩空间，文化体验类产品占比仍低。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0347F-9304-4B5A-A6D6-5DBD3C1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70.8%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FE740-4C83-44B7-BFC8-3C2DD92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F3FEB-C763-419E-8C87-F1949E8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F4857-D16E-4662-897A-405A671A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3.8%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D1858-CF1C-4756-93C6-3964397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BE495-8986-4137-8F58-937C1C18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00E28-B6DF-4F3C-9437-7912813E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82.1%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364D-D303-4F69-97F2-54564AF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64C1F-8B29-4B85-9BE6-AEAA1745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东北部四镇街 POI 占比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884C2-6E8A-4C89-BEBD-15DD98D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76009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07f7342d24c6e"/>
          <a:stretch xmlns:a="http://schemas.openxmlformats.org/drawingml/2006/main"/>
        </p:blipFill>
        <p:spPr>
          <a:xfrm xmlns:a="http://schemas.openxmlformats.org/drawingml/2006/main">
            <a:off x="3949339" y="1962150"/>
            <a:ext cx="7131771" cy="396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274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90F22-2CEE-4709-ACE3-B005C18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87FC9-1DB5-43B1-9439-0705FD7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D53CE-B756-4F6D-B33B-F421334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EBD86E-07A0-4D4C-91D7-311DC32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30CA7-1AA6-434A-9232-F195D3EC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3028-B6C6-434F-B96E-EDBDD972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42B92-6FC0-4C51-A7B7-7FC16E8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表 5.2、第 5.3.5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0EE6B-C836-4440-BCF7-0AE5394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BC84C-63EC-491B-A6AE-47F206B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165 条载体显示：错位是结构性现象，不是个别样本异常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BF986-F0E8-4475-8154-1CD96E3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沉睡潜力区与空心景点区合计 103 条，占 62.4%，说明文化资源与旅游产品之间仍存在较明显不均衡。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7DAD4-C863-4295-8E38-AD48796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819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5E7E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3A9ED-90EB-444D-936E-618D7E3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01E09-D631-4FB3-8859-2B6D797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050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5A49-3E20-4740-AFDF-18FAC16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D98F6-E15D-4F70-A697-6C222BF0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1C6CB-C8E2-4C00-AEE5-CC7BB14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819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3ABBF-B255-4517-9D49-AC64EB50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D8638-8813-4047-B472-397277F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7E8A3-913B-433B-BC37-12BB890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B4DF2-5D12-4843-BC5C-88C9143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1B20C-C960-4A40-ADD7-FF16DE2F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819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DC55E-EE2C-4C48-ABB0-E384544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773FD-6934-425B-B6C8-55E1197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767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D850F-CDA5-4773-BD78-11711BB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53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77A62-FBC5-432B-BAED-1584E3CF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2CC6B-CAAF-4F65-B243-AE65C6B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819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FD490-F195-4E5C-B4E3-55F11B5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452ED-379B-4C4E-8D68-BD0024B3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93D93E-1D6C-4BD5-86B1-EDE3C7F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C160F-71B4-40B8-A1A7-F5A82191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578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热度高、文化支撑不足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083D4-73D2-4CB6-9F97-0F6CE2F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29050"/>
            <a:ext cx="428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6D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C76D5B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</p:spTree>
    <p:extLst>
      <p:ext uri="{BB962C8B-B14F-4D97-AF65-F5344CB8AC3E}">
        <p14:creationId xmlns:p14="http://schemas.microsoft.com/office/powerpoint/2010/main" val="18191850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1FB29-8076-4750-A650-4B1F268D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5340F-01E4-438E-8CE7-1F36D70E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2F4AC-0948-45C4-8643-FB39A8B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73C3CB-2E5F-4232-875B-C6380CD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FDFF-0128-47FB-B3EC-2A331A7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53BB0-0D0A-4A6A-A0E6-2DACEDA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372C5-688F-4E12-9CE1-23F9571A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6.1、表 6.2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22671-A3F5-4B65-A9F9-7BCBCB1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08A2-ACC6-4485-B731-434F16B8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1 跳知识图谱口径显化了被直接名单低估的文化厚度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38307-781A-46C6-BF96-2375DAA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图谱关系不是替代空间证据，而是帮助识别潜在文化关联是否被低估。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7024C-F922-4E23-AA6E-51A7409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6200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abf6297154346"/>
          <a:stretch xmlns:a="http://schemas.openxmlformats.org/drawingml/2006/main"/>
        </p:blipFill>
        <p:spPr>
          <a:xfrm xmlns:a="http://schemas.openxmlformats.org/drawingml/2006/main">
            <a:off x="742950" y="2022923"/>
            <a:ext cx="7239000" cy="382180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FBBD0-D395-4DB0-9789-D070F778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DED5D-B2F9-41E3-9D77-791B00A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6C62D-FF32-4E11-8F02-8A45892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沉睡潜力网格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709C9-E1EE-4CDA-BEC3-2EAAF9B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52E32-FCB3-45C8-8E67-6F21F43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671BB-42A0-4499-868C-5F0ACD0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空心景点网格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F0225-6958-4073-8598-48613E1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FBD60-E062-45B1-B77C-097F5C6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CE895-D7F5-4E19-B7A3-72CFA9A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核心耦合网格</a:t>
            </a:r>
          </a:p>
        </p:txBody>
      </p:sp>
    </p:spTree>
    <p:extLst>
      <p:ext uri="{BB962C8B-B14F-4D97-AF65-F5344CB8AC3E}">
        <p14:creationId xmlns:p14="http://schemas.microsoft.com/office/powerpoint/2010/main" val="1450380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7A446-A200-43D1-B4DD-C1D29AC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BEAF8-8B71-4DB4-ABCB-464B216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14DB9-D27B-45BA-B376-82E860B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55E978-C5C5-40A0-9491-084637EC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5AA81-6BC8-49EE-9B09-94ECEA55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610AE-9C28-4A0E-9F45-C698E1D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982EF-9E44-4E7D-8373-E29D7B59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6.2、第 6.2.1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CD262-A45A-4340-8B7C-EF2D3AC9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86AEB-35E9-46D0-833B-4E347252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南海呈现稳定的“东旅西文”空间结构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0D8AF-36C1-414F-862B-4B5F6A8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POI 高值集中在桂城、大沥、狮山等东北部城镇化片区，文化载体与文化厚度高值更多出现在西樵、九江、丹灶。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31E13-263A-4AE9-B981-D1C980E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239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308d551404dc0"/>
          <a:stretch xmlns:a="http://schemas.openxmlformats.org/drawingml/2006/main"/>
        </p:blipFill>
        <p:spPr>
          <a:xfrm xmlns:a="http://schemas.openxmlformats.org/drawingml/2006/main">
            <a:off x="723900" y="2034003"/>
            <a:ext cx="6896100" cy="381869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755F6-7694-479C-A0AD-6EEF0B2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1E59A-05FC-4480-845C-2CFDD2F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B7C4E-6122-42E9-AFF1-7077C47E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65C4F-0412-4CAE-9177-0700CED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B7B92-4267-4623-BAA1-BCA35EE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23D4E-7FA3-478A-BDC8-A46E4C0B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8426959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3CEC5-AEF7-41B0-8124-BA282DF5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4CF56-5267-44DD-89A8-FBFA1C7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CE8B8-EBD7-45D1-8476-9B52C9B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906C8D-2898-4D24-BA41-195FF43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TOWN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6C96F-93B3-428B-90EF-8286B9C1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59D1A-223E-40BE-8A87-B45B7F46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A97A9-C23A-419A-A9D0-02917677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6.3、第 5.1.2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07367-82F5-481D-B2EA-C1CB6F12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B96F3-E5CE-4BB2-B8F3-50F8FD4F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镇街对比进一步揭示东北承载热度、西南承载文化厚度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6DCC0-3E44-476B-B570-DF347A4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桂城、里水、狮山、大沥集中了大部分 POI，九江、西樵、丹灶则更需要释放文化潜力。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009DA-3D03-463F-8F7D-B8A6F5C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9532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2317d428d4ac8"/>
          <a:stretch xmlns:a="http://schemas.openxmlformats.org/drawingml/2006/main"/>
        </p:blipFill>
        <p:spPr>
          <a:xfrm xmlns:a="http://schemas.openxmlformats.org/drawingml/2006/main">
            <a:off x="666750" y="2079025"/>
            <a:ext cx="6610350" cy="372865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C180A-7B3C-45B1-93A5-317BB2C1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4,174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5943F-0772-4FC2-897D-6DD178D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E5D7E-C8D5-42AF-B3EE-F147419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25C0E-E261-472F-9D6F-B6B6146B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2,625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1A26E-56BA-44CA-9E35-4515692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D587D-6D3B-4AE0-88DC-6B476C2E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9DC01-1C74-47FE-A635-03400CE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259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81976-8CFD-40CC-ABB8-3AA15E28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A9AD1-B5B1-468B-B9C4-8C44830B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4781A-0424-4A3D-A934-2071224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1.92%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DFE19-0960-4ECC-8CD0-9E59764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4B0EA-7111-4BBE-BA88-76451D9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</p:spTree>
    <p:extLst>
      <p:ext uri="{BB962C8B-B14F-4D97-AF65-F5344CB8AC3E}">
        <p14:creationId xmlns:p14="http://schemas.microsoft.com/office/powerpoint/2010/main" val="3048555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93A36-5EA5-4B96-B35A-D889AE8C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DDAA5-C45B-4735-973D-6B564DC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F5CD5-83F2-4CC3-80F0-97CEA1D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688691-C879-4902-9962-147F5788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7F2BC-7ADC-4F8F-B174-24B7344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FC18B-E9E1-43CE-907E-6A6CA22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842F3-DC02-4A78-94E1-1944E576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6.6、表 6.7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4C4CF-DC1F-4FD8-A045-523F4271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416B5-4E95-440B-B1EB-FA0BE177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官方资源扩展说明：核心样本之外仍有大量文化资源待转译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2B04F-86E8-462E-898C-7672184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扩展层不替代 165 条指数样本，而是用于检查官方资源在镇街和 500 m 网格中的覆盖缺口。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83F07-C48F-43BD-8A05-C3EAA8A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593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6ED22-3EAC-4B48-A5D4-9F22E1F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25675-78BF-407B-97CD-34C3266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46298-2C0E-4C38-B8B8-F6D35E1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484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CBA9-C7E7-490B-9395-7D8CF26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4FBF0-EE74-4DEB-AEDC-25E8807B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A74B9-3244-484D-870E-9C89F7DE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77B19-1BE8-4806-B428-0D313529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273A1-F7E1-4A6F-97F3-3577B1A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博物馆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0D353-E04F-42F9-85E0-5318417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98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7E78A-8AA6-4E62-83DD-4E22D54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538F9-8862-4BB6-A2CB-8DFEA68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历史文化资源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F515F-0494-4703-8B2A-FE98069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424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A122F-D586-4469-9E42-8861BDA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86A82-2BD2-4385-AD7C-06AFCD8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909A6-3F84-4855-A4CF-AAC2CD66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76009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1a38da404764"/>
          <a:stretch xmlns:a="http://schemas.openxmlformats.org/drawingml/2006/main"/>
        </p:blipFill>
        <p:spPr>
          <a:xfrm xmlns:a="http://schemas.openxmlformats.org/drawingml/2006/main">
            <a:off x="4750760" y="1962150"/>
            <a:ext cx="5528930" cy="396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993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95FA6-4805-4511-8945-D075C629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1FAD3-7E4D-42B0-A8D0-90CA972F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DDBC7-A18F-4306-9A38-10AA434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0E878C-9EA5-4426-9C79-9177D1D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E6BFE-16E5-4F46-B44B-01B3190D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3B7B-BA1E-4404-9D72-B593E5C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248FD-9687-4750-9402-68F9CF2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6.5、第 6.4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5DEAF-7D40-46CF-804D-D0EEAA5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3330-ED55-4AD5-BDE7-320A3219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九江专题不能简单判弱：既有转化短板，也有数据口径低估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71419-C6A8-4270-A13C-44C9BEC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九江文化线索较密，但 POI 与平台评论偏低；美食、龙舟和节庆体验又容易被现有旅游 POI 口径低估。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149E5-A617-4290-A46A-6E60D78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59436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3657745074bd1"/>
          <a:stretch xmlns:a="http://schemas.openxmlformats.org/drawingml/2006/main"/>
        </p:blipFill>
        <p:spPr>
          <a:xfrm xmlns:a="http://schemas.openxmlformats.org/drawingml/2006/main">
            <a:off x="666750" y="2015240"/>
            <a:ext cx="5600700" cy="385622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6A40-6C8A-47BA-83C1-AC526706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74AF4-9C93-4901-AAED-F77DE590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4819B-487F-40B6-97D2-458C9BFA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331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8FA57-57B2-4161-855F-8D23C3B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B74AE-71B3-4E6F-AF4C-3A0F5CA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D4B02-F7DF-44F8-B733-AB23A3A5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31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001FD-4336-458A-BE1F-A09D99E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4B74C-9E6C-4741-B152-F4CD0F2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5780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790FD-E4B9-46DF-9602-A3B009E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14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72645-4714-4B4B-90F8-CEA7739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259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F6D69-402B-47AD-8341-B2E284A9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69102-1907-4638-A74D-C668D2EA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DAFDE-F0CD-47FC-AAD8-73F83F9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006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1.92%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1ED77-C4B1-4AAE-B59B-8FF93F8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DCF07-6C58-42D5-8A72-42414C29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19516262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72C5D-D339-4DF8-848A-B6FD715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922DA-C669-4130-9646-A3E00521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C621D-8DED-4651-8653-7BA2EC6D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9BA39E-B10C-467F-B1D7-A0A9D18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ROBUSTNESS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9A91D-9A84-4525-BD33-0FA3E424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5D28-F016-48ED-8C7B-EE08C9E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4314D-3CA9-4C87-AD0E-071DDF8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表 6.4、表 6.9、第 6.6.1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FE7D3-E0C2-42B2-9390-599A3988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894B1-CDF6-410A-BF23-731582F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主要判断不是权重偶然，相关结果也只作关系提示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27906-D061-4559-9DBC-F70BF31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替代权重下分类一致比例均在 89.7% 以上；相关结果只用于支持错位关系提示。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2D835-217C-4184-9D86-334E5FF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953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DA5BD-B1A8-4315-A04B-B4F4B5D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24050"/>
            <a:ext cx="4953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4c072a5a424f"/>
          <a:stretch xmlns:a="http://schemas.openxmlformats.org/drawingml/2006/main"/>
        </p:blipFill>
        <p:spPr>
          <a:xfrm xmlns:a="http://schemas.openxmlformats.org/drawingml/2006/main">
            <a:off x="800100" y="2265922"/>
            <a:ext cx="4495800" cy="2307106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ee0f1e0cb4aac"/>
          <a:stretch xmlns:a="http://schemas.openxmlformats.org/drawingml/2006/main"/>
        </p:blipFill>
        <p:spPr>
          <a:xfrm xmlns:a="http://schemas.openxmlformats.org/drawingml/2006/main">
            <a:off x="6789553" y="2152650"/>
            <a:ext cx="3032494" cy="2533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40D35-45F6-4023-9E8F-7CC1246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57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2F398-853E-4908-89C9-52DD958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150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281A7-9661-4B95-BDF4-E3DE978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72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7A094-FB2E-41A8-BD52-3DA34A0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57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8E4BD-3E11-4E49-A765-9DC2263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150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640F3-5B83-4E80-8CF6-8EE73BB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72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DF473-C09B-4729-8461-198502F0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57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ABD02-ABBC-4673-81D5-590C5D02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1500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BFE1D-A08E-4FD8-AFD1-41AE578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72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</p:spTree>
    <p:extLst>
      <p:ext uri="{BB962C8B-B14F-4D97-AF65-F5344CB8AC3E}">
        <p14:creationId xmlns:p14="http://schemas.microsoft.com/office/powerpoint/2010/main" val="7872564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FB3B2-D46B-4A2E-8747-D2AF6B8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4757-361E-4812-8AA7-97B76293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72B4-919B-49F7-9D41-C35B422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952BCA-A355-42C1-B782-6119EDC3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COMMENTS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E5AF9-BBD6-47D7-803B-A681075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ABC94-C5C2-4655-9B6E-672E8A57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2C771-5E2F-4C3A-B5D5-2E1DC810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图 6.10、表 6.10、表 6.11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8C06F-AD31-4D78-801E-ED3EA3D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D591F-0702-4093-B657-36859495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游客热度不等于文化识别，评论语义需要单独复核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B20B7-748C-4737-942B-6E37C80D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评论知识图谱显示，超过一半严格匹配 POI 尚未在评论中形成明确文化识别。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30E1-FD29-47AA-BA17-4BC528B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2390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2782d67084883"/>
          <a:stretch xmlns:a="http://schemas.openxmlformats.org/drawingml/2006/main"/>
        </p:blipFill>
        <p:spPr>
          <a:xfrm xmlns:a="http://schemas.openxmlformats.org/drawingml/2006/main">
            <a:off x="723900" y="2009961"/>
            <a:ext cx="6896100" cy="386677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44A40-6694-41A6-A171-B36A1520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78833-3804-4179-9919-73303F3F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117 个 POI、327 个评论实体、481 条关系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89E90-53D6-4CC2-BFCA-886BC95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65724-AF17-4151-97BF-EB33E6C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高识别 9 个，未形成明确文化识别 63 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1DD0A-5091-4CFA-9C6B-5C918B4F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26EBD-6A1D-46E2-BC51-8CB37D8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核心样本已有约 30%—40% 文化关键词比例</a:t>
            </a:r>
          </a:p>
        </p:txBody>
      </p:sp>
    </p:spTree>
    <p:extLst>
      <p:ext uri="{BB962C8B-B14F-4D97-AF65-F5344CB8AC3E}">
        <p14:creationId xmlns:p14="http://schemas.microsoft.com/office/powerpoint/2010/main" val="9678945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F9F47-8EEF-4D8E-824A-83296CC8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1B89F-BD19-4AC1-8D63-69ACE0A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1D1A4-7330-442E-9DCC-135D40F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9070B5-0675-49DB-924E-711826B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11049-A81F-4045-9FB7-8384DF6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465CB-1D6B-48E4-B512-AF255E1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DC1B2-36A2-47DC-8C60-92476E0D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C2086-001A-4718-B564-039F33E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D75C6-9766-40FE-BBD7-FE7BF94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三类错位对应三类行动：补条件、补叙事、做深化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43290-4F2F-47BC-BCBE-7B4F18A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规划转译不按热度简单排序，而要同时考虑文化基础、旅游热度、空间可达性和内容转化条件。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A4092-4CDE-4AC1-BF11-C42EECA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9525">
            <a:solidFill>
              <a:srgbClr val="5E7E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BB0B5-0E22-4D80-AFA6-B628122A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EC09F-50C3-4996-B70B-6AD5CA5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7A788-C724-46AA-AADB-B8ACDDB4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0B2A1-94BC-4639-96B6-9C256C6C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DEF4A-D0E3-4EB5-A0A3-75053E51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59AF5-DC70-4D5B-843F-40529B2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859AF-B547-4EFE-BA0D-ACAFE5C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4F72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705D1-CC6E-450C-BB1E-0A1403A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18864-E8F4-4507-AC27-023C66DB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C7A2E-E1D0-4AE2-8321-E181134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B1099-D9EF-497B-806B-E44BF655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57EDD-B500-4917-9496-404BEBE4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8984A-1E01-440C-9A01-75D0A8BC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33775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24478-337B-44DF-9AE0-51BFEE3A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72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0D516-75BF-4EFF-BA61-35C787EB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151BA-D7BB-41A2-B230-46AD92B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18EE87-7C93-47D2-97A1-4A7844CF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CB23D7-35D8-4D4E-86AC-B2B4947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20042-220C-40DA-88A1-705EB85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A88523-4912-4097-A6F6-DEF34E58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</p:spTree>
    <p:extLst>
      <p:ext uri="{BB962C8B-B14F-4D97-AF65-F5344CB8AC3E}">
        <p14:creationId xmlns:p14="http://schemas.microsoft.com/office/powerpoint/2010/main" val="21070282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15C4A-0FBF-484A-A030-8871993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44655-E1DB-4831-8464-89BA8EC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F63C1-1C57-479A-B154-7AFE7603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0C6B33-4B1A-4AA6-8E5A-C724DA19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4B225-3DF3-4BFC-9752-B420782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0BA91-D5AD-4E7D-B3F5-961E6C57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B5669-182A-4FF3-A003-24B587A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第 7.3 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EE81A-D3D6-40B1-99AD-74DBA96A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09099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9DE19-1E6B-45A0-B84B-4A2988C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本研究贡献在于识别潜力，边界在于数据口径和语义深度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697E2-A4E3-4424-97B7-91B83D1B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73"/>
                </a:solidFill>
                <a:latin typeface="Microsoft YaHei UI"/>
                <a:ea typeface="Microsoft YaHei UI"/>
                <a:cs typeface="Microsoft YaHei UI"/>
              </a:rPr>
              <a:t>南海文旅融合的关键，不是资源有没有，而是文化记忆能否通过空间载体进入游客体验。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A3FFC-D202-46C0-AF21-B18E63E3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9525">
            <a:solidFill>
              <a:srgbClr val="5E7E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76B68-05C9-4904-9F20-D77BE530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9525">
            <a:solidFill>
              <a:srgbClr val="4F72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C3580-2061-4332-9B01-2D8D79E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566A1-251F-4F68-B42E-2F16DA0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4F7280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30935-1694-45A8-95BD-61501A85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FEE2E-E7BB-4F50-B36F-0116738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F03B3-B2E4-4BA2-ABFA-01E194E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649D2-FED5-4BC1-896B-A3EEBCF3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87055-F8A6-4336-B3D5-32C0683A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E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F5ACF-1F6D-4C1A-A18F-C12300F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8702F-F483-4469-BCC6-4265A15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BC327-C0F8-4EC5-8D3D-15DAA46D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4F2C2-E7DD-4182-8030-E645AB0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F413B-6BE3-4E8E-8A44-BF0F4E86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D8219-454B-417D-8169-AC7AD49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DD1CF-9EB9-4B46-91C3-5570AA7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91000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2C8573-2407-4539-854F-163FA6E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9595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D2329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542628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2026-06-02T05:44:36.6430000Z</dcterms:created>
  <dcterms:modified xsi:type="dcterms:W3CDTF">2026-06-02T05:44:36.6430000Z</dcterms:modified>
</coreProperties>
</file>